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7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2897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240"/>
        </a:solidFill>
        <a:effectLst/>
      </p:bgPr>
    </p:bg>
    <p:spTree>
      <p:nvGrpSpPr>
        <p:cNvPr id="1" name=""/>
        <p:cNvGrpSpPr/>
        <p:nvPr/>
      </p:nvGrpSpPr>
      <p:grpSpPr>
        <a:xfrm>
          <a:off x="0" y="0"/>
          <a:ext cx="0" cy="0"/>
          <a:chOff x="0" y="0"/>
          <a:chExt cx="0" cy="0"/>
        </a:xfrm>
      </p:grpSpPr>
      <p:sp>
        <p:nvSpPr>
          <p:cNvPr id="2" name="Shape 0"/>
          <p:cNvSpPr/>
          <p:nvPr/>
        </p:nvSpPr>
        <p:spPr>
          <a:xfrm>
            <a:off x="0" y="0"/>
            <a:ext cx="6766560" cy="54864"/>
          </a:xfrm>
          <a:prstGeom prst="rect">
            <a:avLst/>
          </a:prstGeom>
          <a:solidFill>
            <a:srgbClr val="3B82C4"/>
          </a:solidFill>
          <a:ln w="12700">
            <a:solidFill>
              <a:srgbClr val="3B82C4"/>
            </a:solidFill>
            <a:prstDash val="solid"/>
          </a:ln>
        </p:spPr>
      </p:sp>
      <p:sp>
        <p:nvSpPr>
          <p:cNvPr id="3" name="Text 1"/>
          <p:cNvSpPr/>
          <p:nvPr/>
        </p:nvSpPr>
        <p:spPr>
          <a:xfrm>
            <a:off x="365760" y="137160"/>
            <a:ext cx="6217920" cy="201168"/>
          </a:xfrm>
          <a:prstGeom prst="rect">
            <a:avLst/>
          </a:prstGeom>
          <a:noFill/>
          <a:ln/>
        </p:spPr>
        <p:txBody>
          <a:bodyPr wrap="square" lIns="0" tIns="0" rIns="0" bIns="0" rtlCol="0" anchor="ctr"/>
          <a:lstStyle/>
          <a:p>
            <a:pPr marL="0" indent="0">
              <a:buNone/>
            </a:pPr>
            <a:r>
              <a:rPr lang="en-US" sz="750" b="1" kern="0" spc="200" dirty="0">
                <a:solidFill>
                  <a:srgbClr val="C8D9F0"/>
                </a:solidFill>
              </a:rPr>
              <a:t>MACROCONSULT  ·  SISTEMA DE INFORMACIÓN DE MERCADOS</a:t>
            </a:r>
            <a:endParaRPr lang="en-US" sz="750" dirty="0"/>
          </a:p>
        </p:txBody>
      </p:sp>
      <p:sp>
        <p:nvSpPr>
          <p:cNvPr id="4" name="Text 2"/>
          <p:cNvSpPr/>
          <p:nvPr/>
        </p:nvSpPr>
        <p:spPr>
          <a:xfrm>
            <a:off x="365760" y="502920"/>
            <a:ext cx="6217920" cy="1417320"/>
          </a:xfrm>
          <a:prstGeom prst="rect">
            <a:avLst/>
          </a:prstGeom>
          <a:noFill/>
          <a:ln/>
        </p:spPr>
        <p:txBody>
          <a:bodyPr wrap="square" lIns="0" tIns="0" rIns="0" bIns="0" rtlCol="0" anchor="ctr"/>
          <a:lstStyle/>
          <a:p>
            <a:pPr marL="0" indent="0">
              <a:lnSpc>
                <a:spcPct val="120000"/>
              </a:lnSpc>
              <a:buNone/>
            </a:pPr>
            <a:r>
              <a:rPr lang="en-US" sz="3000" b="1" dirty="0">
                <a:solidFill>
                  <a:srgbClr val="FFFFFF"/>
                </a:solidFill>
              </a:rPr>
              <a:t>Evaluación de Inversión en</a:t>
            </a:r>
            <a:endParaRPr lang="en-US" sz="3000" dirty="0"/>
          </a:p>
          <a:p>
            <a:pPr marL="0" indent="0">
              <a:lnSpc>
                <a:spcPct val="120000"/>
              </a:lnSpc>
              <a:buNone/>
            </a:pPr>
            <a:r>
              <a:rPr lang="en-US" sz="3000" b="1" dirty="0">
                <a:solidFill>
                  <a:srgbClr val="FFFFFF"/>
                </a:solidFill>
              </a:rPr>
              <a:t>Empresas de Inteligencia Artificial</a:t>
            </a:r>
            <a:endParaRPr lang="en-US" sz="3000" dirty="0"/>
          </a:p>
        </p:txBody>
      </p:sp>
      <p:sp>
        <p:nvSpPr>
          <p:cNvPr id="6" name="Shape 4"/>
          <p:cNvSpPr/>
          <p:nvPr/>
        </p:nvSpPr>
        <p:spPr>
          <a:xfrm>
            <a:off x="356616" y="2074958"/>
            <a:ext cx="5852160" cy="22860"/>
          </a:xfrm>
          <a:prstGeom prst="rect">
            <a:avLst/>
          </a:prstGeom>
          <a:solidFill>
            <a:srgbClr val="3B82C4"/>
          </a:solidFill>
          <a:ln w="12700">
            <a:solidFill>
              <a:srgbClr val="3B82C4"/>
            </a:solidFill>
            <a:prstDash val="solid"/>
          </a:ln>
        </p:spPr>
      </p:sp>
      <p:sp>
        <p:nvSpPr>
          <p:cNvPr id="7" name="Text 5"/>
          <p:cNvSpPr/>
          <p:nvPr/>
        </p:nvSpPr>
        <p:spPr>
          <a:xfrm>
            <a:off x="365760" y="2291301"/>
            <a:ext cx="6217920" cy="182880"/>
          </a:xfrm>
          <a:prstGeom prst="rect">
            <a:avLst/>
          </a:prstGeom>
          <a:noFill/>
          <a:ln/>
        </p:spPr>
        <p:txBody>
          <a:bodyPr wrap="square" lIns="0" tIns="0" rIns="0" bIns="0" rtlCol="0" anchor="ctr"/>
          <a:lstStyle/>
          <a:p>
            <a:pPr marL="0" indent="0">
              <a:buNone/>
            </a:pPr>
            <a:r>
              <a:rPr lang="en-US" sz="750" b="1" kern="0" spc="150" dirty="0">
                <a:solidFill>
                  <a:srgbClr val="94A3B8"/>
                </a:solidFill>
              </a:rPr>
              <a:t>EMPRESAS ANALIZADAS</a:t>
            </a:r>
            <a:endParaRPr lang="en-US" sz="750" dirty="0"/>
          </a:p>
        </p:txBody>
      </p:sp>
      <p:sp>
        <p:nvSpPr>
          <p:cNvPr id="8" name="Shape 6"/>
          <p:cNvSpPr/>
          <p:nvPr/>
        </p:nvSpPr>
        <p:spPr>
          <a:xfrm>
            <a:off x="365760" y="2761488"/>
            <a:ext cx="841248" cy="365760"/>
          </a:xfrm>
          <a:prstGeom prst="rect">
            <a:avLst/>
          </a:prstGeom>
          <a:solidFill>
            <a:srgbClr val="163461"/>
          </a:solidFill>
          <a:ln w="15240">
            <a:solidFill>
              <a:srgbClr val="16A34A"/>
            </a:solidFill>
            <a:prstDash val="solid"/>
          </a:ln>
        </p:spPr>
      </p:sp>
      <p:sp>
        <p:nvSpPr>
          <p:cNvPr id="9" name="Text 7"/>
          <p:cNvSpPr/>
          <p:nvPr/>
        </p:nvSpPr>
        <p:spPr>
          <a:xfrm>
            <a:off x="365760" y="2761488"/>
            <a:ext cx="841248" cy="365760"/>
          </a:xfrm>
          <a:prstGeom prst="rect">
            <a:avLst/>
          </a:prstGeom>
          <a:noFill/>
          <a:ln/>
        </p:spPr>
        <p:txBody>
          <a:bodyPr wrap="square" lIns="0" tIns="0" rIns="0" bIns="0" rtlCol="0" anchor="ctr"/>
          <a:lstStyle/>
          <a:p>
            <a:pPr marL="0" indent="0" algn="ctr">
              <a:buNone/>
            </a:pPr>
            <a:r>
              <a:rPr lang="en-US" sz="1200" b="1" dirty="0">
                <a:solidFill>
                  <a:srgbClr val="FFFFFF"/>
                </a:solidFill>
              </a:rPr>
              <a:t>NVDA</a:t>
            </a:r>
            <a:endParaRPr lang="en-US" sz="1200" dirty="0"/>
          </a:p>
        </p:txBody>
      </p:sp>
      <p:sp>
        <p:nvSpPr>
          <p:cNvPr id="10" name="Shape 8"/>
          <p:cNvSpPr/>
          <p:nvPr/>
        </p:nvSpPr>
        <p:spPr>
          <a:xfrm>
            <a:off x="1353312" y="2761488"/>
            <a:ext cx="841248" cy="365760"/>
          </a:xfrm>
          <a:prstGeom prst="rect">
            <a:avLst/>
          </a:prstGeom>
          <a:solidFill>
            <a:srgbClr val="163461"/>
          </a:solidFill>
          <a:ln w="15240">
            <a:solidFill>
              <a:srgbClr val="3B82C4"/>
            </a:solidFill>
            <a:prstDash val="solid"/>
          </a:ln>
        </p:spPr>
      </p:sp>
      <p:sp>
        <p:nvSpPr>
          <p:cNvPr id="11" name="Text 9"/>
          <p:cNvSpPr/>
          <p:nvPr/>
        </p:nvSpPr>
        <p:spPr>
          <a:xfrm>
            <a:off x="1353312" y="2761488"/>
            <a:ext cx="841248" cy="365760"/>
          </a:xfrm>
          <a:prstGeom prst="rect">
            <a:avLst/>
          </a:prstGeom>
          <a:noFill/>
          <a:ln/>
        </p:spPr>
        <p:txBody>
          <a:bodyPr wrap="square" lIns="0" tIns="0" rIns="0" bIns="0" rtlCol="0" anchor="ctr"/>
          <a:lstStyle/>
          <a:p>
            <a:pPr marL="0" indent="0" algn="ctr">
              <a:buNone/>
            </a:pPr>
            <a:r>
              <a:rPr lang="en-US" sz="1200" b="1" dirty="0">
                <a:solidFill>
                  <a:srgbClr val="FFFFFF"/>
                </a:solidFill>
              </a:rPr>
              <a:t>MSFT</a:t>
            </a:r>
            <a:endParaRPr lang="en-US" sz="1200" dirty="0"/>
          </a:p>
        </p:txBody>
      </p:sp>
      <p:sp>
        <p:nvSpPr>
          <p:cNvPr id="12" name="Shape 10"/>
          <p:cNvSpPr/>
          <p:nvPr/>
        </p:nvSpPr>
        <p:spPr>
          <a:xfrm>
            <a:off x="2340864" y="2761488"/>
            <a:ext cx="841248" cy="365760"/>
          </a:xfrm>
          <a:prstGeom prst="rect">
            <a:avLst/>
          </a:prstGeom>
          <a:solidFill>
            <a:srgbClr val="163461"/>
          </a:solidFill>
          <a:ln w="15240">
            <a:solidFill>
              <a:srgbClr val="3B82C4"/>
            </a:solidFill>
            <a:prstDash val="solid"/>
          </a:ln>
        </p:spPr>
      </p:sp>
      <p:sp>
        <p:nvSpPr>
          <p:cNvPr id="13" name="Text 11"/>
          <p:cNvSpPr/>
          <p:nvPr/>
        </p:nvSpPr>
        <p:spPr>
          <a:xfrm>
            <a:off x="2340864" y="2761488"/>
            <a:ext cx="841248" cy="365760"/>
          </a:xfrm>
          <a:prstGeom prst="rect">
            <a:avLst/>
          </a:prstGeom>
          <a:noFill/>
          <a:ln/>
        </p:spPr>
        <p:txBody>
          <a:bodyPr wrap="square" lIns="0" tIns="0" rIns="0" bIns="0" rtlCol="0" anchor="ctr"/>
          <a:lstStyle/>
          <a:p>
            <a:pPr marL="0" indent="0" algn="ctr">
              <a:buNone/>
            </a:pPr>
            <a:r>
              <a:rPr lang="en-US" sz="1200" b="1" dirty="0">
                <a:solidFill>
                  <a:srgbClr val="FFFFFF"/>
                </a:solidFill>
              </a:rPr>
              <a:t>GOOGL</a:t>
            </a:r>
            <a:endParaRPr lang="en-US" sz="1200" dirty="0"/>
          </a:p>
        </p:txBody>
      </p:sp>
      <p:sp>
        <p:nvSpPr>
          <p:cNvPr id="14" name="Shape 12"/>
          <p:cNvSpPr/>
          <p:nvPr/>
        </p:nvSpPr>
        <p:spPr>
          <a:xfrm>
            <a:off x="3328416" y="2761488"/>
            <a:ext cx="841248" cy="365760"/>
          </a:xfrm>
          <a:prstGeom prst="rect">
            <a:avLst/>
          </a:prstGeom>
          <a:solidFill>
            <a:srgbClr val="163461"/>
          </a:solidFill>
          <a:ln w="15240">
            <a:solidFill>
              <a:srgbClr val="D97706"/>
            </a:solidFill>
            <a:prstDash val="solid"/>
          </a:ln>
        </p:spPr>
      </p:sp>
      <p:sp>
        <p:nvSpPr>
          <p:cNvPr id="15" name="Text 13"/>
          <p:cNvSpPr/>
          <p:nvPr/>
        </p:nvSpPr>
        <p:spPr>
          <a:xfrm>
            <a:off x="3328416" y="2761488"/>
            <a:ext cx="841248" cy="365760"/>
          </a:xfrm>
          <a:prstGeom prst="rect">
            <a:avLst/>
          </a:prstGeom>
          <a:noFill/>
          <a:ln/>
        </p:spPr>
        <p:txBody>
          <a:bodyPr wrap="square" lIns="0" tIns="0" rIns="0" bIns="0" rtlCol="0" anchor="ctr"/>
          <a:lstStyle/>
          <a:p>
            <a:pPr marL="0" indent="0" algn="ctr">
              <a:buNone/>
            </a:pPr>
            <a:r>
              <a:rPr lang="en-US" sz="1200" b="1" dirty="0">
                <a:solidFill>
                  <a:srgbClr val="FFFFFF"/>
                </a:solidFill>
              </a:rPr>
              <a:t>META</a:t>
            </a:r>
            <a:endParaRPr lang="en-US" sz="1200" dirty="0"/>
          </a:p>
        </p:txBody>
      </p:sp>
      <p:sp>
        <p:nvSpPr>
          <p:cNvPr id="16" name="Shape 14"/>
          <p:cNvSpPr/>
          <p:nvPr/>
        </p:nvSpPr>
        <p:spPr>
          <a:xfrm>
            <a:off x="4315968" y="2761488"/>
            <a:ext cx="841248" cy="365760"/>
          </a:xfrm>
          <a:prstGeom prst="rect">
            <a:avLst/>
          </a:prstGeom>
          <a:solidFill>
            <a:srgbClr val="163461"/>
          </a:solidFill>
          <a:ln w="15240">
            <a:solidFill>
              <a:srgbClr val="3B82C4"/>
            </a:solidFill>
            <a:prstDash val="solid"/>
          </a:ln>
        </p:spPr>
      </p:sp>
      <p:sp>
        <p:nvSpPr>
          <p:cNvPr id="17" name="Text 15"/>
          <p:cNvSpPr/>
          <p:nvPr/>
        </p:nvSpPr>
        <p:spPr>
          <a:xfrm>
            <a:off x="4315968" y="2761488"/>
            <a:ext cx="841248" cy="365760"/>
          </a:xfrm>
          <a:prstGeom prst="rect">
            <a:avLst/>
          </a:prstGeom>
          <a:noFill/>
          <a:ln/>
        </p:spPr>
        <p:txBody>
          <a:bodyPr wrap="square" lIns="0" tIns="0" rIns="0" bIns="0" rtlCol="0" anchor="ctr"/>
          <a:lstStyle/>
          <a:p>
            <a:pPr marL="0" indent="0" algn="ctr">
              <a:buNone/>
            </a:pPr>
            <a:r>
              <a:rPr lang="en-US" sz="1200" b="1" dirty="0">
                <a:solidFill>
                  <a:srgbClr val="FFFFFF"/>
                </a:solidFill>
              </a:rPr>
              <a:t>TSM</a:t>
            </a:r>
            <a:endParaRPr lang="en-US" sz="1200" dirty="0"/>
          </a:p>
        </p:txBody>
      </p:sp>
      <p:sp>
        <p:nvSpPr>
          <p:cNvPr id="18" name="Shape 16"/>
          <p:cNvSpPr/>
          <p:nvPr/>
        </p:nvSpPr>
        <p:spPr>
          <a:xfrm>
            <a:off x="5303520" y="2761488"/>
            <a:ext cx="841248" cy="365760"/>
          </a:xfrm>
          <a:prstGeom prst="rect">
            <a:avLst/>
          </a:prstGeom>
          <a:solidFill>
            <a:srgbClr val="163461"/>
          </a:solidFill>
          <a:ln w="15240">
            <a:solidFill>
              <a:srgbClr val="DC2626"/>
            </a:solidFill>
            <a:prstDash val="solid"/>
          </a:ln>
        </p:spPr>
      </p:sp>
      <p:sp>
        <p:nvSpPr>
          <p:cNvPr id="19" name="Text 17"/>
          <p:cNvSpPr/>
          <p:nvPr/>
        </p:nvSpPr>
        <p:spPr>
          <a:xfrm>
            <a:off x="5303520" y="2761488"/>
            <a:ext cx="841248" cy="365760"/>
          </a:xfrm>
          <a:prstGeom prst="rect">
            <a:avLst/>
          </a:prstGeom>
          <a:noFill/>
          <a:ln/>
        </p:spPr>
        <p:txBody>
          <a:bodyPr wrap="square" lIns="0" tIns="0" rIns="0" bIns="0" rtlCol="0" anchor="ctr"/>
          <a:lstStyle/>
          <a:p>
            <a:pPr marL="0" indent="0" algn="ctr">
              <a:buNone/>
            </a:pPr>
            <a:r>
              <a:rPr lang="en-US" sz="1200" b="1" dirty="0">
                <a:solidFill>
                  <a:srgbClr val="FFFFFF"/>
                </a:solidFill>
              </a:rPr>
              <a:t>CRM</a:t>
            </a:r>
            <a:endParaRPr lang="en-US" sz="1200" dirty="0"/>
          </a:p>
        </p:txBody>
      </p:sp>
      <p:sp>
        <p:nvSpPr>
          <p:cNvPr id="20" name="Text 18"/>
          <p:cNvSpPr/>
          <p:nvPr/>
        </p:nvSpPr>
        <p:spPr>
          <a:xfrm>
            <a:off x="365760" y="3246120"/>
            <a:ext cx="1005840" cy="219456"/>
          </a:xfrm>
          <a:prstGeom prst="rect">
            <a:avLst/>
          </a:prstGeom>
          <a:noFill/>
          <a:ln/>
        </p:spPr>
        <p:txBody>
          <a:bodyPr wrap="square" lIns="0" tIns="0" rIns="0" bIns="0" rtlCol="0" anchor="ctr"/>
          <a:lstStyle/>
          <a:p>
            <a:pPr marL="0" indent="0">
              <a:buNone/>
            </a:pPr>
            <a:r>
              <a:rPr lang="en-US" sz="900" dirty="0">
                <a:solidFill>
                  <a:srgbClr val="94A3B8"/>
                </a:solidFill>
              </a:rPr>
              <a:t>Benchmarks:</a:t>
            </a:r>
            <a:endParaRPr lang="en-US" sz="900" dirty="0"/>
          </a:p>
        </p:txBody>
      </p:sp>
      <p:sp>
        <p:nvSpPr>
          <p:cNvPr id="21" name="Text 19"/>
          <p:cNvSpPr/>
          <p:nvPr/>
        </p:nvSpPr>
        <p:spPr>
          <a:xfrm>
            <a:off x="1371600" y="3246120"/>
            <a:ext cx="2743200" cy="219456"/>
          </a:xfrm>
          <a:prstGeom prst="rect">
            <a:avLst/>
          </a:prstGeom>
          <a:noFill/>
          <a:ln/>
        </p:spPr>
        <p:txBody>
          <a:bodyPr wrap="square" lIns="0" tIns="0" rIns="0" bIns="0" rtlCol="0" anchor="ctr"/>
          <a:lstStyle/>
          <a:p>
            <a:pPr marL="0" indent="0">
              <a:buNone/>
            </a:pPr>
            <a:r>
              <a:rPr lang="en-US" sz="900" b="1" dirty="0">
                <a:solidFill>
                  <a:srgbClr val="C8D9F0"/>
                </a:solidFill>
              </a:rPr>
              <a:t>S&amp;P 500  ·  Nasdaq 100</a:t>
            </a:r>
            <a:endParaRPr lang="en-US" sz="900" dirty="0"/>
          </a:p>
        </p:txBody>
      </p:sp>
      <p:sp>
        <p:nvSpPr>
          <p:cNvPr id="22" name="Text 20"/>
          <p:cNvSpPr/>
          <p:nvPr/>
        </p:nvSpPr>
        <p:spPr>
          <a:xfrm>
            <a:off x="365760" y="3584448"/>
            <a:ext cx="1005840" cy="219456"/>
          </a:xfrm>
          <a:prstGeom prst="rect">
            <a:avLst/>
          </a:prstGeom>
          <a:noFill/>
          <a:ln/>
        </p:spPr>
        <p:txBody>
          <a:bodyPr wrap="square" lIns="0" tIns="0" rIns="0" bIns="0" rtlCol="0" anchor="ctr"/>
          <a:lstStyle/>
          <a:p>
            <a:pPr marL="0" indent="0">
              <a:buNone/>
            </a:pPr>
            <a:r>
              <a:rPr lang="en-US" sz="900" dirty="0">
                <a:solidFill>
                  <a:srgbClr val="94A3B8"/>
                </a:solidFill>
              </a:rPr>
              <a:t>Período:</a:t>
            </a:r>
            <a:endParaRPr lang="en-US" sz="900" dirty="0"/>
          </a:p>
        </p:txBody>
      </p:sp>
      <p:sp>
        <p:nvSpPr>
          <p:cNvPr id="23" name="Text 21"/>
          <p:cNvSpPr/>
          <p:nvPr/>
        </p:nvSpPr>
        <p:spPr>
          <a:xfrm>
            <a:off x="1371600" y="3584448"/>
            <a:ext cx="3200400" cy="219456"/>
          </a:xfrm>
          <a:prstGeom prst="rect">
            <a:avLst/>
          </a:prstGeom>
          <a:noFill/>
          <a:ln/>
        </p:spPr>
        <p:txBody>
          <a:bodyPr wrap="square" lIns="0" tIns="0" rIns="0" bIns="0" rtlCol="0" anchor="ctr"/>
          <a:lstStyle/>
          <a:p>
            <a:pPr marL="0" indent="0">
              <a:buNone/>
            </a:pPr>
            <a:r>
              <a:rPr lang="en-US" sz="900" b="1" dirty="0">
                <a:solidFill>
                  <a:srgbClr val="C8D9F0"/>
                </a:solidFill>
              </a:rPr>
              <a:t>Enero 2020 – Mayo 2026</a:t>
            </a:r>
            <a:endParaRPr lang="en-US" sz="900" dirty="0"/>
          </a:p>
        </p:txBody>
      </p:sp>
      <p:sp>
        <p:nvSpPr>
          <p:cNvPr id="41" name="Text 39"/>
          <p:cNvSpPr/>
          <p:nvPr/>
        </p:nvSpPr>
        <p:spPr>
          <a:xfrm>
            <a:off x="365760" y="5193792"/>
            <a:ext cx="5852160" cy="219456"/>
          </a:xfrm>
          <a:prstGeom prst="rect">
            <a:avLst/>
          </a:prstGeom>
          <a:noFill/>
          <a:ln/>
        </p:spPr>
        <p:txBody>
          <a:bodyPr wrap="square" lIns="0" tIns="0" rIns="0" bIns="0" rtlCol="0" anchor="ctr"/>
          <a:lstStyle/>
          <a:p>
            <a:pPr marL="0" indent="0">
              <a:buNone/>
            </a:pPr>
            <a:r>
              <a:rPr lang="en-US" sz="1050" b="1" dirty="0">
                <a:solidFill>
                  <a:srgbClr val="FFFFFF"/>
                </a:solidFill>
              </a:rPr>
              <a:t>Joan Valderrama Inoñan</a:t>
            </a:r>
            <a:endParaRPr lang="en-US" sz="1050" dirty="0"/>
          </a:p>
        </p:txBody>
      </p:sp>
      <p:sp>
        <p:nvSpPr>
          <p:cNvPr id="42" name="Text 40"/>
          <p:cNvSpPr/>
          <p:nvPr/>
        </p:nvSpPr>
        <p:spPr>
          <a:xfrm>
            <a:off x="365760" y="5449824"/>
            <a:ext cx="5852160" cy="201168"/>
          </a:xfrm>
          <a:prstGeom prst="rect">
            <a:avLst/>
          </a:prstGeom>
          <a:noFill/>
          <a:ln/>
        </p:spPr>
        <p:txBody>
          <a:bodyPr wrap="square" lIns="0" tIns="0" rIns="0" bIns="0" rtlCol="0" anchor="ctr"/>
          <a:lstStyle/>
          <a:p>
            <a:pPr marL="0" indent="0">
              <a:buNone/>
            </a:pPr>
            <a:r>
              <a:rPr lang="en-US" sz="900" dirty="0">
                <a:solidFill>
                  <a:srgbClr val="C8D9F0"/>
                </a:solidFill>
              </a:rPr>
              <a:t>Universidad Nacional del Callao  ·  Practicante — Sistema de Información de Macroconsult</a:t>
            </a:r>
            <a:endParaRPr lang="en-US" sz="900" dirty="0"/>
          </a:p>
        </p:txBody>
      </p:sp>
      <p:sp>
        <p:nvSpPr>
          <p:cNvPr id="43" name="Text 41"/>
          <p:cNvSpPr/>
          <p:nvPr/>
        </p:nvSpPr>
        <p:spPr>
          <a:xfrm>
            <a:off x="365760" y="5687568"/>
            <a:ext cx="5852160" cy="201168"/>
          </a:xfrm>
          <a:prstGeom prst="rect">
            <a:avLst/>
          </a:prstGeom>
          <a:noFill/>
          <a:ln/>
        </p:spPr>
        <p:txBody>
          <a:bodyPr wrap="square" lIns="0" tIns="0" rIns="0" bIns="0" rtlCol="0" anchor="ctr"/>
          <a:lstStyle/>
          <a:p>
            <a:pPr marL="0" indent="0">
              <a:buNone/>
            </a:pPr>
            <a:r>
              <a:rPr lang="en-US" sz="900" i="1" dirty="0">
                <a:solidFill>
                  <a:srgbClr val="94A3B8"/>
                </a:solidFill>
              </a:rPr>
              <a:t>05 de junio de 2026</a:t>
            </a:r>
            <a:endParaRPr lang="en-US" sz="900" dirty="0"/>
          </a:p>
        </p:txBody>
      </p:sp>
      <p:sp>
        <p:nvSpPr>
          <p:cNvPr id="44" name="Shape 42"/>
          <p:cNvSpPr/>
          <p:nvPr/>
        </p:nvSpPr>
        <p:spPr>
          <a:xfrm>
            <a:off x="6858000" y="0"/>
            <a:ext cx="5303520" cy="6601968"/>
          </a:xfrm>
          <a:prstGeom prst="rect">
            <a:avLst/>
          </a:prstGeom>
          <a:solidFill>
            <a:srgbClr val="163461"/>
          </a:solidFill>
          <a:ln w="12700">
            <a:solidFill>
              <a:srgbClr val="163461"/>
            </a:solidFill>
            <a:prstDash val="solid"/>
          </a:ln>
        </p:spPr>
      </p:sp>
      <p:sp>
        <p:nvSpPr>
          <p:cNvPr id="45" name="Shape 43"/>
          <p:cNvSpPr/>
          <p:nvPr/>
        </p:nvSpPr>
        <p:spPr>
          <a:xfrm>
            <a:off x="6858000" y="0"/>
            <a:ext cx="36576" cy="6601968"/>
          </a:xfrm>
          <a:prstGeom prst="rect">
            <a:avLst/>
          </a:prstGeom>
          <a:solidFill>
            <a:srgbClr val="3B82C4"/>
          </a:solidFill>
          <a:ln w="12700">
            <a:solidFill>
              <a:srgbClr val="3B82C4"/>
            </a:solidFill>
            <a:prstDash val="solid"/>
          </a:ln>
        </p:spPr>
      </p:sp>
      <p:sp>
        <p:nvSpPr>
          <p:cNvPr id="46" name="Text 44"/>
          <p:cNvSpPr/>
          <p:nvPr/>
        </p:nvSpPr>
        <p:spPr>
          <a:xfrm>
            <a:off x="6949440" y="457200"/>
            <a:ext cx="5120640" cy="2560320"/>
          </a:xfrm>
          <a:prstGeom prst="rect">
            <a:avLst/>
          </a:prstGeom>
          <a:noFill/>
          <a:ln/>
        </p:spPr>
        <p:txBody>
          <a:bodyPr wrap="square" lIns="0" tIns="0" rIns="0" bIns="0" rtlCol="0" anchor="ctr"/>
          <a:lstStyle/>
          <a:p>
            <a:pPr marL="0" indent="0" algn="ctr">
              <a:buNone/>
            </a:pPr>
            <a:r>
              <a:rPr lang="en-US" sz="13000" b="1" dirty="0">
                <a:solidFill>
                  <a:srgbClr val="1E4D8C"/>
                </a:solidFill>
                <a:latin typeface="Calibri" pitchFamily="34" charset="0"/>
                <a:ea typeface="Calibri" pitchFamily="34" charset="-122"/>
                <a:cs typeface="Calibri" pitchFamily="34" charset="-120"/>
              </a:rPr>
              <a:t>AI</a:t>
            </a:r>
            <a:endParaRPr lang="en-US" sz="13000" dirty="0"/>
          </a:p>
        </p:txBody>
      </p:sp>
      <p:sp>
        <p:nvSpPr>
          <p:cNvPr id="47" name="Shape 45"/>
          <p:cNvSpPr/>
          <p:nvPr/>
        </p:nvSpPr>
        <p:spPr>
          <a:xfrm>
            <a:off x="6995160" y="3200400"/>
            <a:ext cx="4937760" cy="530352"/>
          </a:xfrm>
          <a:prstGeom prst="rect">
            <a:avLst/>
          </a:prstGeom>
          <a:solidFill>
            <a:srgbClr val="0D2240"/>
          </a:solidFill>
          <a:ln w="9525">
            <a:solidFill>
              <a:srgbClr val="1E4D8C"/>
            </a:solidFill>
            <a:prstDash val="solid"/>
          </a:ln>
        </p:spPr>
      </p:sp>
      <p:sp>
        <p:nvSpPr>
          <p:cNvPr id="48" name="Text 46"/>
          <p:cNvSpPr/>
          <p:nvPr/>
        </p:nvSpPr>
        <p:spPr>
          <a:xfrm>
            <a:off x="7040880" y="3236976"/>
            <a:ext cx="3200400" cy="201168"/>
          </a:xfrm>
          <a:prstGeom prst="rect">
            <a:avLst/>
          </a:prstGeom>
          <a:noFill/>
          <a:ln/>
        </p:spPr>
        <p:txBody>
          <a:bodyPr wrap="square" lIns="0" tIns="0" rIns="0" bIns="0" rtlCol="0" anchor="ctr"/>
          <a:lstStyle/>
          <a:p>
            <a:pPr marL="0" indent="0">
              <a:buNone/>
            </a:pPr>
            <a:r>
              <a:rPr lang="en-US" sz="800" dirty="0">
                <a:solidFill>
                  <a:srgbClr val="94A3B8"/>
                </a:solidFill>
              </a:rPr>
              <a:t>NVDA Alpha Jensen</a:t>
            </a:r>
            <a:endParaRPr lang="en-US" sz="800" dirty="0"/>
          </a:p>
        </p:txBody>
      </p:sp>
      <p:sp>
        <p:nvSpPr>
          <p:cNvPr id="49" name="Text 47"/>
          <p:cNvSpPr/>
          <p:nvPr/>
        </p:nvSpPr>
        <p:spPr>
          <a:xfrm>
            <a:off x="9601200" y="3218688"/>
            <a:ext cx="2286000" cy="274320"/>
          </a:xfrm>
          <a:prstGeom prst="rect">
            <a:avLst/>
          </a:prstGeom>
          <a:noFill/>
          <a:ln/>
        </p:spPr>
        <p:txBody>
          <a:bodyPr wrap="square" lIns="0" tIns="0" rIns="0" bIns="0" rtlCol="0" anchor="ctr"/>
          <a:lstStyle/>
          <a:p>
            <a:pPr marL="0" indent="0" algn="r">
              <a:buNone/>
            </a:pPr>
            <a:r>
              <a:rPr lang="en-US" sz="1800" b="1" dirty="0">
                <a:solidFill>
                  <a:srgbClr val="16A34A"/>
                </a:solidFill>
              </a:rPr>
              <a:t>+44.33%</a:t>
            </a:r>
            <a:endParaRPr lang="en-US" sz="1800" dirty="0"/>
          </a:p>
        </p:txBody>
      </p:sp>
      <p:sp>
        <p:nvSpPr>
          <p:cNvPr id="50" name="Shape 48"/>
          <p:cNvSpPr/>
          <p:nvPr/>
        </p:nvSpPr>
        <p:spPr>
          <a:xfrm>
            <a:off x="6995160" y="3822192"/>
            <a:ext cx="4937760" cy="530352"/>
          </a:xfrm>
          <a:prstGeom prst="rect">
            <a:avLst/>
          </a:prstGeom>
          <a:solidFill>
            <a:srgbClr val="0D2240"/>
          </a:solidFill>
          <a:ln w="9525">
            <a:solidFill>
              <a:srgbClr val="1E4D8C"/>
            </a:solidFill>
            <a:prstDash val="solid"/>
          </a:ln>
        </p:spPr>
      </p:sp>
      <p:sp>
        <p:nvSpPr>
          <p:cNvPr id="51" name="Text 49"/>
          <p:cNvSpPr/>
          <p:nvPr/>
        </p:nvSpPr>
        <p:spPr>
          <a:xfrm>
            <a:off x="7040880" y="3858768"/>
            <a:ext cx="3200400" cy="201168"/>
          </a:xfrm>
          <a:prstGeom prst="rect">
            <a:avLst/>
          </a:prstGeom>
          <a:noFill/>
          <a:ln/>
        </p:spPr>
        <p:txBody>
          <a:bodyPr wrap="square" lIns="0" tIns="0" rIns="0" bIns="0" rtlCol="0" anchor="ctr"/>
          <a:lstStyle/>
          <a:p>
            <a:pPr marL="0" indent="0">
              <a:buNone/>
            </a:pPr>
            <a:r>
              <a:rPr lang="en-US" sz="800" dirty="0">
                <a:solidFill>
                  <a:srgbClr val="94A3B8"/>
                </a:solidFill>
              </a:rPr>
              <a:t>Portafolio σ (Auge)</a:t>
            </a:r>
            <a:endParaRPr lang="en-US" sz="800" dirty="0"/>
          </a:p>
        </p:txBody>
      </p:sp>
      <p:sp>
        <p:nvSpPr>
          <p:cNvPr id="52" name="Text 50"/>
          <p:cNvSpPr/>
          <p:nvPr/>
        </p:nvSpPr>
        <p:spPr>
          <a:xfrm>
            <a:off x="9601200" y="3840480"/>
            <a:ext cx="2286000" cy="274320"/>
          </a:xfrm>
          <a:prstGeom prst="rect">
            <a:avLst/>
          </a:prstGeom>
          <a:noFill/>
          <a:ln/>
        </p:spPr>
        <p:txBody>
          <a:bodyPr wrap="square" lIns="0" tIns="0" rIns="0" bIns="0" rtlCol="0" anchor="ctr"/>
          <a:lstStyle/>
          <a:p>
            <a:pPr marL="0" indent="0" algn="r">
              <a:buNone/>
            </a:pPr>
            <a:r>
              <a:rPr lang="en-US" sz="1800" b="1" dirty="0">
                <a:solidFill>
                  <a:srgbClr val="3B82C4"/>
                </a:solidFill>
              </a:rPr>
              <a:t>4.67%</a:t>
            </a:r>
            <a:endParaRPr lang="en-US" sz="1800" dirty="0"/>
          </a:p>
        </p:txBody>
      </p:sp>
      <p:sp>
        <p:nvSpPr>
          <p:cNvPr id="53" name="Shape 51"/>
          <p:cNvSpPr/>
          <p:nvPr/>
        </p:nvSpPr>
        <p:spPr>
          <a:xfrm>
            <a:off x="6995160" y="4443984"/>
            <a:ext cx="4937760" cy="530352"/>
          </a:xfrm>
          <a:prstGeom prst="rect">
            <a:avLst/>
          </a:prstGeom>
          <a:solidFill>
            <a:srgbClr val="0D2240"/>
          </a:solidFill>
          <a:ln w="9525">
            <a:solidFill>
              <a:srgbClr val="1E4D8C"/>
            </a:solidFill>
            <a:prstDash val="solid"/>
          </a:ln>
        </p:spPr>
      </p:sp>
      <p:sp>
        <p:nvSpPr>
          <p:cNvPr id="54" name="Text 52"/>
          <p:cNvSpPr/>
          <p:nvPr/>
        </p:nvSpPr>
        <p:spPr>
          <a:xfrm>
            <a:off x="7040880" y="4480560"/>
            <a:ext cx="3200400" cy="201168"/>
          </a:xfrm>
          <a:prstGeom prst="rect">
            <a:avLst/>
          </a:prstGeom>
          <a:noFill/>
          <a:ln/>
        </p:spPr>
        <p:txBody>
          <a:bodyPr wrap="square" lIns="0" tIns="0" rIns="0" bIns="0" rtlCol="0" anchor="ctr"/>
          <a:lstStyle/>
          <a:p>
            <a:pPr marL="0" indent="0">
              <a:buNone/>
            </a:pPr>
            <a:r>
              <a:rPr lang="en-US" sz="800" dirty="0">
                <a:solidFill>
                  <a:srgbClr val="94A3B8"/>
                </a:solidFill>
              </a:rPr>
              <a:t>VaR 99% NVDA</a:t>
            </a:r>
            <a:endParaRPr lang="en-US" sz="800" dirty="0"/>
          </a:p>
        </p:txBody>
      </p:sp>
      <p:sp>
        <p:nvSpPr>
          <p:cNvPr id="55" name="Text 53"/>
          <p:cNvSpPr/>
          <p:nvPr/>
        </p:nvSpPr>
        <p:spPr>
          <a:xfrm>
            <a:off x="9601200" y="4462272"/>
            <a:ext cx="2286000" cy="274320"/>
          </a:xfrm>
          <a:prstGeom prst="rect">
            <a:avLst/>
          </a:prstGeom>
          <a:noFill/>
          <a:ln/>
        </p:spPr>
        <p:txBody>
          <a:bodyPr wrap="square" lIns="0" tIns="0" rIns="0" bIns="0" rtlCol="0" anchor="ctr"/>
          <a:lstStyle/>
          <a:p>
            <a:pPr marL="0" indent="0" algn="r">
              <a:buNone/>
            </a:pPr>
            <a:r>
              <a:rPr lang="en-US" sz="1800" b="1" dirty="0">
                <a:solidFill>
                  <a:srgbClr val="D97706"/>
                </a:solidFill>
              </a:rPr>
              <a:t>−15.85%</a:t>
            </a:r>
            <a:endParaRPr lang="en-US" sz="1800" dirty="0"/>
          </a:p>
        </p:txBody>
      </p:sp>
      <p:sp>
        <p:nvSpPr>
          <p:cNvPr id="56" name="Shape 54"/>
          <p:cNvSpPr/>
          <p:nvPr/>
        </p:nvSpPr>
        <p:spPr>
          <a:xfrm>
            <a:off x="6995160" y="5065776"/>
            <a:ext cx="4937760" cy="530352"/>
          </a:xfrm>
          <a:prstGeom prst="rect">
            <a:avLst/>
          </a:prstGeom>
          <a:solidFill>
            <a:srgbClr val="0D2240"/>
          </a:solidFill>
          <a:ln w="9525">
            <a:solidFill>
              <a:srgbClr val="1E4D8C"/>
            </a:solidFill>
            <a:prstDash val="solid"/>
          </a:ln>
        </p:spPr>
      </p:sp>
      <p:sp>
        <p:nvSpPr>
          <p:cNvPr id="57" name="Text 55"/>
          <p:cNvSpPr/>
          <p:nvPr/>
        </p:nvSpPr>
        <p:spPr>
          <a:xfrm>
            <a:off x="7040880" y="5102352"/>
            <a:ext cx="3200400" cy="201168"/>
          </a:xfrm>
          <a:prstGeom prst="rect">
            <a:avLst/>
          </a:prstGeom>
          <a:noFill/>
          <a:ln/>
        </p:spPr>
        <p:txBody>
          <a:bodyPr wrap="square" lIns="0" tIns="0" rIns="0" bIns="0" rtlCol="0" anchor="ctr"/>
          <a:lstStyle/>
          <a:p>
            <a:pPr marL="0" indent="0">
              <a:buNone/>
            </a:pPr>
            <a:r>
              <a:rPr lang="en-US" sz="800" dirty="0">
                <a:solidFill>
                  <a:srgbClr val="94A3B8"/>
                </a:solidFill>
              </a:rPr>
              <a:t>Sharpe NVDA</a:t>
            </a:r>
            <a:endParaRPr lang="en-US" sz="800" dirty="0"/>
          </a:p>
        </p:txBody>
      </p:sp>
      <p:sp>
        <p:nvSpPr>
          <p:cNvPr id="58" name="Text 56"/>
          <p:cNvSpPr/>
          <p:nvPr/>
        </p:nvSpPr>
        <p:spPr>
          <a:xfrm>
            <a:off x="9601200" y="5084064"/>
            <a:ext cx="2286000" cy="274320"/>
          </a:xfrm>
          <a:prstGeom prst="rect">
            <a:avLst/>
          </a:prstGeom>
          <a:noFill/>
          <a:ln/>
        </p:spPr>
        <p:txBody>
          <a:bodyPr wrap="square" lIns="0" tIns="0" rIns="0" bIns="0" rtlCol="0" anchor="ctr"/>
          <a:lstStyle/>
          <a:p>
            <a:pPr marL="0" indent="0" algn="r">
              <a:buNone/>
            </a:pPr>
            <a:r>
              <a:rPr lang="en-US" sz="1800" b="1" dirty="0">
                <a:solidFill>
                  <a:srgbClr val="16A34A"/>
                </a:solidFill>
              </a:rPr>
              <a:t>1.117</a:t>
            </a:r>
            <a:endParaRPr lang="en-US" sz="1800" dirty="0"/>
          </a:p>
        </p:txBody>
      </p:sp>
      <p:sp>
        <p:nvSpPr>
          <p:cNvPr id="59" name="Shape 57"/>
          <p:cNvSpPr/>
          <p:nvPr/>
        </p:nvSpPr>
        <p:spPr>
          <a:xfrm>
            <a:off x="0" y="6601968"/>
            <a:ext cx="12161520" cy="256032"/>
          </a:xfrm>
          <a:prstGeom prst="rect">
            <a:avLst/>
          </a:prstGeom>
          <a:solidFill>
            <a:srgbClr val="0D2240"/>
          </a:solidFill>
          <a:ln w="12700">
            <a:solidFill>
              <a:srgbClr val="0D2240"/>
            </a:solidFill>
            <a:prstDash val="solid"/>
          </a:ln>
        </p:spPr>
      </p:sp>
      <p:sp>
        <p:nvSpPr>
          <p:cNvPr id="60" name="Text 58"/>
          <p:cNvSpPr/>
          <p:nvPr/>
        </p:nvSpPr>
        <p:spPr>
          <a:xfrm>
            <a:off x="228600" y="6601968"/>
            <a:ext cx="7315200" cy="256032"/>
          </a:xfrm>
          <a:prstGeom prst="rect">
            <a:avLst/>
          </a:prstGeom>
          <a:noFill/>
          <a:ln/>
        </p:spPr>
        <p:txBody>
          <a:bodyPr wrap="square" lIns="0" tIns="0" rIns="0" bIns="0" rtlCol="0" anchor="ctr"/>
          <a:lstStyle/>
          <a:p>
            <a:pPr marL="0" indent="0">
              <a:buNone/>
            </a:pPr>
            <a:r>
              <a:rPr lang="en-US" sz="800" dirty="0">
                <a:solidFill>
                  <a:srgbClr val="C8D9F0"/>
                </a:solidFill>
              </a:rPr>
              <a:t>MACROCONSULT  ·  Sistema de Información de Mercados</a:t>
            </a:r>
            <a:endParaRPr lang="en-US" sz="800" dirty="0"/>
          </a:p>
        </p:txBody>
      </p:sp>
      <p:sp>
        <p:nvSpPr>
          <p:cNvPr id="61" name="Text 59"/>
          <p:cNvSpPr/>
          <p:nvPr/>
        </p:nvSpPr>
        <p:spPr>
          <a:xfrm>
            <a:off x="11247120" y="6601968"/>
            <a:ext cx="685800" cy="256032"/>
          </a:xfrm>
          <a:prstGeom prst="rect">
            <a:avLst/>
          </a:prstGeom>
          <a:noFill/>
          <a:ln/>
        </p:spPr>
        <p:txBody>
          <a:bodyPr wrap="square" lIns="0" tIns="0" rIns="0" bIns="0" rtlCol="0" anchor="ctr"/>
          <a:lstStyle/>
          <a:p>
            <a:pPr marL="0" indent="0" algn="r">
              <a:buNone/>
            </a:pPr>
            <a:r>
              <a:rPr lang="en-US" sz="800" dirty="0">
                <a:solidFill>
                  <a:srgbClr val="C8D9F0"/>
                </a:solidFill>
              </a:rPr>
              <a:t>1 / 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0D2240"/>
          </a:solidFill>
          <a:ln w="12700">
            <a:solidFill>
              <a:srgbClr val="0D2240"/>
            </a:solidFill>
            <a:prstDash val="solid"/>
          </a:ln>
        </p:spPr>
      </p:sp>
      <p:sp>
        <p:nvSpPr>
          <p:cNvPr id="3" name="Text 1"/>
          <p:cNvSpPr/>
          <p:nvPr/>
        </p:nvSpPr>
        <p:spPr>
          <a:xfrm>
            <a:off x="182880" y="0"/>
            <a:ext cx="411480" cy="502920"/>
          </a:xfrm>
          <a:prstGeom prst="rect">
            <a:avLst/>
          </a:prstGeom>
          <a:noFill/>
          <a:ln/>
        </p:spPr>
        <p:txBody>
          <a:bodyPr wrap="square" lIns="0" tIns="0" rIns="0" bIns="0" rtlCol="0" anchor="ctr"/>
          <a:lstStyle/>
          <a:p>
            <a:pPr marL="0" indent="0">
              <a:buNone/>
            </a:pPr>
            <a:r>
              <a:rPr lang="en-US" sz="900" b="1" dirty="0">
                <a:solidFill>
                  <a:srgbClr val="94A3B8"/>
                </a:solidFill>
              </a:rPr>
              <a:t>02</a:t>
            </a:r>
            <a:endParaRPr lang="en-US" sz="900" dirty="0"/>
          </a:p>
        </p:txBody>
      </p:sp>
      <p:sp>
        <p:nvSpPr>
          <p:cNvPr id="4" name="Text 2"/>
          <p:cNvSpPr/>
          <p:nvPr/>
        </p:nvSpPr>
        <p:spPr>
          <a:xfrm>
            <a:off x="594360" y="0"/>
            <a:ext cx="9601200" cy="502920"/>
          </a:xfrm>
          <a:prstGeom prst="rect">
            <a:avLst/>
          </a:prstGeom>
          <a:noFill/>
          <a:ln/>
        </p:spPr>
        <p:txBody>
          <a:bodyPr wrap="square" lIns="0" tIns="0" rIns="0" bIns="0" rtlCol="0" anchor="ctr"/>
          <a:lstStyle/>
          <a:p>
            <a:pPr marL="0" indent="0">
              <a:buNone/>
            </a:pPr>
            <a:r>
              <a:rPr lang="en-US" sz="1300" b="1" dirty="0">
                <a:solidFill>
                  <a:srgbClr val="FFFFFF"/>
                </a:solidFill>
              </a:rPr>
              <a:t>Antecedentes de Investigación  ·  Tesis Sectorial y Contexto Macro</a:t>
            </a:r>
            <a:endParaRPr lang="en-US" sz="1300" dirty="0"/>
          </a:p>
        </p:txBody>
      </p:sp>
      <p:sp>
        <p:nvSpPr>
          <p:cNvPr id="5" name="Text 3"/>
          <p:cNvSpPr/>
          <p:nvPr/>
        </p:nvSpPr>
        <p:spPr>
          <a:xfrm>
            <a:off x="594360" y="0"/>
            <a:ext cx="9601200" cy="502920"/>
          </a:xfrm>
          <a:prstGeom prst="rect">
            <a:avLst/>
          </a:prstGeom>
          <a:noFill/>
          <a:ln/>
        </p:spPr>
        <p:txBody>
          <a:bodyPr wrap="square" lIns="0" tIns="0" rIns="0" bIns="0" rtlCol="0" anchor="ctr"/>
          <a:lstStyle/>
          <a:p>
            <a:pPr marL="0" indent="0" algn="r">
              <a:buNone/>
            </a:pPr>
            <a:r>
              <a:rPr lang="en-US" sz="1300" b="1" dirty="0">
                <a:solidFill>
                  <a:srgbClr val="FFFFFF"/>
                </a:solidFill>
              </a:rPr>
              <a:t>¿Por qué invertir en IA hoy?</a:t>
            </a:r>
            <a:endParaRPr lang="en-US" sz="1300" dirty="0"/>
          </a:p>
        </p:txBody>
      </p:sp>
      <p:sp>
        <p:nvSpPr>
          <p:cNvPr id="6" name="Shape 4"/>
          <p:cNvSpPr/>
          <p:nvPr/>
        </p:nvSpPr>
        <p:spPr>
          <a:xfrm>
            <a:off x="228600" y="3493008"/>
            <a:ext cx="11704320" cy="22860"/>
          </a:xfrm>
          <a:prstGeom prst="rect">
            <a:avLst/>
          </a:prstGeom>
          <a:solidFill>
            <a:srgbClr val="C8D9F0"/>
          </a:solidFill>
          <a:ln w="12700">
            <a:solidFill>
              <a:srgbClr val="C8D9F0"/>
            </a:solidFill>
            <a:prstDash val="solid"/>
          </a:ln>
        </p:spPr>
      </p:sp>
      <p:sp>
        <p:nvSpPr>
          <p:cNvPr id="7" name="Shape 5"/>
          <p:cNvSpPr/>
          <p:nvPr/>
        </p:nvSpPr>
        <p:spPr>
          <a:xfrm>
            <a:off x="228600" y="594360"/>
            <a:ext cx="11704320" cy="36576"/>
          </a:xfrm>
          <a:prstGeom prst="rect">
            <a:avLst/>
          </a:prstGeom>
          <a:solidFill>
            <a:srgbClr val="3B82C4"/>
          </a:solidFill>
          <a:ln w="12700">
            <a:solidFill>
              <a:srgbClr val="3B82C4"/>
            </a:solidFill>
            <a:prstDash val="solid"/>
          </a:ln>
        </p:spPr>
      </p:sp>
      <p:sp>
        <p:nvSpPr>
          <p:cNvPr id="8" name="Text 6"/>
          <p:cNvSpPr/>
          <p:nvPr/>
        </p:nvSpPr>
        <p:spPr>
          <a:xfrm>
            <a:off x="228600" y="658368"/>
            <a:ext cx="11704320" cy="256032"/>
          </a:xfrm>
          <a:prstGeom prst="rect">
            <a:avLst/>
          </a:prstGeom>
          <a:noFill/>
          <a:ln/>
        </p:spPr>
        <p:txBody>
          <a:bodyPr wrap="square" lIns="0" tIns="0" rIns="0" bIns="0" rtlCol="0" anchor="ctr"/>
          <a:lstStyle/>
          <a:p>
            <a:pPr marL="0" indent="0">
              <a:buNone/>
            </a:pPr>
            <a:r>
              <a:rPr lang="en-US" sz="850" b="1" kern="0" spc="150" dirty="0">
                <a:solidFill>
                  <a:srgbClr val="1E4D8C"/>
                </a:solidFill>
              </a:rPr>
              <a:t>ANTECEDENTES DE INVESTIGACIÓN — BASE ACADÉMICA DEL ANÁLISIS</a:t>
            </a:r>
            <a:endParaRPr lang="en-US" sz="850" dirty="0"/>
          </a:p>
        </p:txBody>
      </p:sp>
      <p:sp>
        <p:nvSpPr>
          <p:cNvPr id="9" name="Shape 7"/>
          <p:cNvSpPr/>
          <p:nvPr/>
        </p:nvSpPr>
        <p:spPr>
          <a:xfrm>
            <a:off x="228600" y="932688"/>
            <a:ext cx="5760720" cy="1261872"/>
          </a:xfrm>
          <a:prstGeom prst="rect">
            <a:avLst/>
          </a:prstGeom>
          <a:solidFill>
            <a:srgbClr val="EAF2FB"/>
          </a:solidFill>
          <a:ln w="9525">
            <a:solidFill>
              <a:srgbClr val="C8D9F0"/>
            </a:solidFill>
            <a:prstDash val="solid"/>
          </a:ln>
        </p:spPr>
      </p:sp>
      <p:sp>
        <p:nvSpPr>
          <p:cNvPr id="10" name="Shape 8"/>
          <p:cNvSpPr/>
          <p:nvPr/>
        </p:nvSpPr>
        <p:spPr>
          <a:xfrm>
            <a:off x="228600" y="932688"/>
            <a:ext cx="54864" cy="1261872"/>
          </a:xfrm>
          <a:prstGeom prst="rect">
            <a:avLst/>
          </a:prstGeom>
          <a:solidFill>
            <a:srgbClr val="3B82C4"/>
          </a:solidFill>
          <a:ln w="12700">
            <a:solidFill>
              <a:srgbClr val="3B82C4"/>
            </a:solidFill>
            <a:prstDash val="solid"/>
          </a:ln>
        </p:spPr>
      </p:sp>
      <p:sp>
        <p:nvSpPr>
          <p:cNvPr id="11" name="Shape 9"/>
          <p:cNvSpPr/>
          <p:nvPr/>
        </p:nvSpPr>
        <p:spPr>
          <a:xfrm>
            <a:off x="356616" y="996696"/>
            <a:ext cx="1508760" cy="182880"/>
          </a:xfrm>
          <a:prstGeom prst="rect">
            <a:avLst/>
          </a:prstGeom>
          <a:solidFill>
            <a:srgbClr val="C8D9F0"/>
          </a:solidFill>
          <a:ln w="12700">
            <a:solidFill>
              <a:srgbClr val="C8D9F0"/>
            </a:solidFill>
            <a:prstDash val="solid"/>
          </a:ln>
        </p:spPr>
      </p:sp>
      <p:sp>
        <p:nvSpPr>
          <p:cNvPr id="12" name="Text 10"/>
          <p:cNvSpPr/>
          <p:nvPr/>
        </p:nvSpPr>
        <p:spPr>
          <a:xfrm>
            <a:off x="356616" y="996696"/>
            <a:ext cx="1508760" cy="182880"/>
          </a:xfrm>
          <a:prstGeom prst="rect">
            <a:avLst/>
          </a:prstGeom>
          <a:noFill/>
          <a:ln/>
        </p:spPr>
        <p:txBody>
          <a:bodyPr wrap="square" lIns="0" tIns="0" rIns="0" bIns="0" rtlCol="0" anchor="ctr"/>
          <a:lstStyle/>
          <a:p>
            <a:pPr marL="0" indent="0" algn="ctr">
              <a:buNone/>
            </a:pPr>
            <a:r>
              <a:rPr lang="en-US" sz="700" b="1" dirty="0">
                <a:solidFill>
                  <a:srgbClr val="1E4D8C"/>
                </a:solidFill>
              </a:rPr>
              <a:t>[01] Crecimiento &amp; Valoración</a:t>
            </a:r>
            <a:endParaRPr lang="en-US" sz="700" dirty="0"/>
          </a:p>
        </p:txBody>
      </p:sp>
      <p:sp>
        <p:nvSpPr>
          <p:cNvPr id="13" name="Text 11"/>
          <p:cNvSpPr/>
          <p:nvPr/>
        </p:nvSpPr>
        <p:spPr>
          <a:xfrm>
            <a:off x="356616" y="1207008"/>
            <a:ext cx="5577840" cy="201168"/>
          </a:xfrm>
          <a:prstGeom prst="rect">
            <a:avLst/>
          </a:prstGeom>
          <a:noFill/>
          <a:ln/>
        </p:spPr>
        <p:txBody>
          <a:bodyPr wrap="square" lIns="0" tIns="0" rIns="0" bIns="0" rtlCol="0" anchor="ctr"/>
          <a:lstStyle/>
          <a:p>
            <a:pPr marL="0" indent="0">
              <a:buNone/>
            </a:pPr>
            <a:r>
              <a:rPr lang="en-US" sz="750" i="1" dirty="0">
                <a:solidFill>
                  <a:srgbClr val="64748B"/>
                </a:solidFill>
              </a:rPr>
              <a:t>Babina et al. (2024). Journal of Financial Economics, 151, 103745.</a:t>
            </a:r>
            <a:endParaRPr lang="en-US" sz="750" dirty="0"/>
          </a:p>
        </p:txBody>
      </p:sp>
      <p:sp>
        <p:nvSpPr>
          <p:cNvPr id="14" name="Text 12"/>
          <p:cNvSpPr/>
          <p:nvPr/>
        </p:nvSpPr>
        <p:spPr>
          <a:xfrm>
            <a:off x="356616" y="1408176"/>
            <a:ext cx="5559552" cy="420624"/>
          </a:xfrm>
          <a:prstGeom prst="rect">
            <a:avLst/>
          </a:prstGeom>
          <a:noFill/>
          <a:ln/>
        </p:spPr>
        <p:txBody>
          <a:bodyPr wrap="square" lIns="0" tIns="0" rIns="0" bIns="0" rtlCol="0" anchor="ctr"/>
          <a:lstStyle/>
          <a:p>
            <a:pPr marL="0" indent="0">
              <a:lnSpc>
                <a:spcPct val="110000"/>
              </a:lnSpc>
              <a:buNone/>
            </a:pPr>
            <a:r>
              <a:rPr lang="en-US" sz="1000" b="1" dirty="0">
                <a:solidFill>
                  <a:srgbClr val="0F172A"/>
                </a:solidFill>
              </a:rPr>
              <a:t>Las empresas con mayor inversión en IA registran mayor crecimiento en ventas, empleo y capitalización bursátil; el mecanismo es la innovación de producto, no la reducción de costos.</a:t>
            </a:r>
            <a:endParaRPr lang="en-US" sz="1000" b="1" dirty="0"/>
          </a:p>
        </p:txBody>
      </p:sp>
      <p:sp>
        <p:nvSpPr>
          <p:cNvPr id="15" name="Shape 13"/>
          <p:cNvSpPr/>
          <p:nvPr/>
        </p:nvSpPr>
        <p:spPr>
          <a:xfrm>
            <a:off x="356616" y="1837944"/>
            <a:ext cx="5559552" cy="274320"/>
          </a:xfrm>
          <a:prstGeom prst="rect">
            <a:avLst/>
          </a:prstGeom>
          <a:solidFill>
            <a:srgbClr val="C8D9F0"/>
          </a:solidFill>
          <a:ln w="12700">
            <a:solidFill>
              <a:srgbClr val="C8D9F0"/>
            </a:solidFill>
            <a:prstDash val="solid"/>
          </a:ln>
        </p:spPr>
      </p:sp>
      <p:sp>
        <p:nvSpPr>
          <p:cNvPr id="16" name="Text 14"/>
          <p:cNvSpPr/>
          <p:nvPr/>
        </p:nvSpPr>
        <p:spPr>
          <a:xfrm>
            <a:off x="356616" y="1837944"/>
            <a:ext cx="5559552" cy="274320"/>
          </a:xfrm>
          <a:prstGeom prst="rect">
            <a:avLst/>
          </a:prstGeom>
          <a:noFill/>
          <a:ln/>
        </p:spPr>
        <p:txBody>
          <a:bodyPr wrap="square" lIns="38100" tIns="38100" rIns="38100" bIns="38100" rtlCol="0" anchor="ctr"/>
          <a:lstStyle/>
          <a:p>
            <a:pPr marL="0" indent="0">
              <a:lnSpc>
                <a:spcPct val="110000"/>
              </a:lnSpc>
              <a:buNone/>
            </a:pPr>
            <a:r>
              <a:rPr lang="en-US" sz="900" b="1" dirty="0">
                <a:solidFill>
                  <a:srgbClr val="1E4D8C"/>
                </a:solidFill>
              </a:rPr>
              <a:t>→ Inv.: </a:t>
            </a:r>
            <a:r>
              <a:rPr lang="en-US" sz="900" dirty="0">
                <a:solidFill>
                  <a:srgbClr val="1E3A5F"/>
                </a:solidFill>
              </a:rPr>
              <a:t>Favorece a incumbentes grandes (NVDA, MSFT, GOOGL, TSM): ventaja estructural verificable por capital humano en IA.</a:t>
            </a:r>
            <a:endParaRPr lang="en-US" sz="900" dirty="0"/>
          </a:p>
        </p:txBody>
      </p:sp>
      <p:sp>
        <p:nvSpPr>
          <p:cNvPr id="17" name="Shape 15"/>
          <p:cNvSpPr/>
          <p:nvPr/>
        </p:nvSpPr>
        <p:spPr>
          <a:xfrm>
            <a:off x="6172200" y="932688"/>
            <a:ext cx="5760720" cy="1261872"/>
          </a:xfrm>
          <a:prstGeom prst="rect">
            <a:avLst/>
          </a:prstGeom>
          <a:solidFill>
            <a:srgbClr val="EAF2FB"/>
          </a:solidFill>
          <a:ln w="9525">
            <a:solidFill>
              <a:srgbClr val="C8D9F0"/>
            </a:solidFill>
            <a:prstDash val="solid"/>
          </a:ln>
        </p:spPr>
      </p:sp>
      <p:sp>
        <p:nvSpPr>
          <p:cNvPr id="18" name="Shape 16"/>
          <p:cNvSpPr/>
          <p:nvPr/>
        </p:nvSpPr>
        <p:spPr>
          <a:xfrm>
            <a:off x="6172200" y="932688"/>
            <a:ext cx="54864" cy="1261872"/>
          </a:xfrm>
          <a:prstGeom prst="rect">
            <a:avLst/>
          </a:prstGeom>
          <a:solidFill>
            <a:srgbClr val="3B82C4"/>
          </a:solidFill>
          <a:ln w="12700">
            <a:solidFill>
              <a:srgbClr val="3B82C4"/>
            </a:solidFill>
            <a:prstDash val="solid"/>
          </a:ln>
        </p:spPr>
      </p:sp>
      <p:sp>
        <p:nvSpPr>
          <p:cNvPr id="19" name="Shape 17"/>
          <p:cNvSpPr/>
          <p:nvPr/>
        </p:nvSpPr>
        <p:spPr>
          <a:xfrm>
            <a:off x="6300216" y="996696"/>
            <a:ext cx="1508760" cy="182880"/>
          </a:xfrm>
          <a:prstGeom prst="rect">
            <a:avLst/>
          </a:prstGeom>
          <a:solidFill>
            <a:srgbClr val="C8D9F0"/>
          </a:solidFill>
          <a:ln w="12700">
            <a:solidFill>
              <a:srgbClr val="C8D9F0"/>
            </a:solidFill>
            <a:prstDash val="solid"/>
          </a:ln>
        </p:spPr>
      </p:sp>
      <p:sp>
        <p:nvSpPr>
          <p:cNvPr id="20" name="Text 18"/>
          <p:cNvSpPr/>
          <p:nvPr/>
        </p:nvSpPr>
        <p:spPr>
          <a:xfrm>
            <a:off x="6300216" y="996696"/>
            <a:ext cx="1508760" cy="182880"/>
          </a:xfrm>
          <a:prstGeom prst="rect">
            <a:avLst/>
          </a:prstGeom>
          <a:noFill/>
          <a:ln/>
        </p:spPr>
        <p:txBody>
          <a:bodyPr wrap="square" lIns="0" tIns="0" rIns="0" bIns="0" rtlCol="0" anchor="ctr"/>
          <a:lstStyle/>
          <a:p>
            <a:pPr marL="0" indent="0" algn="ctr">
              <a:buNone/>
            </a:pPr>
            <a:r>
              <a:rPr lang="en-US" sz="700" b="1" dirty="0">
                <a:solidFill>
                  <a:srgbClr val="1E4D8C"/>
                </a:solidFill>
              </a:rPr>
              <a:t>[03] IA Generativa en Finanzas</a:t>
            </a:r>
            <a:endParaRPr lang="en-US" sz="700" dirty="0"/>
          </a:p>
        </p:txBody>
      </p:sp>
      <p:sp>
        <p:nvSpPr>
          <p:cNvPr id="21" name="Text 19"/>
          <p:cNvSpPr/>
          <p:nvPr/>
        </p:nvSpPr>
        <p:spPr>
          <a:xfrm>
            <a:off x="6300216" y="1207008"/>
            <a:ext cx="5577840" cy="201168"/>
          </a:xfrm>
          <a:prstGeom prst="rect">
            <a:avLst/>
          </a:prstGeom>
          <a:noFill/>
          <a:ln/>
        </p:spPr>
        <p:txBody>
          <a:bodyPr wrap="square" lIns="0" tIns="0" rIns="0" bIns="0" rtlCol="0" anchor="ctr"/>
          <a:lstStyle/>
          <a:p>
            <a:pPr marL="0" indent="0">
              <a:buNone/>
            </a:pPr>
            <a:r>
              <a:rPr lang="en-US" sz="750" i="1" dirty="0">
                <a:solidFill>
                  <a:srgbClr val="64748B"/>
                </a:solidFill>
              </a:rPr>
              <a:t>Ali, Zafar &amp; Aysan (2025). Finance Research Letters, 86, 108797.</a:t>
            </a:r>
            <a:endParaRPr lang="en-US" sz="750" dirty="0"/>
          </a:p>
        </p:txBody>
      </p:sp>
      <p:sp>
        <p:nvSpPr>
          <p:cNvPr id="22" name="Text 20"/>
          <p:cNvSpPr/>
          <p:nvPr/>
        </p:nvSpPr>
        <p:spPr>
          <a:xfrm>
            <a:off x="6300216" y="1408176"/>
            <a:ext cx="5559552" cy="420624"/>
          </a:xfrm>
          <a:prstGeom prst="rect">
            <a:avLst/>
          </a:prstGeom>
          <a:noFill/>
          <a:ln/>
        </p:spPr>
        <p:txBody>
          <a:bodyPr wrap="square" lIns="0" tIns="0" rIns="0" bIns="0" rtlCol="0" anchor="ctr"/>
          <a:lstStyle/>
          <a:p>
            <a:pPr marL="0" indent="0">
              <a:lnSpc>
                <a:spcPct val="110000"/>
              </a:lnSpc>
              <a:buNone/>
            </a:pPr>
            <a:r>
              <a:rPr lang="en-US" sz="1000" dirty="0">
                <a:solidFill>
                  <a:srgbClr val="0F172A"/>
                </a:solidFill>
              </a:rPr>
              <a:t>La IA generativa en finanzas creció 38.67% anual (2022–2025) en publicaciones académicas; los dominios de mayor tracción son predicción bursátil, analítica ESG y análisis de sentimiento con LLMs.</a:t>
            </a:r>
            <a:endParaRPr lang="en-US" sz="1000" dirty="0"/>
          </a:p>
        </p:txBody>
      </p:sp>
      <p:sp>
        <p:nvSpPr>
          <p:cNvPr id="23" name="Shape 21"/>
          <p:cNvSpPr/>
          <p:nvPr/>
        </p:nvSpPr>
        <p:spPr>
          <a:xfrm>
            <a:off x="6300216" y="1837944"/>
            <a:ext cx="5559552" cy="274320"/>
          </a:xfrm>
          <a:prstGeom prst="rect">
            <a:avLst/>
          </a:prstGeom>
          <a:solidFill>
            <a:srgbClr val="C8D9F0"/>
          </a:solidFill>
          <a:ln w="12700">
            <a:solidFill>
              <a:srgbClr val="C8D9F0"/>
            </a:solidFill>
            <a:prstDash val="solid"/>
          </a:ln>
        </p:spPr>
      </p:sp>
      <p:sp>
        <p:nvSpPr>
          <p:cNvPr id="24" name="Text 22"/>
          <p:cNvSpPr/>
          <p:nvPr/>
        </p:nvSpPr>
        <p:spPr>
          <a:xfrm>
            <a:off x="6300216" y="1837944"/>
            <a:ext cx="5559552" cy="274320"/>
          </a:xfrm>
          <a:prstGeom prst="rect">
            <a:avLst/>
          </a:prstGeom>
          <a:noFill/>
          <a:ln/>
        </p:spPr>
        <p:txBody>
          <a:bodyPr wrap="square" lIns="38100" tIns="38100" rIns="38100" bIns="38100" rtlCol="0" anchor="ctr"/>
          <a:lstStyle/>
          <a:p>
            <a:pPr marL="0" indent="0">
              <a:lnSpc>
                <a:spcPct val="110000"/>
              </a:lnSpc>
              <a:buNone/>
            </a:pPr>
            <a:r>
              <a:rPr lang="en-US" sz="750" b="1" dirty="0">
                <a:solidFill>
                  <a:srgbClr val="1E4D8C"/>
                </a:solidFill>
              </a:rPr>
              <a:t>→ Inv.: </a:t>
            </a:r>
            <a:r>
              <a:rPr lang="en-US" sz="750" dirty="0">
                <a:solidFill>
                  <a:srgbClr val="1E3A5F"/>
                </a:solidFill>
              </a:rPr>
              <a:t>Plataformas cloud con IA integrada (Azure, Google Cloud, CRM/Einstein) capturarán la demanda creciente de herramientas financieras con IA.</a:t>
            </a:r>
            <a:endParaRPr lang="en-US" sz="750" dirty="0"/>
          </a:p>
        </p:txBody>
      </p:sp>
      <p:sp>
        <p:nvSpPr>
          <p:cNvPr id="25" name="Shape 23"/>
          <p:cNvSpPr/>
          <p:nvPr/>
        </p:nvSpPr>
        <p:spPr>
          <a:xfrm>
            <a:off x="228600" y="2212848"/>
            <a:ext cx="5760720" cy="1261872"/>
          </a:xfrm>
          <a:prstGeom prst="rect">
            <a:avLst/>
          </a:prstGeom>
          <a:solidFill>
            <a:srgbClr val="EAF2FB"/>
          </a:solidFill>
          <a:ln w="9525">
            <a:solidFill>
              <a:srgbClr val="C8D9F0"/>
            </a:solidFill>
            <a:prstDash val="solid"/>
          </a:ln>
        </p:spPr>
      </p:sp>
      <p:sp>
        <p:nvSpPr>
          <p:cNvPr id="26" name="Shape 24"/>
          <p:cNvSpPr/>
          <p:nvPr/>
        </p:nvSpPr>
        <p:spPr>
          <a:xfrm>
            <a:off x="228600" y="2212848"/>
            <a:ext cx="54864" cy="1261872"/>
          </a:xfrm>
          <a:prstGeom prst="rect">
            <a:avLst/>
          </a:prstGeom>
          <a:solidFill>
            <a:srgbClr val="3B82C4"/>
          </a:solidFill>
          <a:ln w="12700">
            <a:solidFill>
              <a:srgbClr val="3B82C4"/>
            </a:solidFill>
            <a:prstDash val="solid"/>
          </a:ln>
        </p:spPr>
      </p:sp>
      <p:sp>
        <p:nvSpPr>
          <p:cNvPr id="27" name="Shape 25"/>
          <p:cNvSpPr/>
          <p:nvPr/>
        </p:nvSpPr>
        <p:spPr>
          <a:xfrm>
            <a:off x="356616" y="2276856"/>
            <a:ext cx="1508760" cy="182880"/>
          </a:xfrm>
          <a:prstGeom prst="rect">
            <a:avLst/>
          </a:prstGeom>
          <a:solidFill>
            <a:srgbClr val="C8D9F0"/>
          </a:solidFill>
          <a:ln w="12700">
            <a:solidFill>
              <a:srgbClr val="C8D9F0"/>
            </a:solidFill>
            <a:prstDash val="solid"/>
          </a:ln>
        </p:spPr>
      </p:sp>
      <p:sp>
        <p:nvSpPr>
          <p:cNvPr id="28" name="Text 26"/>
          <p:cNvSpPr/>
          <p:nvPr/>
        </p:nvSpPr>
        <p:spPr>
          <a:xfrm>
            <a:off x="356616" y="2276856"/>
            <a:ext cx="1508760" cy="182880"/>
          </a:xfrm>
          <a:prstGeom prst="rect">
            <a:avLst/>
          </a:prstGeom>
          <a:noFill/>
          <a:ln/>
        </p:spPr>
        <p:txBody>
          <a:bodyPr wrap="square" lIns="0" tIns="0" rIns="0" bIns="0" rtlCol="0" anchor="ctr"/>
          <a:lstStyle/>
          <a:p>
            <a:pPr marL="0" indent="0" algn="ctr">
              <a:buNone/>
            </a:pPr>
            <a:r>
              <a:rPr lang="en-US" sz="700" b="1" dirty="0">
                <a:solidFill>
                  <a:srgbClr val="1E4D8C"/>
                </a:solidFill>
              </a:rPr>
              <a:t>[04] Riesgo Regulatorio &amp; Privacidad</a:t>
            </a:r>
            <a:endParaRPr lang="en-US" sz="700" dirty="0"/>
          </a:p>
        </p:txBody>
      </p:sp>
      <p:sp>
        <p:nvSpPr>
          <p:cNvPr id="29" name="Text 27"/>
          <p:cNvSpPr/>
          <p:nvPr/>
        </p:nvSpPr>
        <p:spPr>
          <a:xfrm>
            <a:off x="356616" y="2487168"/>
            <a:ext cx="5577840" cy="201168"/>
          </a:xfrm>
          <a:prstGeom prst="rect">
            <a:avLst/>
          </a:prstGeom>
          <a:noFill/>
          <a:ln/>
        </p:spPr>
        <p:txBody>
          <a:bodyPr wrap="square" lIns="0" tIns="0" rIns="0" bIns="0" rtlCol="0" anchor="ctr"/>
          <a:lstStyle/>
          <a:p>
            <a:pPr marL="0" indent="0">
              <a:buNone/>
            </a:pPr>
            <a:r>
              <a:rPr lang="en-US" sz="750" i="1" dirty="0">
                <a:solidFill>
                  <a:srgbClr val="64748B"/>
                </a:solidFill>
              </a:rPr>
              <a:t>Saura, Skare &amp; Ozretic Dosen (2024). Journal of Innovation &amp; Knowledge, 9, 100597.</a:t>
            </a:r>
            <a:endParaRPr lang="en-US" sz="750" dirty="0"/>
          </a:p>
        </p:txBody>
      </p:sp>
      <p:sp>
        <p:nvSpPr>
          <p:cNvPr id="30" name="Text 28"/>
          <p:cNvSpPr/>
          <p:nvPr/>
        </p:nvSpPr>
        <p:spPr>
          <a:xfrm>
            <a:off x="356616" y="2688336"/>
            <a:ext cx="5559552" cy="420624"/>
          </a:xfrm>
          <a:prstGeom prst="rect">
            <a:avLst/>
          </a:prstGeom>
          <a:noFill/>
          <a:ln/>
        </p:spPr>
        <p:txBody>
          <a:bodyPr wrap="square" lIns="0" tIns="0" rIns="0" bIns="0" rtlCol="0" anchor="ctr"/>
          <a:lstStyle/>
          <a:p>
            <a:pPr marL="0" indent="0">
              <a:lnSpc>
                <a:spcPct val="110000"/>
              </a:lnSpc>
              <a:buNone/>
            </a:pPr>
            <a:r>
              <a:rPr lang="en-US" sz="1000" b="1" dirty="0">
                <a:solidFill>
                  <a:srgbClr val="0F172A"/>
                </a:solidFill>
              </a:rPr>
              <a:t>Las estrategias de marketing digital con IA están sistemáticamente desconectadas de estándares éticos de privacidad; el endurecimiento regulatorio (GDPR, AI Act) puede presionar márgenes publicitarios.</a:t>
            </a:r>
            <a:endParaRPr lang="en-US" sz="1000" b="1" dirty="0"/>
          </a:p>
        </p:txBody>
      </p:sp>
      <p:sp>
        <p:nvSpPr>
          <p:cNvPr id="31" name="Shape 29"/>
          <p:cNvSpPr/>
          <p:nvPr/>
        </p:nvSpPr>
        <p:spPr>
          <a:xfrm>
            <a:off x="356616" y="3118104"/>
            <a:ext cx="5559552" cy="274320"/>
          </a:xfrm>
          <a:prstGeom prst="rect">
            <a:avLst/>
          </a:prstGeom>
          <a:solidFill>
            <a:srgbClr val="C8D9F0"/>
          </a:solidFill>
          <a:ln w="12700">
            <a:solidFill>
              <a:srgbClr val="C8D9F0"/>
            </a:solidFill>
            <a:prstDash val="solid"/>
          </a:ln>
        </p:spPr>
      </p:sp>
      <p:sp>
        <p:nvSpPr>
          <p:cNvPr id="32" name="Text 30"/>
          <p:cNvSpPr/>
          <p:nvPr/>
        </p:nvSpPr>
        <p:spPr>
          <a:xfrm>
            <a:off x="356616" y="3118104"/>
            <a:ext cx="5559552" cy="274320"/>
          </a:xfrm>
          <a:prstGeom prst="rect">
            <a:avLst/>
          </a:prstGeom>
          <a:noFill/>
          <a:ln/>
        </p:spPr>
        <p:txBody>
          <a:bodyPr wrap="square" lIns="38100" tIns="38100" rIns="38100" bIns="38100" rtlCol="0" anchor="ctr"/>
          <a:lstStyle/>
          <a:p>
            <a:pPr marL="0" indent="0">
              <a:lnSpc>
                <a:spcPct val="110000"/>
              </a:lnSpc>
              <a:buNone/>
            </a:pPr>
            <a:r>
              <a:rPr lang="en-US" sz="900" b="1" dirty="0">
                <a:solidFill>
                  <a:srgbClr val="1E4D8C"/>
                </a:solidFill>
              </a:rPr>
              <a:t>→ Inv.: </a:t>
            </a:r>
            <a:r>
              <a:rPr lang="en-US" sz="900" dirty="0">
                <a:solidFill>
                  <a:srgbClr val="1E3A5F"/>
                </a:solidFill>
              </a:rPr>
              <a:t>Riesgo regulatorio de cola para META y GOOGL; modelos B2B de cloud o suscripción presentan menor exposición</a:t>
            </a:r>
            <a:r>
              <a:rPr lang="en-US" sz="750" dirty="0">
                <a:solidFill>
                  <a:srgbClr val="1E3A5F"/>
                </a:solidFill>
              </a:rPr>
              <a:t>.</a:t>
            </a:r>
            <a:endParaRPr lang="en-US" sz="750" dirty="0"/>
          </a:p>
        </p:txBody>
      </p:sp>
      <p:sp>
        <p:nvSpPr>
          <p:cNvPr id="33" name="Shape 31"/>
          <p:cNvSpPr/>
          <p:nvPr/>
        </p:nvSpPr>
        <p:spPr>
          <a:xfrm>
            <a:off x="6172200" y="2212848"/>
            <a:ext cx="5760720" cy="1261872"/>
          </a:xfrm>
          <a:prstGeom prst="rect">
            <a:avLst/>
          </a:prstGeom>
          <a:solidFill>
            <a:srgbClr val="EAF2FB"/>
          </a:solidFill>
          <a:ln w="9525">
            <a:solidFill>
              <a:srgbClr val="C8D9F0"/>
            </a:solidFill>
            <a:prstDash val="solid"/>
          </a:ln>
        </p:spPr>
      </p:sp>
      <p:sp>
        <p:nvSpPr>
          <p:cNvPr id="34" name="Shape 32"/>
          <p:cNvSpPr/>
          <p:nvPr/>
        </p:nvSpPr>
        <p:spPr>
          <a:xfrm>
            <a:off x="6172200" y="2212848"/>
            <a:ext cx="54864" cy="1261872"/>
          </a:xfrm>
          <a:prstGeom prst="rect">
            <a:avLst/>
          </a:prstGeom>
          <a:solidFill>
            <a:srgbClr val="3B82C4"/>
          </a:solidFill>
          <a:ln w="12700">
            <a:solidFill>
              <a:srgbClr val="3B82C4"/>
            </a:solidFill>
            <a:prstDash val="solid"/>
          </a:ln>
        </p:spPr>
      </p:sp>
      <p:sp>
        <p:nvSpPr>
          <p:cNvPr id="35" name="Shape 33"/>
          <p:cNvSpPr/>
          <p:nvPr/>
        </p:nvSpPr>
        <p:spPr>
          <a:xfrm>
            <a:off x="6300216" y="2276856"/>
            <a:ext cx="1508760" cy="182880"/>
          </a:xfrm>
          <a:prstGeom prst="rect">
            <a:avLst/>
          </a:prstGeom>
          <a:solidFill>
            <a:srgbClr val="C8D9F0"/>
          </a:solidFill>
          <a:ln w="12700">
            <a:solidFill>
              <a:srgbClr val="C8D9F0"/>
            </a:solidFill>
            <a:prstDash val="solid"/>
          </a:ln>
        </p:spPr>
      </p:sp>
      <p:sp>
        <p:nvSpPr>
          <p:cNvPr id="36" name="Text 34"/>
          <p:cNvSpPr/>
          <p:nvPr/>
        </p:nvSpPr>
        <p:spPr>
          <a:xfrm>
            <a:off x="6300216" y="2276856"/>
            <a:ext cx="1508760" cy="182880"/>
          </a:xfrm>
          <a:prstGeom prst="rect">
            <a:avLst/>
          </a:prstGeom>
          <a:noFill/>
          <a:ln/>
        </p:spPr>
        <p:txBody>
          <a:bodyPr wrap="square" lIns="0" tIns="0" rIns="0" bIns="0" rtlCol="0" anchor="ctr"/>
          <a:lstStyle/>
          <a:p>
            <a:pPr marL="0" indent="0" algn="ctr">
              <a:buNone/>
            </a:pPr>
            <a:r>
              <a:rPr lang="en-US" sz="700" b="1" dirty="0">
                <a:solidFill>
                  <a:srgbClr val="1E4D8C"/>
                </a:solidFill>
              </a:rPr>
              <a:t>[08] Posición Competitiva NVDA</a:t>
            </a:r>
            <a:endParaRPr lang="en-US" sz="700" dirty="0"/>
          </a:p>
        </p:txBody>
      </p:sp>
      <p:sp>
        <p:nvSpPr>
          <p:cNvPr id="37" name="Text 35"/>
          <p:cNvSpPr/>
          <p:nvPr/>
        </p:nvSpPr>
        <p:spPr>
          <a:xfrm>
            <a:off x="6300216" y="2487168"/>
            <a:ext cx="5577840" cy="201168"/>
          </a:xfrm>
          <a:prstGeom prst="rect">
            <a:avLst/>
          </a:prstGeom>
          <a:noFill/>
          <a:ln/>
        </p:spPr>
        <p:txBody>
          <a:bodyPr wrap="square" lIns="0" tIns="0" rIns="0" bIns="0" rtlCol="0" anchor="ctr"/>
          <a:lstStyle/>
          <a:p>
            <a:pPr marL="0" indent="0">
              <a:buNone/>
            </a:pPr>
            <a:r>
              <a:rPr lang="en-US" sz="750" i="1" dirty="0">
                <a:solidFill>
                  <a:srgbClr val="64748B"/>
                </a:solidFill>
              </a:rPr>
              <a:t>Shumin, X. (2024). Scalability in incumbent firms: The case of Nvidia. [Working paper].</a:t>
            </a:r>
            <a:endParaRPr lang="en-US" sz="750" dirty="0"/>
          </a:p>
        </p:txBody>
      </p:sp>
      <p:sp>
        <p:nvSpPr>
          <p:cNvPr id="38" name="Text 36"/>
          <p:cNvSpPr/>
          <p:nvPr/>
        </p:nvSpPr>
        <p:spPr>
          <a:xfrm>
            <a:off x="6300216" y="2688336"/>
            <a:ext cx="5559552" cy="420624"/>
          </a:xfrm>
          <a:prstGeom prst="rect">
            <a:avLst/>
          </a:prstGeom>
          <a:noFill/>
          <a:ln/>
        </p:spPr>
        <p:txBody>
          <a:bodyPr wrap="square" lIns="0" tIns="0" rIns="0" bIns="0" rtlCol="0" anchor="ctr"/>
          <a:lstStyle/>
          <a:p>
            <a:pPr marL="0" indent="0">
              <a:lnSpc>
                <a:spcPct val="110000"/>
              </a:lnSpc>
              <a:buNone/>
            </a:pPr>
            <a:r>
              <a:rPr lang="en-US" sz="800" dirty="0">
                <a:solidFill>
                  <a:srgbClr val="0F172A"/>
                </a:solidFill>
              </a:rPr>
              <a:t>El ecosistema CUDA y la escalabilidad de la arquitectura GPU de NVIDIA constituyen barreras de entrada estructurales para competidores; la ventaja de red es autorreinforciada.</a:t>
            </a:r>
            <a:endParaRPr lang="en-US" sz="800" dirty="0"/>
          </a:p>
        </p:txBody>
      </p:sp>
      <p:sp>
        <p:nvSpPr>
          <p:cNvPr id="39" name="Shape 37"/>
          <p:cNvSpPr/>
          <p:nvPr/>
        </p:nvSpPr>
        <p:spPr>
          <a:xfrm>
            <a:off x="6300216" y="3118104"/>
            <a:ext cx="5559552" cy="274320"/>
          </a:xfrm>
          <a:prstGeom prst="rect">
            <a:avLst/>
          </a:prstGeom>
          <a:solidFill>
            <a:srgbClr val="C8D9F0"/>
          </a:solidFill>
          <a:ln w="12700">
            <a:solidFill>
              <a:srgbClr val="C8D9F0"/>
            </a:solidFill>
            <a:prstDash val="solid"/>
          </a:ln>
        </p:spPr>
      </p:sp>
      <p:sp>
        <p:nvSpPr>
          <p:cNvPr id="40" name="Text 38"/>
          <p:cNvSpPr/>
          <p:nvPr/>
        </p:nvSpPr>
        <p:spPr>
          <a:xfrm>
            <a:off x="6300216" y="3118104"/>
            <a:ext cx="5559552" cy="274320"/>
          </a:xfrm>
          <a:prstGeom prst="rect">
            <a:avLst/>
          </a:prstGeom>
          <a:noFill/>
          <a:ln/>
        </p:spPr>
        <p:txBody>
          <a:bodyPr wrap="square" lIns="38100" tIns="38100" rIns="38100" bIns="38100" rtlCol="0" anchor="ctr"/>
          <a:lstStyle/>
          <a:p>
            <a:pPr marL="0" indent="0">
              <a:lnSpc>
                <a:spcPct val="110000"/>
              </a:lnSpc>
              <a:buNone/>
            </a:pPr>
            <a:r>
              <a:rPr lang="en-US" sz="750" b="1" dirty="0">
                <a:solidFill>
                  <a:srgbClr val="1E4D8C"/>
                </a:solidFill>
              </a:rPr>
              <a:t>→ Inv.: </a:t>
            </a:r>
            <a:r>
              <a:rPr lang="en-US" sz="750" dirty="0">
                <a:solidFill>
                  <a:srgbClr val="1E3A5F"/>
                </a:solidFill>
              </a:rPr>
              <a:t>La moat tecnológica de NVDA (CUDA + arquitecturas Blackwell/Hopper) respalda alfa positiva (+44.33%) y justifica posición COMPRAR en el portafolio.</a:t>
            </a:r>
            <a:endParaRPr lang="en-US" sz="750" dirty="0"/>
          </a:p>
        </p:txBody>
      </p:sp>
      <p:sp>
        <p:nvSpPr>
          <p:cNvPr id="41" name="Shape 39"/>
          <p:cNvSpPr/>
          <p:nvPr/>
        </p:nvSpPr>
        <p:spPr>
          <a:xfrm>
            <a:off x="228600" y="3566160"/>
            <a:ext cx="11704320" cy="36576"/>
          </a:xfrm>
          <a:prstGeom prst="rect">
            <a:avLst/>
          </a:prstGeom>
          <a:solidFill>
            <a:srgbClr val="3B82C4"/>
          </a:solidFill>
          <a:ln w="12700">
            <a:solidFill>
              <a:srgbClr val="3B82C4"/>
            </a:solidFill>
            <a:prstDash val="solid"/>
          </a:ln>
        </p:spPr>
      </p:sp>
      <p:sp>
        <p:nvSpPr>
          <p:cNvPr id="42" name="Text 40"/>
          <p:cNvSpPr/>
          <p:nvPr/>
        </p:nvSpPr>
        <p:spPr>
          <a:xfrm>
            <a:off x="228600" y="3630168"/>
            <a:ext cx="11704320" cy="256032"/>
          </a:xfrm>
          <a:prstGeom prst="rect">
            <a:avLst/>
          </a:prstGeom>
          <a:noFill/>
          <a:ln/>
        </p:spPr>
        <p:txBody>
          <a:bodyPr wrap="square" lIns="0" tIns="0" rIns="0" bIns="0" rtlCol="0" anchor="ctr"/>
          <a:lstStyle/>
          <a:p>
            <a:pPr marL="0" indent="0">
              <a:buNone/>
            </a:pPr>
            <a:r>
              <a:rPr lang="en-US" sz="850" b="1" kern="0" spc="150" dirty="0">
                <a:solidFill>
                  <a:srgbClr val="1E4D8C"/>
                </a:solidFill>
              </a:rPr>
              <a:t>TESIS SECTORIAL Y CONTEXTO MACROECONÓMICO — ¿POR QUÉ INVERTIR EN IA HOY?</a:t>
            </a:r>
            <a:endParaRPr lang="en-US" sz="850" dirty="0"/>
          </a:p>
        </p:txBody>
      </p:sp>
      <p:sp>
        <p:nvSpPr>
          <p:cNvPr id="43" name="Text 41"/>
          <p:cNvSpPr/>
          <p:nvPr/>
        </p:nvSpPr>
        <p:spPr>
          <a:xfrm>
            <a:off x="228600" y="3950208"/>
            <a:ext cx="3931920" cy="329184"/>
          </a:xfrm>
          <a:prstGeom prst="rect">
            <a:avLst/>
          </a:prstGeom>
          <a:noFill/>
          <a:ln/>
        </p:spPr>
        <p:txBody>
          <a:bodyPr wrap="square" lIns="0" tIns="0" rIns="0" bIns="0" rtlCol="0" anchor="ctr"/>
          <a:lstStyle/>
          <a:p>
            <a:pPr marL="0" indent="0">
              <a:buNone/>
            </a:pPr>
            <a:r>
              <a:rPr lang="en-US" sz="800" i="1" dirty="0">
                <a:solidFill>
                  <a:srgbClr val="64748B"/>
                </a:solidFill>
              </a:rPr>
              <a:t>Tabla 1</a:t>
            </a:r>
            <a:endParaRPr lang="en-US" sz="800" dirty="0"/>
          </a:p>
          <a:p>
            <a:pPr marL="0" indent="0">
              <a:buNone/>
            </a:pPr>
            <a:r>
              <a:rPr lang="en-US" sz="800" i="1" dirty="0">
                <a:solidFill>
                  <a:srgbClr val="64748B"/>
                </a:solidFill>
              </a:rPr>
              <a:t>Comparativo sectorial (Q1 2026)</a:t>
            </a:r>
            <a:endParaRPr lang="en-US" sz="8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228600" y="4315968"/>
          <a:ext cx="3931920" cy="1664210"/>
        </p:xfrm>
        <a:graphic>
          <a:graphicData uri="http://schemas.openxmlformats.org/drawingml/2006/table">
            <a:tbl>
              <a:tblPr/>
              <a:tblGrid>
                <a:gridCol w="16459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332842">
                <a:tc>
                  <a:txBody>
                    <a:bodyPr/>
                    <a:lstStyle/>
                    <a:p>
                      <a:pPr marL="0" indent="0">
                        <a:buNone/>
                      </a:pPr>
                      <a:r>
                        <a:rPr lang="en-US" sz="850" b="1" dirty="0">
                          <a:solidFill>
                            <a:srgbClr val="FFFFFF"/>
                          </a:solidFill>
                        </a:rPr>
                        <a:t>Instrumento</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buNone/>
                      </a:pPr>
                      <a:r>
                        <a:rPr lang="en-US" sz="850" b="1" dirty="0">
                          <a:solidFill>
                            <a:srgbClr val="FFFFFF"/>
                          </a:solidFill>
                        </a:rPr>
                        <a:t>Retorno TTM</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buNone/>
                      </a:pPr>
                      <a:r>
                        <a:rPr lang="en-US" sz="850" b="1" dirty="0">
                          <a:solidFill>
                            <a:srgbClr val="FFFFFF"/>
                          </a:solidFill>
                        </a:rPr>
                        <a:t>P/E Forward</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buNone/>
                      </a:pPr>
                      <a:r>
                        <a:rPr lang="en-US" sz="850" b="1" dirty="0">
                          <a:solidFill>
                            <a:srgbClr val="FFFFFF"/>
                          </a:solidFill>
                        </a:rPr>
                        <a:t>Señal</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extLst>
                  <a:ext uri="{0D108BD9-81ED-4DB2-BD59-A6C34878D82A}">
                    <a16:rowId xmlns:a16="http://schemas.microsoft.com/office/drawing/2014/main" val="10000"/>
                  </a:ext>
                </a:extLst>
              </a:tr>
              <a:tr h="332842">
                <a:tc>
                  <a:txBody>
                    <a:bodyPr/>
                    <a:lstStyle/>
                    <a:p>
                      <a:pPr marL="0" indent="0">
                        <a:buNone/>
                      </a:pPr>
                      <a:r>
                        <a:rPr lang="en-US" sz="850" dirty="0">
                          <a:solidFill>
                            <a:srgbClr val="0F172A"/>
                          </a:solidFill>
                        </a:rPr>
                        <a:t>Sector IA (SOXX / AI-heavy)</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b="1" dirty="0">
                          <a:solidFill>
                            <a:srgbClr val="16A34A"/>
                          </a:solidFill>
                        </a:rPr>
                        <a:t>+38.6%</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F172A"/>
                          </a:solidFill>
                        </a:rPr>
                        <a:t>34× – 42×</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b="1" dirty="0">
                          <a:solidFill>
                            <a:srgbClr val="16A34A"/>
                          </a:solidFill>
                        </a:rPr>
                        <a:t>POSITIVO</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32842">
                <a:tc>
                  <a:txBody>
                    <a:bodyPr/>
                    <a:lstStyle/>
                    <a:p>
                      <a:pPr marL="0" indent="0">
                        <a:buNone/>
                      </a:pPr>
                      <a:r>
                        <a:rPr lang="en-US" sz="850" dirty="0">
                          <a:solidFill>
                            <a:srgbClr val="0F172A"/>
                          </a:solidFill>
                        </a:rPr>
                        <a:t>Nasdaq 100 (QQQ)</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850" dirty="0">
                          <a:solidFill>
                            <a:srgbClr val="2563AE"/>
                          </a:solidFill>
                        </a:rPr>
                        <a:t>+23.4%</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850" dirty="0">
                          <a:solidFill>
                            <a:srgbClr val="0F172A"/>
                          </a:solidFill>
                        </a:rPr>
                        <a:t>27×</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850" dirty="0">
                          <a:solidFill>
                            <a:srgbClr val="0F172A"/>
                          </a:solidFill>
                        </a:rPr>
                        <a:t>NEUTRAL</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extLst>
                  <a:ext uri="{0D108BD9-81ED-4DB2-BD59-A6C34878D82A}">
                    <a16:rowId xmlns:a16="http://schemas.microsoft.com/office/drawing/2014/main" val="10002"/>
                  </a:ext>
                </a:extLst>
              </a:tr>
              <a:tr h="332842">
                <a:tc>
                  <a:txBody>
                    <a:bodyPr/>
                    <a:lstStyle/>
                    <a:p>
                      <a:pPr marL="0" indent="0">
                        <a:buNone/>
                      </a:pPr>
                      <a:r>
                        <a:rPr lang="en-US" sz="850" dirty="0">
                          <a:solidFill>
                            <a:srgbClr val="0F172A"/>
                          </a:solidFill>
                        </a:rPr>
                        <a:t>S&amp;P 500 (SPY)</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F172A"/>
                          </a:solidFill>
                        </a:rPr>
                        <a:t>+18.7%</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F172A"/>
                          </a:solidFill>
                        </a:rPr>
                        <a:t>21×</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F172A"/>
                          </a:solidFill>
                        </a:rPr>
                        <a:t>NEUTRAL</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332842">
                <a:tc>
                  <a:txBody>
                    <a:bodyPr/>
                    <a:lstStyle/>
                    <a:p>
                      <a:pPr marL="0" indent="0">
                        <a:buNone/>
                      </a:pPr>
                      <a:r>
                        <a:rPr lang="en-US" sz="850" dirty="0">
                          <a:solidFill>
                            <a:srgbClr val="0F172A"/>
                          </a:solidFill>
                        </a:rPr>
                        <a:t>T-Bond 10Y (EE.UU.)</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850" dirty="0">
                          <a:solidFill>
                            <a:srgbClr val="64748B"/>
                          </a:solidFill>
                        </a:rPr>
                        <a:t>4.42%</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850" dirty="0">
                          <a:solidFill>
                            <a:srgbClr val="64748B"/>
                          </a:solidFill>
                        </a:rPr>
                        <a:t>N/A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850" b="1" dirty="0">
                          <a:solidFill>
                            <a:srgbClr val="D97706"/>
                          </a:solidFill>
                        </a:rPr>
                        <a:t>CAUTELA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extLst>
                  <a:ext uri="{0D108BD9-81ED-4DB2-BD59-A6C34878D82A}">
                    <a16:rowId xmlns:a16="http://schemas.microsoft.com/office/drawing/2014/main" val="10004"/>
                  </a:ext>
                </a:extLst>
              </a:tr>
            </a:tbl>
          </a:graphicData>
        </a:graphic>
      </p:graphicFrame>
      <p:sp>
        <p:nvSpPr>
          <p:cNvPr id="45" name="Text 42"/>
          <p:cNvSpPr/>
          <p:nvPr/>
        </p:nvSpPr>
        <p:spPr>
          <a:xfrm>
            <a:off x="228600" y="6035040"/>
            <a:ext cx="3931920" cy="274320"/>
          </a:xfrm>
          <a:prstGeom prst="rect">
            <a:avLst/>
          </a:prstGeom>
          <a:noFill/>
          <a:ln/>
        </p:spPr>
        <p:txBody>
          <a:bodyPr wrap="square" lIns="0" tIns="0" rIns="0" bIns="0" rtlCol="0" anchor="ctr"/>
          <a:lstStyle/>
          <a:p>
            <a:pPr marL="0" indent="0">
              <a:lnSpc>
                <a:spcPct val="110000"/>
              </a:lnSpc>
              <a:buNone/>
            </a:pPr>
            <a:r>
              <a:rPr lang="en-US" sz="700" i="1" dirty="0">
                <a:solidFill>
                  <a:srgbClr val="94A3B8"/>
                </a:solidFill>
              </a:rPr>
              <a:t>Nota. Retornos TTM (trailing 12 meses) a mayo 2026. P/E forward consenso FactSet / Bloomberg. T-Bond 10Y: rendimiento al 30/05/2026.</a:t>
            </a:r>
            <a:endParaRPr lang="en-US" sz="700" dirty="0"/>
          </a:p>
        </p:txBody>
      </p:sp>
      <p:sp>
        <p:nvSpPr>
          <p:cNvPr id="46" name="Text 43"/>
          <p:cNvSpPr/>
          <p:nvPr/>
        </p:nvSpPr>
        <p:spPr>
          <a:xfrm>
            <a:off x="4297680" y="3950208"/>
            <a:ext cx="3794760" cy="228600"/>
          </a:xfrm>
          <a:prstGeom prst="rect">
            <a:avLst/>
          </a:prstGeom>
          <a:noFill/>
          <a:ln/>
        </p:spPr>
        <p:txBody>
          <a:bodyPr wrap="square" lIns="0" tIns="0" rIns="0" bIns="0" rtlCol="0" anchor="ctr"/>
          <a:lstStyle/>
          <a:p>
            <a:pPr marL="0" indent="0">
              <a:buNone/>
            </a:pPr>
            <a:r>
              <a:rPr lang="en-US" sz="800" i="1" dirty="0">
                <a:solidFill>
                  <a:srgbClr val="64748B"/>
                </a:solidFill>
              </a:rPr>
              <a:t>Variables macroeconómicas EE.UU. — Q1 2026</a:t>
            </a:r>
            <a:endParaRPr lang="en-US" sz="800" dirty="0"/>
          </a:p>
        </p:txBody>
      </p:sp>
      <p:sp>
        <p:nvSpPr>
          <p:cNvPr id="47" name="Shape 44"/>
          <p:cNvSpPr/>
          <p:nvPr/>
        </p:nvSpPr>
        <p:spPr>
          <a:xfrm>
            <a:off x="4297680" y="4206240"/>
            <a:ext cx="3749040" cy="457200"/>
          </a:xfrm>
          <a:prstGeom prst="rect">
            <a:avLst/>
          </a:prstGeom>
          <a:solidFill>
            <a:srgbClr val="EAF2FB"/>
          </a:solidFill>
          <a:ln w="6350">
            <a:solidFill>
              <a:srgbClr val="C8D9F0"/>
            </a:solidFill>
            <a:prstDash val="solid"/>
          </a:ln>
        </p:spPr>
      </p:sp>
      <p:sp>
        <p:nvSpPr>
          <p:cNvPr id="48" name="Text 45"/>
          <p:cNvSpPr/>
          <p:nvPr/>
        </p:nvSpPr>
        <p:spPr>
          <a:xfrm>
            <a:off x="4370832" y="4242816"/>
            <a:ext cx="1463040" cy="182880"/>
          </a:xfrm>
          <a:prstGeom prst="rect">
            <a:avLst/>
          </a:prstGeom>
          <a:noFill/>
          <a:ln/>
        </p:spPr>
        <p:txBody>
          <a:bodyPr wrap="square" lIns="0" tIns="0" rIns="0" bIns="0" rtlCol="0" anchor="ctr"/>
          <a:lstStyle/>
          <a:p>
            <a:pPr marL="0" indent="0">
              <a:buNone/>
            </a:pPr>
            <a:r>
              <a:rPr lang="en-US" sz="850" b="1" dirty="0">
                <a:solidFill>
                  <a:srgbClr val="1E3A5F"/>
                </a:solidFill>
              </a:rPr>
              <a:t>Fed Funds Rate</a:t>
            </a:r>
            <a:endParaRPr lang="en-US" sz="850" dirty="0"/>
          </a:p>
        </p:txBody>
      </p:sp>
      <p:sp>
        <p:nvSpPr>
          <p:cNvPr id="49" name="Text 46"/>
          <p:cNvSpPr/>
          <p:nvPr/>
        </p:nvSpPr>
        <p:spPr>
          <a:xfrm>
            <a:off x="5806440" y="4224528"/>
            <a:ext cx="822960" cy="237744"/>
          </a:xfrm>
          <a:prstGeom prst="rect">
            <a:avLst/>
          </a:prstGeom>
          <a:noFill/>
          <a:ln/>
        </p:spPr>
        <p:txBody>
          <a:bodyPr wrap="square" lIns="0" tIns="0" rIns="0" bIns="0" rtlCol="0" anchor="ctr"/>
          <a:lstStyle/>
          <a:p>
            <a:pPr marL="0" indent="0">
              <a:buNone/>
            </a:pPr>
            <a:r>
              <a:rPr lang="en-US" sz="1400" b="1" dirty="0">
                <a:solidFill>
                  <a:srgbClr val="0D2240"/>
                </a:solidFill>
              </a:rPr>
              <a:t>3.50–3.75%</a:t>
            </a:r>
            <a:endParaRPr lang="en-US" sz="1400" dirty="0"/>
          </a:p>
        </p:txBody>
      </p:sp>
      <p:sp>
        <p:nvSpPr>
          <p:cNvPr id="50" name="Shape 47"/>
          <p:cNvSpPr/>
          <p:nvPr/>
        </p:nvSpPr>
        <p:spPr>
          <a:xfrm>
            <a:off x="6720840" y="4270248"/>
            <a:ext cx="1234440" cy="182880"/>
          </a:xfrm>
          <a:prstGeom prst="rect">
            <a:avLst/>
          </a:prstGeom>
          <a:solidFill>
            <a:srgbClr val="DCFCE7"/>
          </a:solidFill>
          <a:ln w="6350">
            <a:solidFill>
              <a:srgbClr val="16A34A"/>
            </a:solidFill>
            <a:prstDash val="solid"/>
          </a:ln>
        </p:spPr>
      </p:sp>
      <p:sp>
        <p:nvSpPr>
          <p:cNvPr id="51" name="Text 48"/>
          <p:cNvSpPr/>
          <p:nvPr/>
        </p:nvSpPr>
        <p:spPr>
          <a:xfrm>
            <a:off x="6720840" y="4270248"/>
            <a:ext cx="1234440" cy="182880"/>
          </a:xfrm>
          <a:prstGeom prst="rect">
            <a:avLst/>
          </a:prstGeom>
          <a:noFill/>
          <a:ln/>
        </p:spPr>
        <p:txBody>
          <a:bodyPr wrap="square" lIns="0" tIns="0" rIns="0" bIns="0" rtlCol="0" anchor="ctr"/>
          <a:lstStyle/>
          <a:p>
            <a:pPr marL="0" indent="0" algn="ctr">
              <a:buNone/>
            </a:pPr>
            <a:r>
              <a:rPr lang="en-US" sz="700" b="1" dirty="0">
                <a:solidFill>
                  <a:srgbClr val="16A34A"/>
                </a:solidFill>
              </a:rPr>
              <a:t>FAVORABLE</a:t>
            </a:r>
            <a:endParaRPr lang="en-US" sz="700" dirty="0"/>
          </a:p>
        </p:txBody>
      </p:sp>
      <p:sp>
        <p:nvSpPr>
          <p:cNvPr id="52" name="Text 49"/>
          <p:cNvSpPr/>
          <p:nvPr/>
        </p:nvSpPr>
        <p:spPr>
          <a:xfrm>
            <a:off x="4370832" y="4453128"/>
            <a:ext cx="3611880" cy="182880"/>
          </a:xfrm>
          <a:prstGeom prst="rect">
            <a:avLst/>
          </a:prstGeom>
          <a:noFill/>
          <a:ln/>
        </p:spPr>
        <p:txBody>
          <a:bodyPr wrap="square" lIns="0" tIns="0" rIns="0" bIns="0" rtlCol="0" anchor="ctr"/>
          <a:lstStyle/>
          <a:p>
            <a:pPr marL="0" indent="0">
              <a:buNone/>
            </a:pPr>
            <a:r>
              <a:rPr lang="en-US" sz="750" dirty="0">
                <a:solidFill>
                  <a:srgbClr val="64748B"/>
                </a:solidFill>
              </a:rPr>
              <a:t>Ciclo de relajación monetaria en curso; reduce costo del capital para growth stocks.</a:t>
            </a:r>
            <a:endParaRPr lang="en-US" sz="750" dirty="0"/>
          </a:p>
        </p:txBody>
      </p:sp>
      <p:sp>
        <p:nvSpPr>
          <p:cNvPr id="53" name="Shape 50"/>
          <p:cNvSpPr/>
          <p:nvPr/>
        </p:nvSpPr>
        <p:spPr>
          <a:xfrm>
            <a:off x="4297680" y="4718304"/>
            <a:ext cx="3749040" cy="457200"/>
          </a:xfrm>
          <a:prstGeom prst="rect">
            <a:avLst/>
          </a:prstGeom>
          <a:solidFill>
            <a:srgbClr val="EAF2FB"/>
          </a:solidFill>
          <a:ln w="6350">
            <a:solidFill>
              <a:srgbClr val="C8D9F0"/>
            </a:solidFill>
            <a:prstDash val="solid"/>
          </a:ln>
        </p:spPr>
      </p:sp>
      <p:sp>
        <p:nvSpPr>
          <p:cNvPr id="54" name="Text 51"/>
          <p:cNvSpPr/>
          <p:nvPr/>
        </p:nvSpPr>
        <p:spPr>
          <a:xfrm>
            <a:off x="4370832" y="4754880"/>
            <a:ext cx="1463040" cy="182880"/>
          </a:xfrm>
          <a:prstGeom prst="rect">
            <a:avLst/>
          </a:prstGeom>
          <a:noFill/>
          <a:ln/>
        </p:spPr>
        <p:txBody>
          <a:bodyPr wrap="square" lIns="0" tIns="0" rIns="0" bIns="0" rtlCol="0" anchor="ctr"/>
          <a:lstStyle/>
          <a:p>
            <a:pPr marL="0" indent="0">
              <a:buNone/>
            </a:pPr>
            <a:r>
              <a:rPr lang="en-US" sz="850" b="1" dirty="0">
                <a:solidFill>
                  <a:srgbClr val="1E3A5F"/>
                </a:solidFill>
              </a:rPr>
              <a:t>Inflación PCE</a:t>
            </a:r>
            <a:endParaRPr lang="en-US" sz="850" dirty="0"/>
          </a:p>
        </p:txBody>
      </p:sp>
      <p:sp>
        <p:nvSpPr>
          <p:cNvPr id="55" name="Text 52"/>
          <p:cNvSpPr/>
          <p:nvPr/>
        </p:nvSpPr>
        <p:spPr>
          <a:xfrm>
            <a:off x="5806440" y="4736592"/>
            <a:ext cx="822960" cy="237744"/>
          </a:xfrm>
          <a:prstGeom prst="rect">
            <a:avLst/>
          </a:prstGeom>
          <a:noFill/>
          <a:ln/>
        </p:spPr>
        <p:txBody>
          <a:bodyPr wrap="square" lIns="0" tIns="0" rIns="0" bIns="0" rtlCol="0" anchor="ctr"/>
          <a:lstStyle/>
          <a:p>
            <a:pPr marL="0" indent="0">
              <a:buNone/>
            </a:pPr>
            <a:r>
              <a:rPr lang="en-US" sz="1400" b="1" dirty="0">
                <a:solidFill>
                  <a:srgbClr val="0D2240"/>
                </a:solidFill>
              </a:rPr>
              <a:t>2.7%</a:t>
            </a:r>
            <a:endParaRPr lang="en-US" sz="1400" dirty="0"/>
          </a:p>
        </p:txBody>
      </p:sp>
      <p:sp>
        <p:nvSpPr>
          <p:cNvPr id="56" name="Shape 53"/>
          <p:cNvSpPr/>
          <p:nvPr/>
        </p:nvSpPr>
        <p:spPr>
          <a:xfrm>
            <a:off x="6720840" y="4782312"/>
            <a:ext cx="1234440" cy="182880"/>
          </a:xfrm>
          <a:prstGeom prst="rect">
            <a:avLst/>
          </a:prstGeom>
          <a:solidFill>
            <a:srgbClr val="FEF3C7"/>
          </a:solidFill>
          <a:ln w="6350">
            <a:solidFill>
              <a:srgbClr val="D97706"/>
            </a:solidFill>
            <a:prstDash val="solid"/>
          </a:ln>
        </p:spPr>
      </p:sp>
      <p:sp>
        <p:nvSpPr>
          <p:cNvPr id="57" name="Text 54"/>
          <p:cNvSpPr/>
          <p:nvPr/>
        </p:nvSpPr>
        <p:spPr>
          <a:xfrm>
            <a:off x="6720840" y="4782312"/>
            <a:ext cx="1234440" cy="182880"/>
          </a:xfrm>
          <a:prstGeom prst="rect">
            <a:avLst/>
          </a:prstGeom>
          <a:noFill/>
          <a:ln/>
        </p:spPr>
        <p:txBody>
          <a:bodyPr wrap="square" lIns="0" tIns="0" rIns="0" bIns="0" rtlCol="0" anchor="ctr"/>
          <a:lstStyle/>
          <a:p>
            <a:pPr marL="0" indent="0" algn="ctr">
              <a:buNone/>
            </a:pPr>
            <a:r>
              <a:rPr lang="en-US" sz="700" b="1" dirty="0">
                <a:solidFill>
                  <a:srgbClr val="D97706"/>
                </a:solidFill>
              </a:rPr>
              <a:t>MONITEAR</a:t>
            </a:r>
            <a:endParaRPr lang="en-US" sz="700" dirty="0"/>
          </a:p>
        </p:txBody>
      </p:sp>
      <p:sp>
        <p:nvSpPr>
          <p:cNvPr id="58" name="Text 55"/>
          <p:cNvSpPr/>
          <p:nvPr/>
        </p:nvSpPr>
        <p:spPr>
          <a:xfrm>
            <a:off x="4370832" y="4965192"/>
            <a:ext cx="3611880" cy="182880"/>
          </a:xfrm>
          <a:prstGeom prst="rect">
            <a:avLst/>
          </a:prstGeom>
          <a:noFill/>
          <a:ln/>
        </p:spPr>
        <p:txBody>
          <a:bodyPr wrap="square" lIns="0" tIns="0" rIns="0" bIns="0" rtlCol="0" anchor="ctr"/>
          <a:lstStyle/>
          <a:p>
            <a:pPr marL="0" indent="0">
              <a:buNone/>
            </a:pPr>
            <a:r>
              <a:rPr lang="en-US" sz="750" dirty="0">
                <a:solidFill>
                  <a:srgbClr val="64748B"/>
                </a:solidFill>
              </a:rPr>
              <a:t>Convergencia al objetivo del 2% aún incompleta; sostiene gradualismo Fed.</a:t>
            </a:r>
            <a:endParaRPr lang="en-US" sz="750" dirty="0"/>
          </a:p>
        </p:txBody>
      </p:sp>
      <p:sp>
        <p:nvSpPr>
          <p:cNvPr id="59" name="Shape 56"/>
          <p:cNvSpPr/>
          <p:nvPr/>
        </p:nvSpPr>
        <p:spPr>
          <a:xfrm>
            <a:off x="4297680" y="5230368"/>
            <a:ext cx="3749040" cy="457200"/>
          </a:xfrm>
          <a:prstGeom prst="rect">
            <a:avLst/>
          </a:prstGeom>
          <a:solidFill>
            <a:srgbClr val="EAF2FB"/>
          </a:solidFill>
          <a:ln w="6350">
            <a:solidFill>
              <a:srgbClr val="C8D9F0"/>
            </a:solidFill>
            <a:prstDash val="solid"/>
          </a:ln>
        </p:spPr>
      </p:sp>
      <p:sp>
        <p:nvSpPr>
          <p:cNvPr id="60" name="Text 57"/>
          <p:cNvSpPr/>
          <p:nvPr/>
        </p:nvSpPr>
        <p:spPr>
          <a:xfrm>
            <a:off x="4370832" y="5266944"/>
            <a:ext cx="1463040" cy="182880"/>
          </a:xfrm>
          <a:prstGeom prst="rect">
            <a:avLst/>
          </a:prstGeom>
          <a:noFill/>
          <a:ln/>
        </p:spPr>
        <p:txBody>
          <a:bodyPr wrap="square" lIns="0" tIns="0" rIns="0" bIns="0" rtlCol="0" anchor="ctr"/>
          <a:lstStyle/>
          <a:p>
            <a:pPr marL="0" indent="0">
              <a:buNone/>
            </a:pPr>
            <a:r>
              <a:rPr lang="en-US" sz="850" b="1" dirty="0">
                <a:solidFill>
                  <a:srgbClr val="1E3A5F"/>
                </a:solidFill>
              </a:rPr>
              <a:t>PIB EE.UU.</a:t>
            </a:r>
            <a:endParaRPr lang="en-US" sz="850" dirty="0"/>
          </a:p>
        </p:txBody>
      </p:sp>
      <p:sp>
        <p:nvSpPr>
          <p:cNvPr id="61" name="Text 58"/>
          <p:cNvSpPr/>
          <p:nvPr/>
        </p:nvSpPr>
        <p:spPr>
          <a:xfrm>
            <a:off x="5806440" y="5248656"/>
            <a:ext cx="822960" cy="237744"/>
          </a:xfrm>
          <a:prstGeom prst="rect">
            <a:avLst/>
          </a:prstGeom>
          <a:noFill/>
          <a:ln/>
        </p:spPr>
        <p:txBody>
          <a:bodyPr wrap="square" lIns="0" tIns="0" rIns="0" bIns="0" rtlCol="0" anchor="ctr"/>
          <a:lstStyle/>
          <a:p>
            <a:pPr marL="0" indent="0">
              <a:buNone/>
            </a:pPr>
            <a:r>
              <a:rPr lang="en-US" sz="1400" b="1" dirty="0">
                <a:solidFill>
                  <a:srgbClr val="0D2240"/>
                </a:solidFill>
              </a:rPr>
              <a:t>2.4%</a:t>
            </a:r>
            <a:endParaRPr lang="en-US" sz="1400" dirty="0"/>
          </a:p>
        </p:txBody>
      </p:sp>
      <p:sp>
        <p:nvSpPr>
          <p:cNvPr id="62" name="Shape 59"/>
          <p:cNvSpPr/>
          <p:nvPr/>
        </p:nvSpPr>
        <p:spPr>
          <a:xfrm>
            <a:off x="6720840" y="5294376"/>
            <a:ext cx="1234440" cy="182880"/>
          </a:xfrm>
          <a:prstGeom prst="rect">
            <a:avLst/>
          </a:prstGeom>
          <a:solidFill>
            <a:srgbClr val="DCFCE7"/>
          </a:solidFill>
          <a:ln w="6350">
            <a:solidFill>
              <a:srgbClr val="16A34A"/>
            </a:solidFill>
            <a:prstDash val="solid"/>
          </a:ln>
        </p:spPr>
      </p:sp>
      <p:sp>
        <p:nvSpPr>
          <p:cNvPr id="63" name="Text 60"/>
          <p:cNvSpPr/>
          <p:nvPr/>
        </p:nvSpPr>
        <p:spPr>
          <a:xfrm>
            <a:off x="6720840" y="5294376"/>
            <a:ext cx="1234440" cy="182880"/>
          </a:xfrm>
          <a:prstGeom prst="rect">
            <a:avLst/>
          </a:prstGeom>
          <a:noFill/>
          <a:ln/>
        </p:spPr>
        <p:txBody>
          <a:bodyPr wrap="square" lIns="0" tIns="0" rIns="0" bIns="0" rtlCol="0" anchor="ctr"/>
          <a:lstStyle/>
          <a:p>
            <a:pPr marL="0" indent="0" algn="ctr">
              <a:buNone/>
            </a:pPr>
            <a:r>
              <a:rPr lang="en-US" sz="700" b="1" dirty="0">
                <a:solidFill>
                  <a:srgbClr val="16A34A"/>
                </a:solidFill>
              </a:rPr>
              <a:t>FAVORABLE</a:t>
            </a:r>
            <a:endParaRPr lang="en-US" sz="700" dirty="0"/>
          </a:p>
        </p:txBody>
      </p:sp>
      <p:sp>
        <p:nvSpPr>
          <p:cNvPr id="64" name="Text 61"/>
          <p:cNvSpPr/>
          <p:nvPr/>
        </p:nvSpPr>
        <p:spPr>
          <a:xfrm>
            <a:off x="4370832" y="5477256"/>
            <a:ext cx="3611880" cy="182880"/>
          </a:xfrm>
          <a:prstGeom prst="rect">
            <a:avLst/>
          </a:prstGeom>
          <a:noFill/>
          <a:ln/>
        </p:spPr>
        <p:txBody>
          <a:bodyPr wrap="square" lIns="0" tIns="0" rIns="0" bIns="0" rtlCol="0" anchor="ctr"/>
          <a:lstStyle/>
          <a:p>
            <a:pPr marL="0" indent="0">
              <a:buNone/>
            </a:pPr>
            <a:r>
              <a:rPr lang="en-US" sz="750" dirty="0">
                <a:solidFill>
                  <a:srgbClr val="64748B"/>
                </a:solidFill>
              </a:rPr>
              <a:t>Crecimiento resiliente; impulsa demanda de servicios cloud y AI.</a:t>
            </a:r>
            <a:endParaRPr lang="en-US" sz="750" dirty="0"/>
          </a:p>
        </p:txBody>
      </p:sp>
      <p:sp>
        <p:nvSpPr>
          <p:cNvPr id="65" name="Shape 62"/>
          <p:cNvSpPr/>
          <p:nvPr/>
        </p:nvSpPr>
        <p:spPr>
          <a:xfrm>
            <a:off x="4297680" y="5742432"/>
            <a:ext cx="3749040" cy="457200"/>
          </a:xfrm>
          <a:prstGeom prst="rect">
            <a:avLst/>
          </a:prstGeom>
          <a:solidFill>
            <a:srgbClr val="EAF2FB"/>
          </a:solidFill>
          <a:ln w="6350">
            <a:solidFill>
              <a:srgbClr val="C8D9F0"/>
            </a:solidFill>
            <a:prstDash val="solid"/>
          </a:ln>
        </p:spPr>
      </p:sp>
      <p:sp>
        <p:nvSpPr>
          <p:cNvPr id="66" name="Text 63"/>
          <p:cNvSpPr/>
          <p:nvPr/>
        </p:nvSpPr>
        <p:spPr>
          <a:xfrm>
            <a:off x="4370832" y="5779008"/>
            <a:ext cx="1463040" cy="182880"/>
          </a:xfrm>
          <a:prstGeom prst="rect">
            <a:avLst/>
          </a:prstGeom>
          <a:noFill/>
          <a:ln/>
        </p:spPr>
        <p:txBody>
          <a:bodyPr wrap="square" lIns="0" tIns="0" rIns="0" bIns="0" rtlCol="0" anchor="ctr"/>
          <a:lstStyle/>
          <a:p>
            <a:pPr marL="0" indent="0">
              <a:buNone/>
            </a:pPr>
            <a:r>
              <a:rPr lang="en-US" sz="850" b="1" dirty="0">
                <a:solidFill>
                  <a:srgbClr val="1E3A5F"/>
                </a:solidFill>
              </a:rPr>
              <a:t>Desempleo</a:t>
            </a:r>
            <a:endParaRPr lang="en-US" sz="850" dirty="0"/>
          </a:p>
        </p:txBody>
      </p:sp>
      <p:sp>
        <p:nvSpPr>
          <p:cNvPr id="67" name="Text 64"/>
          <p:cNvSpPr/>
          <p:nvPr/>
        </p:nvSpPr>
        <p:spPr>
          <a:xfrm>
            <a:off x="5806440" y="5760720"/>
            <a:ext cx="822960" cy="237744"/>
          </a:xfrm>
          <a:prstGeom prst="rect">
            <a:avLst/>
          </a:prstGeom>
          <a:noFill/>
          <a:ln/>
        </p:spPr>
        <p:txBody>
          <a:bodyPr wrap="square" lIns="0" tIns="0" rIns="0" bIns="0" rtlCol="0" anchor="ctr"/>
          <a:lstStyle/>
          <a:p>
            <a:pPr marL="0" indent="0">
              <a:buNone/>
            </a:pPr>
            <a:r>
              <a:rPr lang="en-US" sz="1400" b="1" dirty="0">
                <a:solidFill>
                  <a:srgbClr val="0D2240"/>
                </a:solidFill>
              </a:rPr>
              <a:t>4.4%</a:t>
            </a:r>
            <a:endParaRPr lang="en-US" sz="1400" dirty="0"/>
          </a:p>
        </p:txBody>
      </p:sp>
      <p:sp>
        <p:nvSpPr>
          <p:cNvPr id="68" name="Shape 65"/>
          <p:cNvSpPr/>
          <p:nvPr/>
        </p:nvSpPr>
        <p:spPr>
          <a:xfrm>
            <a:off x="6720840" y="5806440"/>
            <a:ext cx="1234440" cy="182880"/>
          </a:xfrm>
          <a:prstGeom prst="rect">
            <a:avLst/>
          </a:prstGeom>
          <a:solidFill>
            <a:srgbClr val="EAF2FB"/>
          </a:solidFill>
          <a:ln w="6350">
            <a:solidFill>
              <a:srgbClr val="2563AE"/>
            </a:solidFill>
            <a:prstDash val="solid"/>
          </a:ln>
        </p:spPr>
      </p:sp>
      <p:sp>
        <p:nvSpPr>
          <p:cNvPr id="69" name="Text 66"/>
          <p:cNvSpPr/>
          <p:nvPr/>
        </p:nvSpPr>
        <p:spPr>
          <a:xfrm>
            <a:off x="6720840" y="5806440"/>
            <a:ext cx="1234440" cy="182880"/>
          </a:xfrm>
          <a:prstGeom prst="rect">
            <a:avLst/>
          </a:prstGeom>
          <a:noFill/>
          <a:ln/>
        </p:spPr>
        <p:txBody>
          <a:bodyPr wrap="square" lIns="0" tIns="0" rIns="0" bIns="0" rtlCol="0" anchor="ctr"/>
          <a:lstStyle/>
          <a:p>
            <a:pPr marL="0" indent="0" algn="ctr">
              <a:buNone/>
            </a:pPr>
            <a:r>
              <a:rPr lang="en-US" sz="700" b="1" dirty="0">
                <a:solidFill>
                  <a:srgbClr val="2563AE"/>
                </a:solidFill>
              </a:rPr>
              <a:t>NEUTRAL</a:t>
            </a:r>
            <a:endParaRPr lang="en-US" sz="700" dirty="0"/>
          </a:p>
        </p:txBody>
      </p:sp>
      <p:sp>
        <p:nvSpPr>
          <p:cNvPr id="70" name="Text 67"/>
          <p:cNvSpPr/>
          <p:nvPr/>
        </p:nvSpPr>
        <p:spPr>
          <a:xfrm>
            <a:off x="4370832" y="5989320"/>
            <a:ext cx="3611880" cy="182880"/>
          </a:xfrm>
          <a:prstGeom prst="rect">
            <a:avLst/>
          </a:prstGeom>
          <a:noFill/>
          <a:ln/>
        </p:spPr>
        <p:txBody>
          <a:bodyPr wrap="square" lIns="0" tIns="0" rIns="0" bIns="0" rtlCol="0" anchor="ctr"/>
          <a:lstStyle/>
          <a:p>
            <a:pPr marL="0" indent="0">
              <a:buNone/>
            </a:pPr>
            <a:r>
              <a:rPr lang="en-US" sz="750" dirty="0">
                <a:solidFill>
                  <a:srgbClr val="64748B"/>
                </a:solidFill>
              </a:rPr>
              <a:t>Mercado laboral robusto; demanda de automatización AI se mantiene.</a:t>
            </a:r>
            <a:endParaRPr lang="en-US" sz="750" dirty="0"/>
          </a:p>
        </p:txBody>
      </p:sp>
      <p:sp>
        <p:nvSpPr>
          <p:cNvPr id="71" name="Text 68"/>
          <p:cNvSpPr/>
          <p:nvPr/>
        </p:nvSpPr>
        <p:spPr>
          <a:xfrm>
            <a:off x="4297680" y="6035040"/>
            <a:ext cx="3749040" cy="274320"/>
          </a:xfrm>
          <a:prstGeom prst="rect">
            <a:avLst/>
          </a:prstGeom>
          <a:noFill/>
          <a:ln/>
        </p:spPr>
        <p:txBody>
          <a:bodyPr wrap="square" lIns="0" tIns="0" rIns="0" bIns="0" rtlCol="0" anchor="ctr"/>
          <a:lstStyle/>
          <a:p>
            <a:pPr marL="0" indent="0">
              <a:lnSpc>
                <a:spcPct val="110000"/>
              </a:lnSpc>
              <a:buNone/>
            </a:pPr>
            <a:r>
              <a:rPr lang="en-US" sz="700" i="1" dirty="0">
                <a:solidFill>
                  <a:srgbClr val="94A3B8"/>
                </a:solidFill>
              </a:rPr>
              <a:t>Fuente: Federal Reserve (2026); BEA (2026); BLS (2026). https://www.federalreserve.gov | https://www.bea.gov | https://www.bls.gov</a:t>
            </a:r>
            <a:endParaRPr lang="en-US" sz="700" dirty="0"/>
          </a:p>
        </p:txBody>
      </p:sp>
      <p:sp>
        <p:nvSpPr>
          <p:cNvPr id="72" name="Text 69"/>
          <p:cNvSpPr/>
          <p:nvPr/>
        </p:nvSpPr>
        <p:spPr>
          <a:xfrm>
            <a:off x="8229600" y="3950208"/>
            <a:ext cx="3703320" cy="228600"/>
          </a:xfrm>
          <a:prstGeom prst="rect">
            <a:avLst/>
          </a:prstGeom>
          <a:noFill/>
          <a:ln/>
        </p:spPr>
        <p:txBody>
          <a:bodyPr wrap="square" lIns="0" tIns="0" rIns="0" bIns="0" rtlCol="0" anchor="ctr"/>
          <a:lstStyle/>
          <a:p>
            <a:pPr marL="0" indent="0">
              <a:buNone/>
            </a:pPr>
            <a:r>
              <a:rPr lang="en-US" sz="800" i="1" dirty="0">
                <a:solidFill>
                  <a:srgbClr val="64748B"/>
                </a:solidFill>
              </a:rPr>
              <a:t>Monetización real IA — Q1 2026 (revenues cloud AI)</a:t>
            </a:r>
            <a:endParaRPr lang="en-US" sz="800" dirty="0"/>
          </a:p>
        </p:txBody>
      </p:sp>
      <p:sp>
        <p:nvSpPr>
          <p:cNvPr id="73" name="Shape 70"/>
          <p:cNvSpPr/>
          <p:nvPr/>
        </p:nvSpPr>
        <p:spPr>
          <a:xfrm>
            <a:off x="8229600" y="4215384"/>
            <a:ext cx="3703320" cy="384048"/>
          </a:xfrm>
          <a:prstGeom prst="rect">
            <a:avLst/>
          </a:prstGeom>
          <a:solidFill>
            <a:srgbClr val="EAF2FB"/>
          </a:solidFill>
          <a:ln w="6350">
            <a:solidFill>
              <a:srgbClr val="C8D9F0"/>
            </a:solidFill>
            <a:prstDash val="solid"/>
          </a:ln>
        </p:spPr>
      </p:sp>
      <p:sp>
        <p:nvSpPr>
          <p:cNvPr id="74" name="Shape 71"/>
          <p:cNvSpPr/>
          <p:nvPr/>
        </p:nvSpPr>
        <p:spPr>
          <a:xfrm>
            <a:off x="8229600" y="4215384"/>
            <a:ext cx="45720" cy="384048"/>
          </a:xfrm>
          <a:prstGeom prst="rect">
            <a:avLst/>
          </a:prstGeom>
          <a:solidFill>
            <a:srgbClr val="16A34A"/>
          </a:solidFill>
          <a:ln w="12700">
            <a:solidFill>
              <a:srgbClr val="16A34A"/>
            </a:solidFill>
            <a:prstDash val="solid"/>
          </a:ln>
        </p:spPr>
      </p:sp>
      <p:sp>
        <p:nvSpPr>
          <p:cNvPr id="75" name="Text 72"/>
          <p:cNvSpPr/>
          <p:nvPr/>
        </p:nvSpPr>
        <p:spPr>
          <a:xfrm>
            <a:off x="8339328" y="4251960"/>
            <a:ext cx="2286000" cy="182880"/>
          </a:xfrm>
          <a:prstGeom prst="rect">
            <a:avLst/>
          </a:prstGeom>
          <a:noFill/>
          <a:ln/>
        </p:spPr>
        <p:txBody>
          <a:bodyPr wrap="square" lIns="0" tIns="0" rIns="0" bIns="0" rtlCol="0" anchor="ctr"/>
          <a:lstStyle/>
          <a:p>
            <a:pPr marL="0" indent="0">
              <a:buNone/>
            </a:pPr>
            <a:r>
              <a:rPr lang="en-US" sz="850" b="1" dirty="0">
                <a:solidFill>
                  <a:srgbClr val="1E3A5F"/>
                </a:solidFill>
              </a:rPr>
              <a:t>Google Cloud (YoY)</a:t>
            </a:r>
            <a:endParaRPr lang="en-US" sz="850" dirty="0"/>
          </a:p>
        </p:txBody>
      </p:sp>
      <p:sp>
        <p:nvSpPr>
          <p:cNvPr id="76" name="Text 73"/>
          <p:cNvSpPr/>
          <p:nvPr/>
        </p:nvSpPr>
        <p:spPr>
          <a:xfrm>
            <a:off x="10652760" y="4215384"/>
            <a:ext cx="1188720" cy="292608"/>
          </a:xfrm>
          <a:prstGeom prst="rect">
            <a:avLst/>
          </a:prstGeom>
          <a:noFill/>
          <a:ln/>
        </p:spPr>
        <p:txBody>
          <a:bodyPr wrap="square" lIns="0" tIns="0" rIns="0" bIns="0" rtlCol="0" anchor="ctr"/>
          <a:lstStyle/>
          <a:p>
            <a:pPr marL="0" indent="0" algn="r">
              <a:buNone/>
            </a:pPr>
            <a:r>
              <a:rPr lang="en-US" sz="1600" b="1" dirty="0">
                <a:solidFill>
                  <a:srgbClr val="16A34A"/>
                </a:solidFill>
              </a:rPr>
              <a:t>+63%</a:t>
            </a:r>
            <a:endParaRPr lang="en-US" sz="1600" dirty="0"/>
          </a:p>
        </p:txBody>
      </p:sp>
      <p:sp>
        <p:nvSpPr>
          <p:cNvPr id="77" name="Text 74"/>
          <p:cNvSpPr/>
          <p:nvPr/>
        </p:nvSpPr>
        <p:spPr>
          <a:xfrm>
            <a:off x="8339328" y="4443984"/>
            <a:ext cx="3520440" cy="146304"/>
          </a:xfrm>
          <a:prstGeom prst="rect">
            <a:avLst/>
          </a:prstGeom>
          <a:noFill/>
          <a:ln/>
        </p:spPr>
        <p:txBody>
          <a:bodyPr wrap="square" lIns="0" tIns="0" rIns="0" bIns="0" rtlCol="0" anchor="ctr"/>
          <a:lstStyle/>
          <a:p>
            <a:pPr marL="0" indent="0">
              <a:buNone/>
            </a:pPr>
            <a:r>
              <a:rPr lang="en-US" sz="700" i="1" dirty="0">
                <a:solidFill>
                  <a:srgbClr val="94A3B8"/>
                </a:solidFill>
              </a:rPr>
              <a:t>Fuente: Alphabet Q1 2026 Earnings</a:t>
            </a:r>
            <a:endParaRPr lang="en-US" sz="700" dirty="0"/>
          </a:p>
        </p:txBody>
      </p:sp>
      <p:sp>
        <p:nvSpPr>
          <p:cNvPr id="78" name="Shape 75"/>
          <p:cNvSpPr/>
          <p:nvPr/>
        </p:nvSpPr>
        <p:spPr>
          <a:xfrm>
            <a:off x="8229600" y="4654296"/>
            <a:ext cx="3703320" cy="384048"/>
          </a:xfrm>
          <a:prstGeom prst="rect">
            <a:avLst/>
          </a:prstGeom>
          <a:solidFill>
            <a:srgbClr val="EAF2FB"/>
          </a:solidFill>
          <a:ln w="6350">
            <a:solidFill>
              <a:srgbClr val="C8D9F0"/>
            </a:solidFill>
            <a:prstDash val="solid"/>
          </a:ln>
        </p:spPr>
      </p:sp>
      <p:sp>
        <p:nvSpPr>
          <p:cNvPr id="79" name="Shape 76"/>
          <p:cNvSpPr/>
          <p:nvPr/>
        </p:nvSpPr>
        <p:spPr>
          <a:xfrm>
            <a:off x="8229600" y="4654296"/>
            <a:ext cx="45720" cy="384048"/>
          </a:xfrm>
          <a:prstGeom prst="rect">
            <a:avLst/>
          </a:prstGeom>
          <a:solidFill>
            <a:srgbClr val="16A34A"/>
          </a:solidFill>
          <a:ln w="12700">
            <a:solidFill>
              <a:srgbClr val="16A34A"/>
            </a:solidFill>
            <a:prstDash val="solid"/>
          </a:ln>
        </p:spPr>
      </p:sp>
      <p:sp>
        <p:nvSpPr>
          <p:cNvPr id="80" name="Text 77"/>
          <p:cNvSpPr/>
          <p:nvPr/>
        </p:nvSpPr>
        <p:spPr>
          <a:xfrm>
            <a:off x="8339328" y="4690872"/>
            <a:ext cx="2286000" cy="182880"/>
          </a:xfrm>
          <a:prstGeom prst="rect">
            <a:avLst/>
          </a:prstGeom>
          <a:noFill/>
          <a:ln/>
        </p:spPr>
        <p:txBody>
          <a:bodyPr wrap="square" lIns="0" tIns="0" rIns="0" bIns="0" rtlCol="0" anchor="ctr"/>
          <a:lstStyle/>
          <a:p>
            <a:pPr marL="0" indent="0">
              <a:buNone/>
            </a:pPr>
            <a:r>
              <a:rPr lang="en-US" sz="850" b="1" dirty="0">
                <a:solidFill>
                  <a:srgbClr val="1E3A5F"/>
                </a:solidFill>
              </a:rPr>
              <a:t>Azure AI (YoY)</a:t>
            </a:r>
            <a:endParaRPr lang="en-US" sz="850" dirty="0"/>
          </a:p>
        </p:txBody>
      </p:sp>
      <p:sp>
        <p:nvSpPr>
          <p:cNvPr id="81" name="Text 78"/>
          <p:cNvSpPr/>
          <p:nvPr/>
        </p:nvSpPr>
        <p:spPr>
          <a:xfrm>
            <a:off x="10652760" y="4654296"/>
            <a:ext cx="1188720" cy="292608"/>
          </a:xfrm>
          <a:prstGeom prst="rect">
            <a:avLst/>
          </a:prstGeom>
          <a:noFill/>
          <a:ln/>
        </p:spPr>
        <p:txBody>
          <a:bodyPr wrap="square" lIns="0" tIns="0" rIns="0" bIns="0" rtlCol="0" anchor="ctr"/>
          <a:lstStyle/>
          <a:p>
            <a:pPr marL="0" indent="0" algn="r">
              <a:buNone/>
            </a:pPr>
            <a:r>
              <a:rPr lang="en-US" sz="1600" b="1" dirty="0">
                <a:solidFill>
                  <a:srgbClr val="16A34A"/>
                </a:solidFill>
              </a:rPr>
              <a:t>+40%</a:t>
            </a:r>
            <a:endParaRPr lang="en-US" sz="1600" dirty="0"/>
          </a:p>
        </p:txBody>
      </p:sp>
      <p:sp>
        <p:nvSpPr>
          <p:cNvPr id="82" name="Text 79"/>
          <p:cNvSpPr/>
          <p:nvPr/>
        </p:nvSpPr>
        <p:spPr>
          <a:xfrm>
            <a:off x="8339328" y="4882896"/>
            <a:ext cx="3520440" cy="146304"/>
          </a:xfrm>
          <a:prstGeom prst="rect">
            <a:avLst/>
          </a:prstGeom>
          <a:noFill/>
          <a:ln/>
        </p:spPr>
        <p:txBody>
          <a:bodyPr wrap="square" lIns="0" tIns="0" rIns="0" bIns="0" rtlCol="0" anchor="ctr"/>
          <a:lstStyle/>
          <a:p>
            <a:pPr marL="0" indent="0">
              <a:buNone/>
            </a:pPr>
            <a:r>
              <a:rPr lang="en-US" sz="700" i="1" dirty="0">
                <a:solidFill>
                  <a:srgbClr val="94A3B8"/>
                </a:solidFill>
              </a:rPr>
              <a:t>Fuente: Microsoft Q1 FY2026 Earnings</a:t>
            </a:r>
            <a:endParaRPr lang="en-US" sz="700" dirty="0"/>
          </a:p>
        </p:txBody>
      </p:sp>
      <p:sp>
        <p:nvSpPr>
          <p:cNvPr id="83" name="Shape 80"/>
          <p:cNvSpPr/>
          <p:nvPr/>
        </p:nvSpPr>
        <p:spPr>
          <a:xfrm>
            <a:off x="8229600" y="5093208"/>
            <a:ext cx="3703320" cy="384048"/>
          </a:xfrm>
          <a:prstGeom prst="rect">
            <a:avLst/>
          </a:prstGeom>
          <a:solidFill>
            <a:srgbClr val="EAF2FB"/>
          </a:solidFill>
          <a:ln w="6350">
            <a:solidFill>
              <a:srgbClr val="C8D9F0"/>
            </a:solidFill>
            <a:prstDash val="solid"/>
          </a:ln>
        </p:spPr>
      </p:sp>
      <p:sp>
        <p:nvSpPr>
          <p:cNvPr id="84" name="Shape 81"/>
          <p:cNvSpPr/>
          <p:nvPr/>
        </p:nvSpPr>
        <p:spPr>
          <a:xfrm>
            <a:off x="8229600" y="5093208"/>
            <a:ext cx="45720" cy="384048"/>
          </a:xfrm>
          <a:prstGeom prst="rect">
            <a:avLst/>
          </a:prstGeom>
          <a:solidFill>
            <a:srgbClr val="16A34A"/>
          </a:solidFill>
          <a:ln w="12700">
            <a:solidFill>
              <a:srgbClr val="16A34A"/>
            </a:solidFill>
            <a:prstDash val="solid"/>
          </a:ln>
        </p:spPr>
      </p:sp>
      <p:sp>
        <p:nvSpPr>
          <p:cNvPr id="85" name="Text 82"/>
          <p:cNvSpPr/>
          <p:nvPr/>
        </p:nvSpPr>
        <p:spPr>
          <a:xfrm>
            <a:off x="8339328" y="5129784"/>
            <a:ext cx="2286000" cy="182880"/>
          </a:xfrm>
          <a:prstGeom prst="rect">
            <a:avLst/>
          </a:prstGeom>
          <a:noFill/>
          <a:ln/>
        </p:spPr>
        <p:txBody>
          <a:bodyPr wrap="square" lIns="0" tIns="0" rIns="0" bIns="0" rtlCol="0" anchor="ctr"/>
          <a:lstStyle/>
          <a:p>
            <a:pPr marL="0" indent="0">
              <a:buNone/>
            </a:pPr>
            <a:r>
              <a:rPr lang="en-US" sz="850" b="1" dirty="0">
                <a:solidFill>
                  <a:srgbClr val="1E3A5F"/>
                </a:solidFill>
              </a:rPr>
              <a:t>Capex hyperscalers</a:t>
            </a:r>
            <a:endParaRPr lang="en-US" sz="850" dirty="0"/>
          </a:p>
        </p:txBody>
      </p:sp>
      <p:sp>
        <p:nvSpPr>
          <p:cNvPr id="86" name="Text 83"/>
          <p:cNvSpPr/>
          <p:nvPr/>
        </p:nvSpPr>
        <p:spPr>
          <a:xfrm>
            <a:off x="10652760" y="5093208"/>
            <a:ext cx="1188720" cy="292608"/>
          </a:xfrm>
          <a:prstGeom prst="rect">
            <a:avLst/>
          </a:prstGeom>
          <a:noFill/>
          <a:ln/>
        </p:spPr>
        <p:txBody>
          <a:bodyPr wrap="square" lIns="0" tIns="0" rIns="0" bIns="0" rtlCol="0" anchor="ctr"/>
          <a:lstStyle/>
          <a:p>
            <a:pPr marL="0" indent="0" algn="r">
              <a:buNone/>
            </a:pPr>
            <a:r>
              <a:rPr lang="en-US" sz="1600" b="1" dirty="0">
                <a:solidFill>
                  <a:srgbClr val="16A34A"/>
                </a:solidFill>
              </a:rPr>
              <a:t>$600B+</a:t>
            </a:r>
            <a:endParaRPr lang="en-US" sz="1600" dirty="0"/>
          </a:p>
        </p:txBody>
      </p:sp>
      <p:sp>
        <p:nvSpPr>
          <p:cNvPr id="87" name="Text 84"/>
          <p:cNvSpPr/>
          <p:nvPr/>
        </p:nvSpPr>
        <p:spPr>
          <a:xfrm>
            <a:off x="8339328" y="5321808"/>
            <a:ext cx="3520440" cy="146304"/>
          </a:xfrm>
          <a:prstGeom prst="rect">
            <a:avLst/>
          </a:prstGeom>
          <a:noFill/>
          <a:ln/>
        </p:spPr>
        <p:txBody>
          <a:bodyPr wrap="square" lIns="0" tIns="0" rIns="0" bIns="0" rtlCol="0" anchor="ctr"/>
          <a:lstStyle/>
          <a:p>
            <a:pPr marL="0" indent="0">
              <a:buNone/>
            </a:pPr>
            <a:r>
              <a:rPr lang="en-US" sz="700" i="1" dirty="0">
                <a:solidFill>
                  <a:srgbClr val="94A3B8"/>
                </a:solidFill>
              </a:rPr>
              <a:t>Fuente: Goldman Sachs (2026), empresa-informes Q1</a:t>
            </a:r>
            <a:endParaRPr lang="en-US" sz="700" dirty="0"/>
          </a:p>
        </p:txBody>
      </p:sp>
      <p:sp>
        <p:nvSpPr>
          <p:cNvPr id="88" name="Shape 85"/>
          <p:cNvSpPr/>
          <p:nvPr/>
        </p:nvSpPr>
        <p:spPr>
          <a:xfrm>
            <a:off x="8229600" y="5559552"/>
            <a:ext cx="3703320" cy="749808"/>
          </a:xfrm>
          <a:prstGeom prst="rect">
            <a:avLst/>
          </a:prstGeom>
          <a:solidFill>
            <a:srgbClr val="0D2240"/>
          </a:solidFill>
          <a:ln w="12700">
            <a:solidFill>
              <a:srgbClr val="0D2240"/>
            </a:solidFill>
            <a:prstDash val="solid"/>
          </a:ln>
        </p:spPr>
      </p:sp>
      <p:sp>
        <p:nvSpPr>
          <p:cNvPr id="89" name="Shape 86"/>
          <p:cNvSpPr/>
          <p:nvPr/>
        </p:nvSpPr>
        <p:spPr>
          <a:xfrm>
            <a:off x="8229600" y="5559552"/>
            <a:ext cx="45720" cy="749808"/>
          </a:xfrm>
          <a:prstGeom prst="rect">
            <a:avLst/>
          </a:prstGeom>
          <a:solidFill>
            <a:srgbClr val="16A34A"/>
          </a:solidFill>
          <a:ln w="12700">
            <a:solidFill>
              <a:srgbClr val="16A34A"/>
            </a:solidFill>
            <a:prstDash val="solid"/>
          </a:ln>
        </p:spPr>
      </p:sp>
      <p:sp>
        <p:nvSpPr>
          <p:cNvPr id="90" name="Text 87"/>
          <p:cNvSpPr/>
          <p:nvPr/>
        </p:nvSpPr>
        <p:spPr>
          <a:xfrm>
            <a:off x="8357616" y="5605272"/>
            <a:ext cx="3520440" cy="182880"/>
          </a:xfrm>
          <a:prstGeom prst="rect">
            <a:avLst/>
          </a:prstGeom>
          <a:noFill/>
          <a:ln/>
        </p:spPr>
        <p:txBody>
          <a:bodyPr wrap="square" lIns="0" tIns="0" rIns="0" bIns="0" rtlCol="0" anchor="ctr"/>
          <a:lstStyle/>
          <a:p>
            <a:pPr marL="0" indent="0">
              <a:buNone/>
            </a:pPr>
            <a:r>
              <a:rPr lang="en-US" sz="750" b="1" kern="0" spc="150" dirty="0">
                <a:solidFill>
                  <a:srgbClr val="94A3B8"/>
                </a:solidFill>
              </a:rPr>
              <a:t>POSTURA SECTORIAL</a:t>
            </a:r>
            <a:endParaRPr lang="en-US" sz="750" dirty="0"/>
          </a:p>
        </p:txBody>
      </p:sp>
      <p:sp>
        <p:nvSpPr>
          <p:cNvPr id="91" name="Text 88"/>
          <p:cNvSpPr/>
          <p:nvPr/>
        </p:nvSpPr>
        <p:spPr>
          <a:xfrm>
            <a:off x="8357616" y="5779008"/>
            <a:ext cx="1828800" cy="274320"/>
          </a:xfrm>
          <a:prstGeom prst="rect">
            <a:avLst/>
          </a:prstGeom>
          <a:noFill/>
          <a:ln/>
        </p:spPr>
        <p:txBody>
          <a:bodyPr wrap="square" lIns="0" tIns="0" rIns="0" bIns="0" rtlCol="0" anchor="ctr"/>
          <a:lstStyle/>
          <a:p>
            <a:pPr marL="0" indent="0">
              <a:buNone/>
            </a:pPr>
            <a:r>
              <a:rPr lang="en-US" sz="1800" b="1" dirty="0">
                <a:solidFill>
                  <a:srgbClr val="16A34A"/>
                </a:solidFill>
              </a:rPr>
              <a:t>POSITIVA</a:t>
            </a:r>
            <a:endParaRPr lang="en-US" sz="1800" dirty="0"/>
          </a:p>
        </p:txBody>
      </p:sp>
      <p:sp>
        <p:nvSpPr>
          <p:cNvPr id="92" name="Text 89"/>
          <p:cNvSpPr/>
          <p:nvPr/>
        </p:nvSpPr>
        <p:spPr>
          <a:xfrm>
            <a:off x="10332720" y="5824728"/>
            <a:ext cx="1554480" cy="201168"/>
          </a:xfrm>
          <a:prstGeom prst="rect">
            <a:avLst/>
          </a:prstGeom>
          <a:noFill/>
          <a:ln/>
        </p:spPr>
        <p:txBody>
          <a:bodyPr wrap="square" lIns="0" tIns="0" rIns="0" bIns="0" rtlCol="0" anchor="ctr"/>
          <a:lstStyle/>
          <a:p>
            <a:pPr marL="0" indent="0">
              <a:buNone/>
            </a:pPr>
            <a:r>
              <a:rPr lang="en-US" sz="900" dirty="0">
                <a:solidFill>
                  <a:srgbClr val="C8D9F0"/>
                </a:solidFill>
              </a:rPr>
              <a:t>Horizonte: 3–5 años</a:t>
            </a:r>
            <a:endParaRPr lang="en-US" sz="900" dirty="0"/>
          </a:p>
        </p:txBody>
      </p:sp>
      <p:sp>
        <p:nvSpPr>
          <p:cNvPr id="93" name="Text 90"/>
          <p:cNvSpPr/>
          <p:nvPr/>
        </p:nvSpPr>
        <p:spPr>
          <a:xfrm>
            <a:off x="8357616" y="6089904"/>
            <a:ext cx="3520440" cy="201168"/>
          </a:xfrm>
          <a:prstGeom prst="rect">
            <a:avLst/>
          </a:prstGeom>
          <a:noFill/>
          <a:ln/>
        </p:spPr>
        <p:txBody>
          <a:bodyPr wrap="square" lIns="0" tIns="0" rIns="0" bIns="0" rtlCol="0" anchor="ctr"/>
          <a:lstStyle/>
          <a:p>
            <a:pPr marL="0" indent="0">
              <a:lnSpc>
                <a:spcPct val="105000"/>
              </a:lnSpc>
              <a:buNone/>
            </a:pPr>
            <a:r>
              <a:rPr lang="en-US" sz="750" dirty="0">
                <a:solidFill>
                  <a:srgbClr val="C8D9F0"/>
                </a:solidFill>
              </a:rPr>
              <a:t>Crecimiento real en revenues cloud IA + entorno macro favorable + inversión en capex sostenida validan tesis de largo plazo.</a:t>
            </a:r>
            <a:endParaRPr lang="en-US" sz="750" dirty="0"/>
          </a:p>
        </p:txBody>
      </p:sp>
      <p:sp>
        <p:nvSpPr>
          <p:cNvPr id="94" name="Shape 91"/>
          <p:cNvSpPr/>
          <p:nvPr/>
        </p:nvSpPr>
        <p:spPr>
          <a:xfrm>
            <a:off x="0" y="6601968"/>
            <a:ext cx="12161520" cy="256032"/>
          </a:xfrm>
          <a:prstGeom prst="rect">
            <a:avLst/>
          </a:prstGeom>
          <a:solidFill>
            <a:srgbClr val="0D2240"/>
          </a:solidFill>
          <a:ln w="12700">
            <a:solidFill>
              <a:srgbClr val="0D2240"/>
            </a:solidFill>
            <a:prstDash val="solid"/>
          </a:ln>
        </p:spPr>
      </p:sp>
      <p:sp>
        <p:nvSpPr>
          <p:cNvPr id="95" name="Text 92"/>
          <p:cNvSpPr/>
          <p:nvPr/>
        </p:nvSpPr>
        <p:spPr>
          <a:xfrm>
            <a:off x="228600" y="6601968"/>
            <a:ext cx="7315200" cy="256032"/>
          </a:xfrm>
          <a:prstGeom prst="rect">
            <a:avLst/>
          </a:prstGeom>
          <a:noFill/>
          <a:ln/>
        </p:spPr>
        <p:txBody>
          <a:bodyPr wrap="square" lIns="0" tIns="0" rIns="0" bIns="0" rtlCol="0" anchor="ctr"/>
          <a:lstStyle/>
          <a:p>
            <a:pPr marL="0" indent="0">
              <a:buNone/>
            </a:pPr>
            <a:r>
              <a:rPr lang="en-US" sz="800" dirty="0">
                <a:solidFill>
                  <a:srgbClr val="C8D9F0"/>
                </a:solidFill>
              </a:rPr>
              <a:t>MACROCONSULT  ·  Sistema de Información de Mercados</a:t>
            </a:r>
            <a:endParaRPr lang="en-US" sz="800" dirty="0"/>
          </a:p>
        </p:txBody>
      </p:sp>
      <p:sp>
        <p:nvSpPr>
          <p:cNvPr id="96" name="Text 93"/>
          <p:cNvSpPr/>
          <p:nvPr/>
        </p:nvSpPr>
        <p:spPr>
          <a:xfrm>
            <a:off x="11247120" y="6601968"/>
            <a:ext cx="685800" cy="256032"/>
          </a:xfrm>
          <a:prstGeom prst="rect">
            <a:avLst/>
          </a:prstGeom>
          <a:noFill/>
          <a:ln/>
        </p:spPr>
        <p:txBody>
          <a:bodyPr wrap="square" lIns="0" tIns="0" rIns="0" bIns="0" rtlCol="0" anchor="ctr"/>
          <a:lstStyle/>
          <a:p>
            <a:pPr marL="0" indent="0" algn="r">
              <a:buNone/>
            </a:pPr>
            <a:r>
              <a:rPr lang="en-US" sz="800" dirty="0">
                <a:solidFill>
                  <a:srgbClr val="C8D9F0"/>
                </a:solidFill>
              </a:rPr>
              <a:t>2 / 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0D2240"/>
          </a:solidFill>
          <a:ln w="12700">
            <a:solidFill>
              <a:srgbClr val="0D2240"/>
            </a:solidFill>
            <a:prstDash val="solid"/>
          </a:ln>
        </p:spPr>
      </p:sp>
      <p:sp>
        <p:nvSpPr>
          <p:cNvPr id="3" name="Text 1"/>
          <p:cNvSpPr/>
          <p:nvPr/>
        </p:nvSpPr>
        <p:spPr>
          <a:xfrm>
            <a:off x="182880" y="0"/>
            <a:ext cx="411480" cy="502920"/>
          </a:xfrm>
          <a:prstGeom prst="rect">
            <a:avLst/>
          </a:prstGeom>
          <a:noFill/>
          <a:ln/>
        </p:spPr>
        <p:txBody>
          <a:bodyPr wrap="square" lIns="0" tIns="0" rIns="0" bIns="0" rtlCol="0" anchor="ctr"/>
          <a:lstStyle/>
          <a:p>
            <a:pPr marL="0" indent="0">
              <a:buNone/>
            </a:pPr>
            <a:r>
              <a:rPr lang="en-US" sz="900" b="1" dirty="0">
                <a:solidFill>
                  <a:srgbClr val="94A3B8"/>
                </a:solidFill>
              </a:rPr>
              <a:t>03</a:t>
            </a:r>
            <a:endParaRPr lang="en-US" sz="900" dirty="0"/>
          </a:p>
        </p:txBody>
      </p:sp>
      <p:sp>
        <p:nvSpPr>
          <p:cNvPr id="4" name="Text 2"/>
          <p:cNvSpPr/>
          <p:nvPr/>
        </p:nvSpPr>
        <p:spPr>
          <a:xfrm>
            <a:off x="594360" y="0"/>
            <a:ext cx="11338560" cy="502920"/>
          </a:xfrm>
          <a:prstGeom prst="rect">
            <a:avLst/>
          </a:prstGeom>
          <a:noFill/>
          <a:ln/>
        </p:spPr>
        <p:txBody>
          <a:bodyPr wrap="square" lIns="0" tIns="0" rIns="0" bIns="0" rtlCol="0" anchor="ctr"/>
          <a:lstStyle/>
          <a:p>
            <a:pPr marL="0" indent="0">
              <a:buNone/>
            </a:pPr>
            <a:r>
              <a:rPr lang="en-US" sz="1300" b="1" dirty="0">
                <a:solidFill>
                  <a:srgbClr val="FFFFFF"/>
                </a:solidFill>
              </a:rPr>
              <a:t>Análisis de Riesgo y Retorno  ·  CAPM + GARCH-t  ·  N = 333 observaciones semanales</a:t>
            </a:r>
            <a:endParaRPr lang="en-US" sz="1300" dirty="0"/>
          </a:p>
        </p:txBody>
      </p:sp>
      <p:sp>
        <p:nvSpPr>
          <p:cNvPr id="5" name="Shape 3"/>
          <p:cNvSpPr/>
          <p:nvPr/>
        </p:nvSpPr>
        <p:spPr>
          <a:xfrm>
            <a:off x="228600" y="594360"/>
            <a:ext cx="11704320" cy="36576"/>
          </a:xfrm>
          <a:prstGeom prst="rect">
            <a:avLst/>
          </a:prstGeom>
          <a:solidFill>
            <a:srgbClr val="3B82C4"/>
          </a:solidFill>
          <a:ln w="12700">
            <a:solidFill>
              <a:srgbClr val="3B82C4"/>
            </a:solidFill>
            <a:prstDash val="solid"/>
          </a:ln>
        </p:spPr>
      </p:sp>
      <p:sp>
        <p:nvSpPr>
          <p:cNvPr id="6" name="Text 4"/>
          <p:cNvSpPr/>
          <p:nvPr/>
        </p:nvSpPr>
        <p:spPr>
          <a:xfrm>
            <a:off x="228600" y="658368"/>
            <a:ext cx="11704320" cy="256032"/>
          </a:xfrm>
          <a:prstGeom prst="rect">
            <a:avLst/>
          </a:prstGeom>
          <a:noFill/>
          <a:ln/>
        </p:spPr>
        <p:txBody>
          <a:bodyPr wrap="square" lIns="0" tIns="0" rIns="0" bIns="0" rtlCol="0" anchor="ctr"/>
          <a:lstStyle/>
          <a:p>
            <a:pPr marL="0" indent="0">
              <a:buNone/>
            </a:pPr>
            <a:r>
              <a:rPr lang="en-US" sz="850" b="1" kern="0" spc="150" dirty="0">
                <a:solidFill>
                  <a:srgbClr val="1E4D8C"/>
                </a:solidFill>
              </a:rPr>
              <a:t>TABLA 2  —  INDICADORES CAPM-GARCH-T POR EMPRESA (EVIEWS 12 · DISTRIBUCIÓN T-STUDENT · ENERO 2020–MAYO 2026)</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28600" y="896112"/>
          <a:ext cx="11704320" cy="3127250"/>
        </p:xfrm>
        <a:graphic>
          <a:graphicData uri="http://schemas.openxmlformats.org/drawingml/2006/table">
            <a:tbl>
              <a:tblPr/>
              <a:tblGrid>
                <a:gridCol w="21031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446750">
                <a:tc>
                  <a:txBody>
                    <a:bodyPr/>
                    <a:lstStyle/>
                    <a:p>
                      <a:pPr marL="0" indent="0" algn="ctr">
                        <a:buNone/>
                      </a:pPr>
                      <a:r>
                        <a:rPr lang="en-US" sz="900" b="1" dirty="0">
                          <a:solidFill>
                            <a:srgbClr val="FFFFFF"/>
                          </a:solidFill>
                        </a:rPr>
                        <a:t>Empresa</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lgn="ctr">
                        <a:buNone/>
                      </a:pPr>
                      <a:r>
                        <a:rPr lang="en-US" sz="900" b="1" dirty="0">
                          <a:solidFill>
                            <a:srgbClr val="FFFFFF"/>
                          </a:solidFill>
                        </a:rPr>
                        <a:t>Beta (β)</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lgn="ctr">
                        <a:buNone/>
                      </a:pPr>
                      <a:r>
                        <a:rPr lang="en-US" sz="900" b="1" dirty="0">
                          <a:solidFill>
                            <a:srgbClr val="FFFFFF"/>
                          </a:solidFill>
                        </a:rPr>
                        <a:t>Alfa Jensen (α) Anual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lgn="ctr">
                        <a:buNone/>
                      </a:pPr>
                      <a:r>
                        <a:rPr lang="en-US" sz="900" b="1" dirty="0">
                          <a:solidFill>
                            <a:srgbClr val="FFFFFF"/>
                          </a:solidFill>
                        </a:rPr>
                        <a:t>VaR 99% Semanal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lgn="ctr">
                        <a:buNone/>
                      </a:pPr>
                      <a:r>
                        <a:rPr lang="en-US" sz="900" b="1" dirty="0">
                          <a:solidFill>
                            <a:srgbClr val="FFFFFF"/>
                          </a:solidFill>
                        </a:rPr>
                        <a:t>Sharpe Ratio Anual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lgn="ctr">
                        <a:buNone/>
                      </a:pPr>
                      <a:r>
                        <a:rPr lang="en-US" sz="900" b="1" dirty="0">
                          <a:solidFill>
                            <a:srgbClr val="FFFFFF"/>
                          </a:solidFill>
                        </a:rPr>
                        <a:t>Señal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extLst>
                  <a:ext uri="{0D108BD9-81ED-4DB2-BD59-A6C34878D82A}">
                    <a16:rowId xmlns:a16="http://schemas.microsoft.com/office/drawing/2014/main" val="10000"/>
                  </a:ext>
                </a:extLst>
              </a:tr>
              <a:tr h="446750">
                <a:tc>
                  <a:txBody>
                    <a:bodyPr/>
                    <a:lstStyle/>
                    <a:p>
                      <a:pPr marL="0" indent="0" algn="ctr">
                        <a:buNone/>
                      </a:pPr>
                      <a:r>
                        <a:rPr lang="en-US" sz="900" b="1" dirty="0">
                          <a:solidFill>
                            <a:srgbClr val="0F172A"/>
                          </a:solidFill>
                        </a:rPr>
                        <a:t>NVDA — NVIDIA</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900" dirty="0">
                          <a:solidFill>
                            <a:srgbClr val="0F172A"/>
                          </a:solidFill>
                        </a:rPr>
                        <a:t>1.906</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900" b="1" dirty="0">
                          <a:solidFill>
                            <a:srgbClr val="16A34A"/>
                          </a:solidFill>
                        </a:rPr>
                        <a:t>+44.33%</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900" dirty="0">
                          <a:solidFill>
                            <a:srgbClr val="0F172A"/>
                          </a:solidFill>
                        </a:rPr>
                        <a:t>−15.85%</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900" b="1" dirty="0">
                          <a:solidFill>
                            <a:srgbClr val="16A34A"/>
                          </a:solidFill>
                        </a:rPr>
                        <a:t>1.117</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900" b="1" dirty="0">
                          <a:solidFill>
                            <a:srgbClr val="16A34A"/>
                          </a:solidFill>
                        </a:rPr>
                        <a:t>★ COMPRAR</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extLst>
                  <a:ext uri="{0D108BD9-81ED-4DB2-BD59-A6C34878D82A}">
                    <a16:rowId xmlns:a16="http://schemas.microsoft.com/office/drawing/2014/main" val="10001"/>
                  </a:ext>
                </a:extLst>
              </a:tr>
              <a:tr h="446750">
                <a:tc>
                  <a:txBody>
                    <a:bodyPr/>
                    <a:lstStyle/>
                    <a:p>
                      <a:pPr marL="0" indent="0" algn="ctr">
                        <a:buNone/>
                      </a:pPr>
                      <a:r>
                        <a:rPr lang="en-US" sz="900" b="1" dirty="0">
                          <a:solidFill>
                            <a:srgbClr val="0F172A"/>
                          </a:solidFill>
                        </a:rPr>
                        <a:t>TSM — TSMC</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900" dirty="0">
                          <a:solidFill>
                            <a:srgbClr val="0F172A"/>
                          </a:solidFill>
                        </a:rPr>
                        <a:t>0.998</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900" b="1" dirty="0">
                          <a:solidFill>
                            <a:srgbClr val="16A34A"/>
                          </a:solidFill>
                        </a:rPr>
                        <a:t>+23.06%</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900" dirty="0">
                          <a:solidFill>
                            <a:srgbClr val="0F172A"/>
                          </a:solidFill>
                        </a:rPr>
                        <a:t>−8.94%</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900" b="1" dirty="0">
                          <a:solidFill>
                            <a:srgbClr val="16A34A"/>
                          </a:solidFill>
                        </a:rPr>
                        <a:t>0.747</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900" b="1" dirty="0">
                          <a:solidFill>
                            <a:srgbClr val="16A34A"/>
                          </a:solidFill>
                        </a:rPr>
                        <a:t>★ COMPRAR</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extLst>
                  <a:ext uri="{0D108BD9-81ED-4DB2-BD59-A6C34878D82A}">
                    <a16:rowId xmlns:a16="http://schemas.microsoft.com/office/drawing/2014/main" val="10002"/>
                  </a:ext>
                </a:extLst>
              </a:tr>
              <a:tr h="446750">
                <a:tc>
                  <a:txBody>
                    <a:bodyPr/>
                    <a:lstStyle/>
                    <a:p>
                      <a:pPr marL="0" indent="0" algn="ctr">
                        <a:buNone/>
                      </a:pPr>
                      <a:r>
                        <a:rPr lang="en-US" sz="900" b="1" dirty="0">
                          <a:solidFill>
                            <a:srgbClr val="0F172A"/>
                          </a:solidFill>
                        </a:rPr>
                        <a:t>GOOGL — Alphabet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900" dirty="0">
                          <a:solidFill>
                            <a:srgbClr val="0F172A"/>
                          </a:solidFill>
                        </a:rPr>
                        <a:t>1.062</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900" b="1" dirty="0">
                          <a:solidFill>
                            <a:srgbClr val="16A34A"/>
                          </a:solidFill>
                        </a:rPr>
                        <a:t>+17.37%</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900" dirty="0">
                          <a:solidFill>
                            <a:srgbClr val="0F172A"/>
                          </a:solidFill>
                        </a:rPr>
                        <a:t>−7.52%</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900" b="1" dirty="0">
                          <a:solidFill>
                            <a:srgbClr val="16A34A"/>
                          </a:solidFill>
                        </a:rPr>
                        <a:t>0.700</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lgn="ctr">
                        <a:buNone/>
                      </a:pPr>
                      <a:r>
                        <a:rPr lang="en-US" sz="900" b="1" dirty="0">
                          <a:solidFill>
                            <a:srgbClr val="16A34A"/>
                          </a:solidFill>
                        </a:rPr>
                        <a:t>★ COMPRAR</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extLst>
                  <a:ext uri="{0D108BD9-81ED-4DB2-BD59-A6C34878D82A}">
                    <a16:rowId xmlns:a16="http://schemas.microsoft.com/office/drawing/2014/main" val="10003"/>
                  </a:ext>
                </a:extLst>
              </a:tr>
              <a:tr h="446750">
                <a:tc>
                  <a:txBody>
                    <a:bodyPr/>
                    <a:lstStyle/>
                    <a:p>
                      <a:pPr marL="0" indent="0" algn="ctr">
                        <a:buNone/>
                      </a:pPr>
                      <a:r>
                        <a:rPr lang="en-US" sz="900" b="1" dirty="0">
                          <a:solidFill>
                            <a:srgbClr val="0F172A"/>
                          </a:solidFill>
                        </a:rPr>
                        <a:t>MSFT — Microsoft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marL="0" indent="0" algn="ctr">
                        <a:buNone/>
                      </a:pPr>
                      <a:r>
                        <a:rPr lang="en-US" sz="900" dirty="0">
                          <a:solidFill>
                            <a:srgbClr val="0F172A"/>
                          </a:solidFill>
                        </a:rPr>
                        <a:t>0.893</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marL="0" indent="0" algn="ctr">
                        <a:buNone/>
                      </a:pPr>
                      <a:r>
                        <a:rPr lang="en-US" sz="900" b="1" dirty="0">
                          <a:solidFill>
                            <a:srgbClr val="D97706"/>
                          </a:solidFill>
                        </a:rPr>
                        <a:t>+7.41%</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marL="0" indent="0" algn="ctr">
                        <a:buNone/>
                      </a:pPr>
                      <a:r>
                        <a:rPr lang="en-US" sz="900" dirty="0">
                          <a:solidFill>
                            <a:srgbClr val="0F172A"/>
                          </a:solidFill>
                        </a:rPr>
                        <a:t>−6.18%</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marL="0" indent="0" algn="ctr">
                        <a:buNone/>
                      </a:pPr>
                      <a:r>
                        <a:rPr lang="en-US" sz="900" dirty="0">
                          <a:solidFill>
                            <a:srgbClr val="0F172A"/>
                          </a:solidFill>
                        </a:rPr>
                        <a:t>0.442</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marL="0" indent="0" algn="ctr">
                        <a:buNone/>
                      </a:pPr>
                      <a:r>
                        <a:rPr lang="en-US" sz="900" b="1" dirty="0">
                          <a:solidFill>
                            <a:srgbClr val="D97706"/>
                          </a:solidFill>
                        </a:rPr>
                        <a:t>◆ MANTENER</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extLst>
                  <a:ext uri="{0D108BD9-81ED-4DB2-BD59-A6C34878D82A}">
                    <a16:rowId xmlns:a16="http://schemas.microsoft.com/office/drawing/2014/main" val="10004"/>
                  </a:ext>
                </a:extLst>
              </a:tr>
              <a:tr h="446750">
                <a:tc>
                  <a:txBody>
                    <a:bodyPr/>
                    <a:lstStyle/>
                    <a:p>
                      <a:pPr marL="0" indent="0" algn="ctr">
                        <a:buNone/>
                      </a:pPr>
                      <a:r>
                        <a:rPr lang="en-US" sz="900" b="1" dirty="0">
                          <a:solidFill>
                            <a:srgbClr val="0F172A"/>
                          </a:solidFill>
                        </a:rPr>
                        <a:t>META — Meta Platforms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marL="0" indent="0" algn="ctr">
                        <a:buNone/>
                      </a:pPr>
                      <a:r>
                        <a:rPr lang="en-US" sz="900" dirty="0">
                          <a:solidFill>
                            <a:srgbClr val="0F172A"/>
                          </a:solidFill>
                        </a:rPr>
                        <a:t>1.217</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marL="0" indent="0" algn="ctr">
                        <a:buNone/>
                      </a:pPr>
                      <a:r>
                        <a:rPr lang="en-US" sz="900" b="1" dirty="0">
                          <a:solidFill>
                            <a:srgbClr val="D97706"/>
                          </a:solidFill>
                        </a:rPr>
                        <a:t>+7.90%</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marL="0" indent="0" algn="ctr">
                        <a:buNone/>
                      </a:pPr>
                      <a:r>
                        <a:rPr lang="en-US" sz="900" dirty="0">
                          <a:solidFill>
                            <a:srgbClr val="0F172A"/>
                          </a:solidFill>
                        </a:rPr>
                        <a:t>−10.22%</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marL="0" indent="0" algn="ctr">
                        <a:buNone/>
                      </a:pPr>
                      <a:r>
                        <a:rPr lang="en-US" sz="900" dirty="0">
                          <a:solidFill>
                            <a:srgbClr val="0F172A"/>
                          </a:solidFill>
                        </a:rPr>
                        <a:t>0.272</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marL="0" indent="0" algn="ctr">
                        <a:buNone/>
                      </a:pPr>
                      <a:r>
                        <a:rPr lang="en-US" sz="900" b="1" dirty="0">
                          <a:solidFill>
                            <a:srgbClr val="D97706"/>
                          </a:solidFill>
                        </a:rPr>
                        <a:t>⚠ CAUTELA</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extLst>
                  <a:ext uri="{0D108BD9-81ED-4DB2-BD59-A6C34878D82A}">
                    <a16:rowId xmlns:a16="http://schemas.microsoft.com/office/drawing/2014/main" val="10005"/>
                  </a:ext>
                </a:extLst>
              </a:tr>
              <a:tr h="446750">
                <a:tc>
                  <a:txBody>
                    <a:bodyPr/>
                    <a:lstStyle/>
                    <a:p>
                      <a:pPr marL="0" indent="0" algn="ctr">
                        <a:buNone/>
                      </a:pPr>
                      <a:r>
                        <a:rPr lang="en-US" sz="900" b="1" dirty="0">
                          <a:solidFill>
                            <a:srgbClr val="0F172A"/>
                          </a:solidFill>
                        </a:rPr>
                        <a:t>CRM — Salesforce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marL="0" indent="0" algn="ctr">
                        <a:buNone/>
                      </a:pPr>
                      <a:r>
                        <a:rPr lang="en-US" sz="900" dirty="0">
                          <a:solidFill>
                            <a:srgbClr val="0F172A"/>
                          </a:solidFill>
                        </a:rPr>
                        <a:t>1.041</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marL="0" indent="0" algn="ctr">
                        <a:buNone/>
                      </a:pPr>
                      <a:r>
                        <a:rPr lang="en-US" sz="900" b="1" dirty="0">
                          <a:solidFill>
                            <a:srgbClr val="DC2626"/>
                          </a:solidFill>
                        </a:rPr>
                        <a:t>−8.86%</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marL="0" indent="0" algn="ctr">
                        <a:buNone/>
                      </a:pPr>
                      <a:r>
                        <a:rPr lang="en-US" sz="900" dirty="0">
                          <a:solidFill>
                            <a:srgbClr val="0F172A"/>
                          </a:solidFill>
                        </a:rPr>
                        <a:t>−7.92%</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marL="0" indent="0" algn="ctr">
                        <a:buNone/>
                      </a:pPr>
                      <a:r>
                        <a:rPr lang="en-US" sz="900" b="1" dirty="0">
                          <a:solidFill>
                            <a:srgbClr val="DC2626"/>
                          </a:solidFill>
                        </a:rPr>
                        <a:t>−0.047</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marL="0" indent="0" algn="ctr">
                        <a:buNone/>
                      </a:pPr>
                      <a:r>
                        <a:rPr lang="en-US" sz="900" b="1" dirty="0">
                          <a:solidFill>
                            <a:srgbClr val="DC2626"/>
                          </a:solidFill>
                        </a:rPr>
                        <a:t>✗ EXCLUIR</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extLst>
                  <a:ext uri="{0D108BD9-81ED-4DB2-BD59-A6C34878D82A}">
                    <a16:rowId xmlns:a16="http://schemas.microsoft.com/office/drawing/2014/main" val="10006"/>
                  </a:ext>
                </a:extLst>
              </a:tr>
            </a:tbl>
          </a:graphicData>
        </a:graphic>
      </p:graphicFrame>
      <p:sp>
        <p:nvSpPr>
          <p:cNvPr id="8" name="Text 5"/>
          <p:cNvSpPr/>
          <p:nvPr/>
        </p:nvSpPr>
        <p:spPr>
          <a:xfrm>
            <a:off x="228600" y="4096512"/>
            <a:ext cx="11704320" cy="292608"/>
          </a:xfrm>
          <a:prstGeom prst="rect">
            <a:avLst/>
          </a:prstGeom>
          <a:noFill/>
          <a:ln/>
        </p:spPr>
        <p:txBody>
          <a:bodyPr wrap="square" lIns="0" tIns="0" rIns="0" bIns="0" rtlCol="0" anchor="ctr"/>
          <a:lstStyle/>
          <a:p>
            <a:pPr marL="0" indent="0">
              <a:lnSpc>
                <a:spcPct val="110000"/>
              </a:lnSpc>
              <a:buNone/>
            </a:pPr>
            <a:r>
              <a:rPr lang="en-US" sz="750" i="1" dirty="0">
                <a:solidFill>
                  <a:srgbClr val="94A3B8"/>
                </a:solidFill>
              </a:rPr>
              <a:t>Nota. Modelo: GARCH(1,1)-t-Student. Fuente metodológica: EViews 12. β estimado con CAPM vía regresión semanal. Alfa Jensen = (Rᵢ − Rf) − βᵢ(Rm − Rf) anualizado. VaR 99% semanal = cuantil 1% de distribución condicional GARCH. Sharpe Ratio = (R̄ − Rf) / σᵢ anualizado.</a:t>
            </a:r>
            <a:endParaRPr lang="en-US" sz="750" dirty="0"/>
          </a:p>
        </p:txBody>
      </p:sp>
      <p:sp>
        <p:nvSpPr>
          <p:cNvPr id="9" name="Shape 6"/>
          <p:cNvSpPr/>
          <p:nvPr/>
        </p:nvSpPr>
        <p:spPr>
          <a:xfrm>
            <a:off x="228600" y="4462272"/>
            <a:ext cx="2788920" cy="621792"/>
          </a:xfrm>
          <a:prstGeom prst="rect">
            <a:avLst/>
          </a:prstGeom>
          <a:solidFill>
            <a:srgbClr val="DCFCE7"/>
          </a:solidFill>
          <a:ln w="9525">
            <a:solidFill>
              <a:srgbClr val="16A34A"/>
            </a:solidFill>
            <a:prstDash val="solid"/>
          </a:ln>
        </p:spPr>
      </p:sp>
      <p:sp>
        <p:nvSpPr>
          <p:cNvPr id="10" name="Text 7"/>
          <p:cNvSpPr/>
          <p:nvPr/>
        </p:nvSpPr>
        <p:spPr>
          <a:xfrm>
            <a:off x="320040" y="4480560"/>
            <a:ext cx="2606040" cy="182880"/>
          </a:xfrm>
          <a:prstGeom prst="rect">
            <a:avLst/>
          </a:prstGeom>
          <a:noFill/>
          <a:ln/>
        </p:spPr>
        <p:txBody>
          <a:bodyPr wrap="square" lIns="0" tIns="0" rIns="0" bIns="0" rtlCol="0" anchor="ctr"/>
          <a:lstStyle/>
          <a:p>
            <a:pPr marL="0" indent="0">
              <a:buNone/>
            </a:pPr>
            <a:r>
              <a:rPr lang="en-US" sz="750" dirty="0">
                <a:solidFill>
                  <a:srgbClr val="64748B"/>
                </a:solidFill>
              </a:rPr>
              <a:t>Mejor Alfa Jensen</a:t>
            </a:r>
            <a:endParaRPr lang="en-US" sz="750" dirty="0"/>
          </a:p>
        </p:txBody>
      </p:sp>
      <p:sp>
        <p:nvSpPr>
          <p:cNvPr id="11" name="Text 8"/>
          <p:cNvSpPr/>
          <p:nvPr/>
        </p:nvSpPr>
        <p:spPr>
          <a:xfrm>
            <a:off x="320040" y="4663440"/>
            <a:ext cx="2606040" cy="365760"/>
          </a:xfrm>
          <a:prstGeom prst="rect">
            <a:avLst/>
          </a:prstGeom>
          <a:noFill/>
          <a:ln/>
        </p:spPr>
        <p:txBody>
          <a:bodyPr wrap="square" lIns="0" tIns="0" rIns="0" bIns="0" rtlCol="0" anchor="ctr"/>
          <a:lstStyle/>
          <a:p>
            <a:pPr marL="0" indent="0">
              <a:buNone/>
            </a:pPr>
            <a:r>
              <a:rPr lang="en-US" sz="1300" b="1" dirty="0">
                <a:solidFill>
                  <a:srgbClr val="16A34A"/>
                </a:solidFill>
              </a:rPr>
              <a:t>NVDA +44.33%</a:t>
            </a:r>
            <a:endParaRPr lang="en-US" sz="1300" dirty="0"/>
          </a:p>
        </p:txBody>
      </p:sp>
      <p:sp>
        <p:nvSpPr>
          <p:cNvPr id="12" name="Shape 9"/>
          <p:cNvSpPr/>
          <p:nvPr/>
        </p:nvSpPr>
        <p:spPr>
          <a:xfrm>
            <a:off x="3191256" y="4462272"/>
            <a:ext cx="2788920" cy="621792"/>
          </a:xfrm>
          <a:prstGeom prst="rect">
            <a:avLst/>
          </a:prstGeom>
          <a:solidFill>
            <a:srgbClr val="DCFCE7"/>
          </a:solidFill>
          <a:ln w="9525">
            <a:solidFill>
              <a:srgbClr val="16A34A"/>
            </a:solidFill>
            <a:prstDash val="solid"/>
          </a:ln>
        </p:spPr>
      </p:sp>
      <p:sp>
        <p:nvSpPr>
          <p:cNvPr id="13" name="Text 10"/>
          <p:cNvSpPr/>
          <p:nvPr/>
        </p:nvSpPr>
        <p:spPr>
          <a:xfrm>
            <a:off x="3282696" y="4480560"/>
            <a:ext cx="2606040" cy="182880"/>
          </a:xfrm>
          <a:prstGeom prst="rect">
            <a:avLst/>
          </a:prstGeom>
          <a:noFill/>
          <a:ln/>
        </p:spPr>
        <p:txBody>
          <a:bodyPr wrap="square" lIns="0" tIns="0" rIns="0" bIns="0" rtlCol="0" anchor="ctr"/>
          <a:lstStyle/>
          <a:p>
            <a:pPr marL="0" indent="0">
              <a:buNone/>
            </a:pPr>
            <a:r>
              <a:rPr lang="en-US" sz="750" dirty="0">
                <a:solidFill>
                  <a:srgbClr val="64748B"/>
                </a:solidFill>
              </a:rPr>
              <a:t>Mayor Sharpe</a:t>
            </a:r>
            <a:endParaRPr lang="en-US" sz="750" dirty="0"/>
          </a:p>
        </p:txBody>
      </p:sp>
      <p:sp>
        <p:nvSpPr>
          <p:cNvPr id="14" name="Text 11"/>
          <p:cNvSpPr/>
          <p:nvPr/>
        </p:nvSpPr>
        <p:spPr>
          <a:xfrm>
            <a:off x="3282696" y="4663440"/>
            <a:ext cx="2606040" cy="365760"/>
          </a:xfrm>
          <a:prstGeom prst="rect">
            <a:avLst/>
          </a:prstGeom>
          <a:noFill/>
          <a:ln/>
        </p:spPr>
        <p:txBody>
          <a:bodyPr wrap="square" lIns="0" tIns="0" rIns="0" bIns="0" rtlCol="0" anchor="ctr"/>
          <a:lstStyle/>
          <a:p>
            <a:pPr marL="0" indent="0">
              <a:buNone/>
            </a:pPr>
            <a:r>
              <a:rPr lang="en-US" sz="1300" b="1" dirty="0">
                <a:solidFill>
                  <a:srgbClr val="16A34A"/>
                </a:solidFill>
              </a:rPr>
              <a:t>NVDA 1.117</a:t>
            </a:r>
            <a:endParaRPr lang="en-US" sz="1300" dirty="0"/>
          </a:p>
        </p:txBody>
      </p:sp>
      <p:sp>
        <p:nvSpPr>
          <p:cNvPr id="15" name="Shape 12"/>
          <p:cNvSpPr/>
          <p:nvPr/>
        </p:nvSpPr>
        <p:spPr>
          <a:xfrm>
            <a:off x="6153912" y="4462272"/>
            <a:ext cx="2788920" cy="621792"/>
          </a:xfrm>
          <a:prstGeom prst="rect">
            <a:avLst/>
          </a:prstGeom>
          <a:solidFill>
            <a:srgbClr val="FEE2E2"/>
          </a:solidFill>
          <a:ln w="9525">
            <a:solidFill>
              <a:srgbClr val="DC2626"/>
            </a:solidFill>
            <a:prstDash val="solid"/>
          </a:ln>
        </p:spPr>
      </p:sp>
      <p:sp>
        <p:nvSpPr>
          <p:cNvPr id="16" name="Text 13"/>
          <p:cNvSpPr/>
          <p:nvPr/>
        </p:nvSpPr>
        <p:spPr>
          <a:xfrm>
            <a:off x="6245352" y="4480560"/>
            <a:ext cx="2606040" cy="182880"/>
          </a:xfrm>
          <a:prstGeom prst="rect">
            <a:avLst/>
          </a:prstGeom>
          <a:noFill/>
          <a:ln/>
        </p:spPr>
        <p:txBody>
          <a:bodyPr wrap="square" lIns="0" tIns="0" rIns="0" bIns="0" rtlCol="0" anchor="ctr"/>
          <a:lstStyle/>
          <a:p>
            <a:pPr marL="0" indent="0">
              <a:buNone/>
            </a:pPr>
            <a:r>
              <a:rPr lang="en-US" sz="750" dirty="0">
                <a:solidFill>
                  <a:srgbClr val="64748B"/>
                </a:solidFill>
              </a:rPr>
              <a:t>Única Alfa Negativa</a:t>
            </a:r>
            <a:endParaRPr lang="en-US" sz="750" dirty="0"/>
          </a:p>
        </p:txBody>
      </p:sp>
      <p:sp>
        <p:nvSpPr>
          <p:cNvPr id="17" name="Text 14"/>
          <p:cNvSpPr/>
          <p:nvPr/>
        </p:nvSpPr>
        <p:spPr>
          <a:xfrm>
            <a:off x="6245352" y="4663440"/>
            <a:ext cx="2606040" cy="365760"/>
          </a:xfrm>
          <a:prstGeom prst="rect">
            <a:avLst/>
          </a:prstGeom>
          <a:noFill/>
          <a:ln/>
        </p:spPr>
        <p:txBody>
          <a:bodyPr wrap="square" lIns="0" tIns="0" rIns="0" bIns="0" rtlCol="0" anchor="ctr"/>
          <a:lstStyle/>
          <a:p>
            <a:pPr marL="0" indent="0">
              <a:buNone/>
            </a:pPr>
            <a:r>
              <a:rPr lang="en-US" sz="1300" b="1" dirty="0">
                <a:solidFill>
                  <a:srgbClr val="DC2626"/>
                </a:solidFill>
              </a:rPr>
              <a:t>CRM −8.86%</a:t>
            </a:r>
            <a:endParaRPr lang="en-US" sz="1300" dirty="0"/>
          </a:p>
        </p:txBody>
      </p:sp>
      <p:sp>
        <p:nvSpPr>
          <p:cNvPr id="18" name="Shape 15"/>
          <p:cNvSpPr/>
          <p:nvPr/>
        </p:nvSpPr>
        <p:spPr>
          <a:xfrm>
            <a:off x="9116568" y="4462272"/>
            <a:ext cx="2788920" cy="621792"/>
          </a:xfrm>
          <a:prstGeom prst="rect">
            <a:avLst/>
          </a:prstGeom>
          <a:solidFill>
            <a:srgbClr val="EAF2FB"/>
          </a:solidFill>
          <a:ln w="9525">
            <a:solidFill>
              <a:srgbClr val="1E4D8C"/>
            </a:solidFill>
            <a:prstDash val="solid"/>
          </a:ln>
        </p:spPr>
      </p:sp>
      <p:sp>
        <p:nvSpPr>
          <p:cNvPr id="19" name="Text 16"/>
          <p:cNvSpPr/>
          <p:nvPr/>
        </p:nvSpPr>
        <p:spPr>
          <a:xfrm>
            <a:off x="9208008" y="4480560"/>
            <a:ext cx="2606040" cy="182880"/>
          </a:xfrm>
          <a:prstGeom prst="rect">
            <a:avLst/>
          </a:prstGeom>
          <a:noFill/>
          <a:ln/>
        </p:spPr>
        <p:txBody>
          <a:bodyPr wrap="square" lIns="0" tIns="0" rIns="0" bIns="0" rtlCol="0" anchor="ctr"/>
          <a:lstStyle/>
          <a:p>
            <a:pPr marL="0" indent="0">
              <a:buNone/>
            </a:pPr>
            <a:r>
              <a:rPr lang="en-US" sz="750" dirty="0">
                <a:solidFill>
                  <a:srgbClr val="64748B"/>
                </a:solidFill>
              </a:rPr>
              <a:t>Periodo muestra</a:t>
            </a:r>
            <a:endParaRPr lang="en-US" sz="750" dirty="0"/>
          </a:p>
        </p:txBody>
      </p:sp>
      <p:sp>
        <p:nvSpPr>
          <p:cNvPr id="20" name="Text 17"/>
          <p:cNvSpPr/>
          <p:nvPr/>
        </p:nvSpPr>
        <p:spPr>
          <a:xfrm>
            <a:off x="9208008" y="4663440"/>
            <a:ext cx="2606040" cy="365760"/>
          </a:xfrm>
          <a:prstGeom prst="rect">
            <a:avLst/>
          </a:prstGeom>
          <a:noFill/>
          <a:ln/>
        </p:spPr>
        <p:txBody>
          <a:bodyPr wrap="square" lIns="0" tIns="0" rIns="0" bIns="0" rtlCol="0" anchor="ctr"/>
          <a:lstStyle/>
          <a:p>
            <a:pPr marL="0" indent="0">
              <a:buNone/>
            </a:pPr>
            <a:r>
              <a:rPr lang="en-US" sz="1300" b="1" dirty="0">
                <a:solidFill>
                  <a:srgbClr val="1E4D8C"/>
                </a:solidFill>
              </a:rPr>
              <a:t>333 obs. semanales</a:t>
            </a:r>
            <a:endParaRPr lang="en-US" sz="1300" dirty="0"/>
          </a:p>
        </p:txBody>
      </p:sp>
      <p:sp>
        <p:nvSpPr>
          <p:cNvPr id="21" name="Shape 18"/>
          <p:cNvSpPr/>
          <p:nvPr/>
        </p:nvSpPr>
        <p:spPr>
          <a:xfrm>
            <a:off x="228600" y="5166360"/>
            <a:ext cx="11704320" cy="457200"/>
          </a:xfrm>
          <a:prstGeom prst="rect">
            <a:avLst/>
          </a:prstGeom>
          <a:solidFill>
            <a:srgbClr val="0D2240"/>
          </a:solidFill>
          <a:ln w="12700">
            <a:solidFill>
              <a:srgbClr val="0D2240"/>
            </a:solidFill>
            <a:prstDash val="solid"/>
          </a:ln>
        </p:spPr>
      </p:sp>
      <p:sp>
        <p:nvSpPr>
          <p:cNvPr id="22" name="Text 19"/>
          <p:cNvSpPr/>
          <p:nvPr/>
        </p:nvSpPr>
        <p:spPr>
          <a:xfrm>
            <a:off x="320040" y="5166360"/>
            <a:ext cx="11521440" cy="457200"/>
          </a:xfrm>
          <a:prstGeom prst="rect">
            <a:avLst/>
          </a:prstGeom>
          <a:noFill/>
          <a:ln/>
        </p:spPr>
        <p:txBody>
          <a:bodyPr wrap="square" lIns="0" tIns="0" rIns="0" bIns="0" rtlCol="0" anchor="ctr"/>
          <a:lstStyle/>
          <a:p>
            <a:pPr marL="0" indent="0">
              <a:lnSpc>
                <a:spcPct val="115000"/>
              </a:lnSpc>
              <a:buNone/>
            </a:pPr>
            <a:r>
              <a:rPr lang="en-US" sz="850" dirty="0">
                <a:solidFill>
                  <a:srgbClr val="FFFFFF"/>
                </a:solidFill>
              </a:rPr>
              <a:t>Interpretación: NVDA, TSM y GOOGL presentan alfa positiva significativa y Sharpe superior a 0.7, validando su inclusión en el portafolio óptimo. CRM es el único activo con alfa y Sharpe negativos, confirmando su exclusión. META muestra alta persistencia de volatilidad (α+β → 0.947), lo que eleva su VaR y limita su atractivo riesgo-retorno.</a:t>
            </a:r>
            <a:endParaRPr lang="en-US" sz="850" dirty="0"/>
          </a:p>
        </p:txBody>
      </p:sp>
      <p:sp>
        <p:nvSpPr>
          <p:cNvPr id="23" name="Shape 20"/>
          <p:cNvSpPr/>
          <p:nvPr/>
        </p:nvSpPr>
        <p:spPr>
          <a:xfrm>
            <a:off x="0" y="6601968"/>
            <a:ext cx="12161520" cy="256032"/>
          </a:xfrm>
          <a:prstGeom prst="rect">
            <a:avLst/>
          </a:prstGeom>
          <a:solidFill>
            <a:srgbClr val="0D2240"/>
          </a:solidFill>
          <a:ln w="12700">
            <a:solidFill>
              <a:srgbClr val="0D2240"/>
            </a:solidFill>
            <a:prstDash val="solid"/>
          </a:ln>
        </p:spPr>
      </p:sp>
      <p:sp>
        <p:nvSpPr>
          <p:cNvPr id="24" name="Text 21"/>
          <p:cNvSpPr/>
          <p:nvPr/>
        </p:nvSpPr>
        <p:spPr>
          <a:xfrm>
            <a:off x="228600" y="6601968"/>
            <a:ext cx="7315200" cy="256032"/>
          </a:xfrm>
          <a:prstGeom prst="rect">
            <a:avLst/>
          </a:prstGeom>
          <a:noFill/>
          <a:ln/>
        </p:spPr>
        <p:txBody>
          <a:bodyPr wrap="square" lIns="0" tIns="0" rIns="0" bIns="0" rtlCol="0" anchor="ctr"/>
          <a:lstStyle/>
          <a:p>
            <a:pPr marL="0" indent="0">
              <a:buNone/>
            </a:pPr>
            <a:r>
              <a:rPr lang="en-US" sz="800" dirty="0">
                <a:solidFill>
                  <a:srgbClr val="C8D9F0"/>
                </a:solidFill>
              </a:rPr>
              <a:t>MACROCONSULT  ·  Sistema de Información de Mercados</a:t>
            </a:r>
            <a:endParaRPr lang="en-US" sz="800" dirty="0"/>
          </a:p>
        </p:txBody>
      </p:sp>
      <p:sp>
        <p:nvSpPr>
          <p:cNvPr id="25" name="Text 22"/>
          <p:cNvSpPr/>
          <p:nvPr/>
        </p:nvSpPr>
        <p:spPr>
          <a:xfrm>
            <a:off x="11247120" y="6601968"/>
            <a:ext cx="685800" cy="256032"/>
          </a:xfrm>
          <a:prstGeom prst="rect">
            <a:avLst/>
          </a:prstGeom>
          <a:noFill/>
          <a:ln/>
        </p:spPr>
        <p:txBody>
          <a:bodyPr wrap="square" lIns="0" tIns="0" rIns="0" bIns="0" rtlCol="0" anchor="ctr"/>
          <a:lstStyle/>
          <a:p>
            <a:pPr marL="0" indent="0" algn="r">
              <a:buNone/>
            </a:pPr>
            <a:r>
              <a:rPr lang="en-US" sz="800" dirty="0">
                <a:solidFill>
                  <a:srgbClr val="C8D9F0"/>
                </a:solidFill>
              </a:rPr>
              <a:t>3 / 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0D2240"/>
          </a:solidFill>
          <a:ln w="12700">
            <a:solidFill>
              <a:srgbClr val="0D2240"/>
            </a:solidFill>
            <a:prstDash val="solid"/>
          </a:ln>
        </p:spPr>
      </p:sp>
      <p:sp>
        <p:nvSpPr>
          <p:cNvPr id="3" name="Text 1"/>
          <p:cNvSpPr/>
          <p:nvPr/>
        </p:nvSpPr>
        <p:spPr>
          <a:xfrm>
            <a:off x="182880" y="0"/>
            <a:ext cx="411480" cy="502920"/>
          </a:xfrm>
          <a:prstGeom prst="rect">
            <a:avLst/>
          </a:prstGeom>
          <a:noFill/>
          <a:ln/>
        </p:spPr>
        <p:txBody>
          <a:bodyPr wrap="square" lIns="0" tIns="0" rIns="0" bIns="0" rtlCol="0" anchor="ctr"/>
          <a:lstStyle/>
          <a:p>
            <a:pPr marL="0" indent="0">
              <a:buNone/>
            </a:pPr>
            <a:r>
              <a:rPr lang="en-US" sz="900" b="1" dirty="0">
                <a:solidFill>
                  <a:srgbClr val="94A3B8"/>
                </a:solidFill>
              </a:rPr>
              <a:t>04</a:t>
            </a:r>
            <a:endParaRPr lang="en-US" sz="900" dirty="0"/>
          </a:p>
        </p:txBody>
      </p:sp>
      <p:sp>
        <p:nvSpPr>
          <p:cNvPr id="4" name="Text 2"/>
          <p:cNvSpPr/>
          <p:nvPr/>
        </p:nvSpPr>
        <p:spPr>
          <a:xfrm>
            <a:off x="594360" y="0"/>
            <a:ext cx="11338560" cy="502920"/>
          </a:xfrm>
          <a:prstGeom prst="rect">
            <a:avLst/>
          </a:prstGeom>
          <a:noFill/>
          <a:ln/>
        </p:spPr>
        <p:txBody>
          <a:bodyPr wrap="square" lIns="0" tIns="0" rIns="0" bIns="0" rtlCol="0" anchor="ctr"/>
          <a:lstStyle/>
          <a:p>
            <a:pPr marL="0" indent="0">
              <a:buNone/>
            </a:pPr>
            <a:r>
              <a:rPr lang="en-US" sz="1250" b="1" dirty="0">
                <a:solidFill>
                  <a:srgbClr val="FFFFFF"/>
                </a:solidFill>
              </a:rPr>
              <a:t>Portafolio Óptimo de Markowitz  ·  Ciclo Económico MS-MH(3)  ·  CTSNF (BIS) &amp; GDPC1 (FRED)</a:t>
            </a:r>
            <a:endParaRPr lang="en-US" sz="1250" dirty="0"/>
          </a:p>
        </p:txBody>
      </p:sp>
      <p:sp>
        <p:nvSpPr>
          <p:cNvPr id="5" name="Shape 3"/>
          <p:cNvSpPr/>
          <p:nvPr/>
        </p:nvSpPr>
        <p:spPr>
          <a:xfrm>
            <a:off x="228600" y="594360"/>
            <a:ext cx="5897880" cy="36576"/>
          </a:xfrm>
          <a:prstGeom prst="rect">
            <a:avLst/>
          </a:prstGeom>
          <a:solidFill>
            <a:srgbClr val="3B82C4"/>
          </a:solidFill>
          <a:ln w="12700">
            <a:solidFill>
              <a:srgbClr val="3B82C4"/>
            </a:solidFill>
            <a:prstDash val="solid"/>
          </a:ln>
        </p:spPr>
      </p:sp>
      <p:sp>
        <p:nvSpPr>
          <p:cNvPr id="6" name="Text 4"/>
          <p:cNvSpPr/>
          <p:nvPr/>
        </p:nvSpPr>
        <p:spPr>
          <a:xfrm>
            <a:off x="228600" y="658368"/>
            <a:ext cx="5897880" cy="256032"/>
          </a:xfrm>
          <a:prstGeom prst="rect">
            <a:avLst/>
          </a:prstGeom>
          <a:noFill/>
          <a:ln/>
        </p:spPr>
        <p:txBody>
          <a:bodyPr wrap="square" lIns="0" tIns="0" rIns="0" bIns="0" rtlCol="0" anchor="ctr"/>
          <a:lstStyle/>
          <a:p>
            <a:pPr marL="0" indent="0">
              <a:buNone/>
            </a:pPr>
            <a:r>
              <a:rPr lang="en-US" sz="850" b="1" kern="0" spc="150" dirty="0">
                <a:solidFill>
                  <a:srgbClr val="1E4D8C"/>
                </a:solidFill>
              </a:rPr>
              <a:t>TABLA 3  —  PESOS DEL PORTAFOLIO ÓPTIMO DE MÍNIMA VARIANZA (MARKOWITZ)</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28600" y="886968"/>
          <a:ext cx="5897880" cy="2194560"/>
        </p:xfrm>
        <a:graphic>
          <a:graphicData uri="http://schemas.openxmlformats.org/drawingml/2006/table">
            <a:tbl>
              <a:tblPr/>
              <a:tblGrid>
                <a:gridCol w="457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tblGrid>
              <a:tr h="365760">
                <a:tc>
                  <a:txBody>
                    <a:bodyPr/>
                    <a:lstStyle/>
                    <a:p>
                      <a:pPr marL="0" indent="0">
                        <a:buNone/>
                      </a:pPr>
                      <a:r>
                        <a:rPr lang="en-US" sz="900" b="1" dirty="0">
                          <a:solidFill>
                            <a:srgbClr val="FFFFFF"/>
                          </a:solidFill>
                        </a:rPr>
                        <a:t>Activo</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buNone/>
                      </a:pPr>
                      <a:r>
                        <a:rPr lang="en-US" sz="900" b="1" dirty="0">
                          <a:solidFill>
                            <a:srgbClr val="FFFFFF"/>
                          </a:solidFill>
                        </a:rPr>
                        <a:t>Empresa</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buNone/>
                      </a:pPr>
                      <a:r>
                        <a:rPr lang="en-US" sz="900" b="1" dirty="0">
                          <a:solidFill>
                            <a:srgbClr val="FFFFFF"/>
                          </a:solidFill>
                        </a:rPr>
                        <a:t>Peso Xᵢ</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buNone/>
                      </a:pPr>
                      <a:r>
                        <a:rPr lang="en-US" sz="900" b="1" dirty="0">
                          <a:solidFill>
                            <a:srgbClr val="FFFFFF"/>
                          </a:solidFill>
                        </a:rPr>
                        <a:t>% del Portafolio</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buNone/>
                      </a:pPr>
                      <a:r>
                        <a:rPr lang="en-US" sz="900" b="1" dirty="0">
                          <a:solidFill>
                            <a:srgbClr val="FFFFFF"/>
                          </a:solidFill>
                        </a:rPr>
                        <a:t>Rol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extLst>
                  <a:ext uri="{0D108BD9-81ED-4DB2-BD59-A6C34878D82A}">
                    <a16:rowId xmlns:a16="http://schemas.microsoft.com/office/drawing/2014/main" val="10000"/>
                  </a:ext>
                </a:extLst>
              </a:tr>
              <a:tr h="365760">
                <a:tc>
                  <a:txBody>
                    <a:bodyPr/>
                    <a:lstStyle/>
                    <a:p>
                      <a:pPr marL="0" indent="0">
                        <a:buNone/>
                      </a:pPr>
                      <a:r>
                        <a:rPr lang="en-US" sz="900" dirty="0">
                          <a:solidFill>
                            <a:srgbClr val="0F172A"/>
                          </a:solidFill>
                        </a:rPr>
                        <a:t>C</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b="1" dirty="0">
                          <a:solidFill>
                            <a:srgbClr val="1E4D8C"/>
                          </a:solidFill>
                        </a:rPr>
                        <a:t>MSFT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b="1" dirty="0">
                          <a:solidFill>
                            <a:srgbClr val="2563AE"/>
                          </a:solidFill>
                        </a:rPr>
                        <a:t>0.5818</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b="1" dirty="0">
                          <a:solidFill>
                            <a:srgbClr val="2563AE"/>
                          </a:solidFill>
                        </a:rPr>
                        <a:t>58.18%</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64748B"/>
                          </a:solidFill>
                        </a:rPr>
                        <a:t>Ancla estabilizadora</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900" dirty="0">
                          <a:solidFill>
                            <a:srgbClr val="0F172A"/>
                          </a:solidFill>
                        </a:rPr>
                        <a:t>A</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900" b="1" dirty="0">
                          <a:solidFill>
                            <a:srgbClr val="1E4D8C"/>
                          </a:solidFill>
                        </a:rPr>
                        <a:t>GOOGL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900" b="1" dirty="0">
                          <a:solidFill>
                            <a:srgbClr val="2563AE"/>
                          </a:solidFill>
                        </a:rPr>
                        <a:t>0.2144</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900" b="1" dirty="0">
                          <a:solidFill>
                            <a:srgbClr val="2563AE"/>
                          </a:solidFill>
                        </a:rPr>
                        <a:t>21.44%</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900" dirty="0">
                          <a:solidFill>
                            <a:srgbClr val="64748B"/>
                          </a:solidFill>
                        </a:rPr>
                        <a:t>Crecimiento cloud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extLst>
                  <a:ext uri="{0D108BD9-81ED-4DB2-BD59-A6C34878D82A}">
                    <a16:rowId xmlns:a16="http://schemas.microsoft.com/office/drawing/2014/main" val="10002"/>
                  </a:ext>
                </a:extLst>
              </a:tr>
              <a:tr h="365760">
                <a:tc>
                  <a:txBody>
                    <a:bodyPr/>
                    <a:lstStyle/>
                    <a:p>
                      <a:pPr marL="0" indent="0">
                        <a:buNone/>
                      </a:pPr>
                      <a:r>
                        <a:rPr lang="en-US" sz="900" dirty="0">
                          <a:solidFill>
                            <a:srgbClr val="0F172A"/>
                          </a:solidFill>
                        </a:rPr>
                        <a:t>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b="1" dirty="0">
                          <a:solidFill>
                            <a:srgbClr val="1E4D8C"/>
                          </a:solidFill>
                        </a:rPr>
                        <a:t>TSM</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b="1" dirty="0">
                          <a:solidFill>
                            <a:srgbClr val="2563AE"/>
                          </a:solidFill>
                        </a:rPr>
                        <a:t>0.2005</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b="1" dirty="0">
                          <a:solidFill>
                            <a:srgbClr val="2563AE"/>
                          </a:solidFill>
                        </a:rPr>
                        <a:t>20.05%</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64748B"/>
                          </a:solidFill>
                        </a:rPr>
                        <a:t>Infraestructura semiconductor</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900" dirty="0">
                          <a:solidFill>
                            <a:srgbClr val="0F172A"/>
                          </a:solidFill>
                        </a:rPr>
                        <a:t>F</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900" b="1" dirty="0">
                          <a:solidFill>
                            <a:srgbClr val="94A3B8"/>
                          </a:solidFill>
                        </a:rPr>
                        <a:t>CRM</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900" dirty="0">
                          <a:solidFill>
                            <a:srgbClr val="64748B"/>
                          </a:solidFill>
                        </a:rPr>
                        <a:t>0.0033</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900" dirty="0">
                          <a:solidFill>
                            <a:srgbClr val="64748B"/>
                          </a:solidFill>
                        </a:rPr>
                        <a:t>0.33%</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900" dirty="0">
                          <a:solidFill>
                            <a:srgbClr val="94A3B8"/>
                          </a:solidFill>
                        </a:rPr>
                        <a:t>Residual (mínimo)</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extLst>
                  <a:ext uri="{0D108BD9-81ED-4DB2-BD59-A6C34878D82A}">
                    <a16:rowId xmlns:a16="http://schemas.microsoft.com/office/drawing/2014/main" val="10004"/>
                  </a:ext>
                </a:extLst>
              </a:tr>
              <a:tr h="365760">
                <a:tc>
                  <a:txBody>
                    <a:bodyPr/>
                    <a:lstStyle/>
                    <a:p>
                      <a:pPr marL="0" indent="0">
                        <a:buNone/>
                      </a:pPr>
                      <a:r>
                        <a:rPr lang="en-US" sz="900" dirty="0">
                          <a:solidFill>
                            <a:srgbClr val="94A3B8"/>
                          </a:solidFill>
                        </a:rPr>
                        <a:t>B / 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94A3B8"/>
                          </a:solidFill>
                        </a:rPr>
                        <a:t>META / NVDA</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94A3B8"/>
                          </a:solidFill>
                        </a:rPr>
                        <a:t>0.0000</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94A3B8"/>
                          </a:solidFill>
                        </a:rPr>
                        <a:t>0.00%</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94A3B8"/>
                          </a:solidFill>
                        </a:rPr>
                        <a:t>Excluidos por varianza</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5"/>
          <p:cNvSpPr/>
          <p:nvPr/>
        </p:nvSpPr>
        <p:spPr>
          <a:xfrm>
            <a:off x="228600" y="3145536"/>
            <a:ext cx="5897880" cy="36576"/>
          </a:xfrm>
          <a:prstGeom prst="rect">
            <a:avLst/>
          </a:prstGeom>
          <a:solidFill>
            <a:srgbClr val="3B82C4"/>
          </a:solidFill>
          <a:ln w="12700">
            <a:solidFill>
              <a:srgbClr val="3B82C4"/>
            </a:solidFill>
            <a:prstDash val="solid"/>
          </a:ln>
        </p:spPr>
      </p:sp>
      <p:sp>
        <p:nvSpPr>
          <p:cNvPr id="9" name="Text 6"/>
          <p:cNvSpPr/>
          <p:nvPr/>
        </p:nvSpPr>
        <p:spPr>
          <a:xfrm>
            <a:off x="228600" y="3209544"/>
            <a:ext cx="5897880" cy="256032"/>
          </a:xfrm>
          <a:prstGeom prst="rect">
            <a:avLst/>
          </a:prstGeom>
          <a:noFill/>
          <a:ln/>
        </p:spPr>
        <p:txBody>
          <a:bodyPr wrap="square" lIns="0" tIns="0" rIns="0" bIns="0" rtlCol="0" anchor="ctr"/>
          <a:lstStyle/>
          <a:p>
            <a:pPr marL="0" indent="0">
              <a:buNone/>
            </a:pPr>
            <a:r>
              <a:rPr lang="en-US" sz="850" b="1" kern="0" spc="150" dirty="0">
                <a:solidFill>
                  <a:srgbClr val="1E4D8C"/>
                </a:solidFill>
              </a:rPr>
              <a:t>FIGURA 1  —  DISTRIBUCIÓN DE PESOS (PORTAFOLIO MÍNIMA VARIANZA)</a:t>
            </a:r>
            <a:endParaRPr lang="en-US" sz="850" dirty="0"/>
          </a:p>
        </p:txBody>
      </p:sp>
      <p:sp>
        <p:nvSpPr>
          <p:cNvPr id="10" name="Text 7"/>
          <p:cNvSpPr/>
          <p:nvPr/>
        </p:nvSpPr>
        <p:spPr>
          <a:xfrm>
            <a:off x="228600" y="3520440"/>
            <a:ext cx="594360" cy="237744"/>
          </a:xfrm>
          <a:prstGeom prst="rect">
            <a:avLst/>
          </a:prstGeom>
          <a:noFill/>
          <a:ln/>
        </p:spPr>
        <p:txBody>
          <a:bodyPr wrap="square" lIns="0" tIns="0" rIns="0" bIns="0" rtlCol="0" anchor="ctr"/>
          <a:lstStyle/>
          <a:p>
            <a:pPr marL="0" indent="0">
              <a:buNone/>
            </a:pPr>
            <a:r>
              <a:rPr lang="en-US" sz="900" b="1" dirty="0">
                <a:solidFill>
                  <a:srgbClr val="0F172A"/>
                </a:solidFill>
              </a:rPr>
              <a:t>MSFT</a:t>
            </a:r>
            <a:endParaRPr lang="en-US" sz="900" dirty="0"/>
          </a:p>
        </p:txBody>
      </p:sp>
      <p:sp>
        <p:nvSpPr>
          <p:cNvPr id="11" name="Shape 8"/>
          <p:cNvSpPr/>
          <p:nvPr/>
        </p:nvSpPr>
        <p:spPr>
          <a:xfrm>
            <a:off x="850392" y="3520440"/>
            <a:ext cx="4901184" cy="237744"/>
          </a:xfrm>
          <a:prstGeom prst="rect">
            <a:avLst/>
          </a:prstGeom>
          <a:solidFill>
            <a:srgbClr val="2563AE"/>
          </a:solidFill>
          <a:ln w="12700">
            <a:solidFill>
              <a:srgbClr val="2563AE"/>
            </a:solidFill>
            <a:prstDash val="solid"/>
          </a:ln>
        </p:spPr>
      </p:sp>
      <p:sp>
        <p:nvSpPr>
          <p:cNvPr id="12" name="Text 9"/>
          <p:cNvSpPr/>
          <p:nvPr/>
        </p:nvSpPr>
        <p:spPr>
          <a:xfrm>
            <a:off x="5824728" y="3520440"/>
            <a:ext cx="640080" cy="237744"/>
          </a:xfrm>
          <a:prstGeom prst="rect">
            <a:avLst/>
          </a:prstGeom>
          <a:noFill/>
          <a:ln/>
        </p:spPr>
        <p:txBody>
          <a:bodyPr wrap="square" lIns="0" tIns="0" rIns="0" bIns="0" rtlCol="0" anchor="ctr"/>
          <a:lstStyle/>
          <a:p>
            <a:pPr marL="0" indent="0">
              <a:buNone/>
            </a:pPr>
            <a:r>
              <a:rPr lang="en-US" sz="900" b="1" dirty="0">
                <a:solidFill>
                  <a:srgbClr val="2563AE"/>
                </a:solidFill>
              </a:rPr>
              <a:t>58.2%</a:t>
            </a:r>
            <a:endParaRPr lang="en-US" sz="900" dirty="0"/>
          </a:p>
        </p:txBody>
      </p:sp>
      <p:sp>
        <p:nvSpPr>
          <p:cNvPr id="13" name="Text 10"/>
          <p:cNvSpPr/>
          <p:nvPr/>
        </p:nvSpPr>
        <p:spPr>
          <a:xfrm>
            <a:off x="228600" y="3922776"/>
            <a:ext cx="594360" cy="237744"/>
          </a:xfrm>
          <a:prstGeom prst="rect">
            <a:avLst/>
          </a:prstGeom>
          <a:noFill/>
          <a:ln/>
        </p:spPr>
        <p:txBody>
          <a:bodyPr wrap="square" lIns="0" tIns="0" rIns="0" bIns="0" rtlCol="0" anchor="ctr"/>
          <a:lstStyle/>
          <a:p>
            <a:pPr marL="0" indent="0">
              <a:buNone/>
            </a:pPr>
            <a:r>
              <a:rPr lang="en-US" sz="900" b="1" dirty="0">
                <a:solidFill>
                  <a:srgbClr val="0F172A"/>
                </a:solidFill>
              </a:rPr>
              <a:t>GOOGL</a:t>
            </a:r>
            <a:endParaRPr lang="en-US" sz="900" dirty="0"/>
          </a:p>
        </p:txBody>
      </p:sp>
      <p:sp>
        <p:nvSpPr>
          <p:cNvPr id="14" name="Shape 11"/>
          <p:cNvSpPr/>
          <p:nvPr/>
        </p:nvSpPr>
        <p:spPr>
          <a:xfrm>
            <a:off x="850392" y="3922776"/>
            <a:ext cx="1801368" cy="237744"/>
          </a:xfrm>
          <a:prstGeom prst="rect">
            <a:avLst/>
          </a:prstGeom>
          <a:solidFill>
            <a:srgbClr val="3B82C4"/>
          </a:solidFill>
          <a:ln w="12700">
            <a:solidFill>
              <a:srgbClr val="3B82C4"/>
            </a:solidFill>
            <a:prstDash val="solid"/>
          </a:ln>
        </p:spPr>
      </p:sp>
      <p:sp>
        <p:nvSpPr>
          <p:cNvPr id="15" name="Text 12"/>
          <p:cNvSpPr/>
          <p:nvPr/>
        </p:nvSpPr>
        <p:spPr>
          <a:xfrm>
            <a:off x="2724912" y="3922776"/>
            <a:ext cx="640080" cy="237744"/>
          </a:xfrm>
          <a:prstGeom prst="rect">
            <a:avLst/>
          </a:prstGeom>
          <a:noFill/>
          <a:ln/>
        </p:spPr>
        <p:txBody>
          <a:bodyPr wrap="square" lIns="0" tIns="0" rIns="0" bIns="0" rtlCol="0" anchor="ctr"/>
          <a:lstStyle/>
          <a:p>
            <a:pPr marL="0" indent="0">
              <a:buNone/>
            </a:pPr>
            <a:r>
              <a:rPr lang="en-US" sz="900" b="1" dirty="0">
                <a:solidFill>
                  <a:srgbClr val="3B82C4"/>
                </a:solidFill>
              </a:rPr>
              <a:t>21.4%</a:t>
            </a:r>
            <a:endParaRPr lang="en-US" sz="900" dirty="0"/>
          </a:p>
        </p:txBody>
      </p:sp>
      <p:sp>
        <p:nvSpPr>
          <p:cNvPr id="16" name="Text 13"/>
          <p:cNvSpPr/>
          <p:nvPr/>
        </p:nvSpPr>
        <p:spPr>
          <a:xfrm>
            <a:off x="228600" y="4325112"/>
            <a:ext cx="594360" cy="237744"/>
          </a:xfrm>
          <a:prstGeom prst="rect">
            <a:avLst/>
          </a:prstGeom>
          <a:noFill/>
          <a:ln/>
        </p:spPr>
        <p:txBody>
          <a:bodyPr wrap="square" lIns="0" tIns="0" rIns="0" bIns="0" rtlCol="0" anchor="ctr"/>
          <a:lstStyle/>
          <a:p>
            <a:pPr marL="0" indent="0">
              <a:buNone/>
            </a:pPr>
            <a:r>
              <a:rPr lang="en-US" sz="900" b="1" dirty="0">
                <a:solidFill>
                  <a:srgbClr val="0F172A"/>
                </a:solidFill>
              </a:rPr>
              <a:t>TSM</a:t>
            </a:r>
            <a:endParaRPr lang="en-US" sz="900" dirty="0"/>
          </a:p>
        </p:txBody>
      </p:sp>
      <p:sp>
        <p:nvSpPr>
          <p:cNvPr id="17" name="Shape 14"/>
          <p:cNvSpPr/>
          <p:nvPr/>
        </p:nvSpPr>
        <p:spPr>
          <a:xfrm>
            <a:off x="850392" y="4325112"/>
            <a:ext cx="1691640" cy="237744"/>
          </a:xfrm>
          <a:prstGeom prst="rect">
            <a:avLst/>
          </a:prstGeom>
          <a:solidFill>
            <a:srgbClr val="1E4D8C"/>
          </a:solidFill>
          <a:ln w="12700">
            <a:solidFill>
              <a:srgbClr val="1E4D8C"/>
            </a:solidFill>
            <a:prstDash val="solid"/>
          </a:ln>
        </p:spPr>
      </p:sp>
      <p:sp>
        <p:nvSpPr>
          <p:cNvPr id="18" name="Text 15"/>
          <p:cNvSpPr/>
          <p:nvPr/>
        </p:nvSpPr>
        <p:spPr>
          <a:xfrm>
            <a:off x="2615184" y="4325112"/>
            <a:ext cx="640080" cy="237744"/>
          </a:xfrm>
          <a:prstGeom prst="rect">
            <a:avLst/>
          </a:prstGeom>
          <a:noFill/>
          <a:ln/>
        </p:spPr>
        <p:txBody>
          <a:bodyPr wrap="square" lIns="0" tIns="0" rIns="0" bIns="0" rtlCol="0" anchor="ctr"/>
          <a:lstStyle/>
          <a:p>
            <a:pPr marL="0" indent="0">
              <a:buNone/>
            </a:pPr>
            <a:r>
              <a:rPr lang="en-US" sz="900" b="1" dirty="0">
                <a:solidFill>
                  <a:srgbClr val="1E4D8C"/>
                </a:solidFill>
              </a:rPr>
              <a:t>20.1%</a:t>
            </a:r>
            <a:endParaRPr lang="en-US" sz="900" dirty="0"/>
          </a:p>
        </p:txBody>
      </p:sp>
      <p:sp>
        <p:nvSpPr>
          <p:cNvPr id="19" name="Text 16"/>
          <p:cNvSpPr/>
          <p:nvPr/>
        </p:nvSpPr>
        <p:spPr>
          <a:xfrm>
            <a:off x="228600" y="4727448"/>
            <a:ext cx="594360" cy="237744"/>
          </a:xfrm>
          <a:prstGeom prst="rect">
            <a:avLst/>
          </a:prstGeom>
          <a:noFill/>
          <a:ln/>
        </p:spPr>
        <p:txBody>
          <a:bodyPr wrap="square" lIns="0" tIns="0" rIns="0" bIns="0" rtlCol="0" anchor="ctr"/>
          <a:lstStyle/>
          <a:p>
            <a:pPr marL="0" indent="0">
              <a:buNone/>
            </a:pPr>
            <a:r>
              <a:rPr lang="en-US" sz="900" b="1" dirty="0">
                <a:solidFill>
                  <a:srgbClr val="0F172A"/>
                </a:solidFill>
              </a:rPr>
              <a:t>CRM</a:t>
            </a:r>
            <a:endParaRPr lang="en-US" sz="900" dirty="0"/>
          </a:p>
        </p:txBody>
      </p:sp>
      <p:sp>
        <p:nvSpPr>
          <p:cNvPr id="20" name="Shape 17"/>
          <p:cNvSpPr/>
          <p:nvPr/>
        </p:nvSpPr>
        <p:spPr>
          <a:xfrm>
            <a:off x="850392" y="4727448"/>
            <a:ext cx="91440" cy="237744"/>
          </a:xfrm>
          <a:prstGeom prst="rect">
            <a:avLst/>
          </a:prstGeom>
          <a:solidFill>
            <a:srgbClr val="CBD5E1"/>
          </a:solidFill>
          <a:ln w="12700">
            <a:solidFill>
              <a:srgbClr val="CBD5E1"/>
            </a:solidFill>
            <a:prstDash val="solid"/>
          </a:ln>
        </p:spPr>
      </p:sp>
      <p:sp>
        <p:nvSpPr>
          <p:cNvPr id="21" name="Text 18"/>
          <p:cNvSpPr/>
          <p:nvPr/>
        </p:nvSpPr>
        <p:spPr>
          <a:xfrm>
            <a:off x="1014984" y="4727448"/>
            <a:ext cx="640080" cy="237744"/>
          </a:xfrm>
          <a:prstGeom prst="rect">
            <a:avLst/>
          </a:prstGeom>
          <a:noFill/>
          <a:ln/>
        </p:spPr>
        <p:txBody>
          <a:bodyPr wrap="square" lIns="0" tIns="0" rIns="0" bIns="0" rtlCol="0" anchor="ctr"/>
          <a:lstStyle/>
          <a:p>
            <a:pPr marL="0" indent="0">
              <a:buNone/>
            </a:pPr>
            <a:r>
              <a:rPr lang="en-US" sz="900" b="1" dirty="0">
                <a:solidFill>
                  <a:srgbClr val="CBD5E1"/>
                </a:solidFill>
              </a:rPr>
              <a:t>0.3%</a:t>
            </a:r>
            <a:endParaRPr lang="en-US" sz="900" dirty="0"/>
          </a:p>
        </p:txBody>
      </p:sp>
      <p:sp>
        <p:nvSpPr>
          <p:cNvPr id="22" name="Text 19"/>
          <p:cNvSpPr/>
          <p:nvPr/>
        </p:nvSpPr>
        <p:spPr>
          <a:xfrm>
            <a:off x="228600" y="5157216"/>
            <a:ext cx="5897880" cy="228600"/>
          </a:xfrm>
          <a:prstGeom prst="rect">
            <a:avLst/>
          </a:prstGeom>
          <a:noFill/>
          <a:ln/>
        </p:spPr>
        <p:txBody>
          <a:bodyPr wrap="square" lIns="0" tIns="0" rIns="0" bIns="0" rtlCol="0" anchor="ctr"/>
          <a:lstStyle/>
          <a:p>
            <a:pPr marL="0" indent="0">
              <a:buNone/>
            </a:pPr>
            <a:r>
              <a:rPr lang="en-US" sz="750" i="1" dirty="0">
                <a:solidFill>
                  <a:srgbClr val="94A3B8"/>
                </a:solidFill>
              </a:rPr>
              <a:t>Nota. Fuente: PORTAFOLIO_MARKOWITZ.xlsx (trabajo propio). Optimización Markowitz de mínima varianza. MATLAB R2019b.</a:t>
            </a:r>
            <a:endParaRPr lang="en-US" sz="750" dirty="0"/>
          </a:p>
        </p:txBody>
      </p:sp>
      <p:sp>
        <p:nvSpPr>
          <p:cNvPr id="23" name="Shape 20"/>
          <p:cNvSpPr/>
          <p:nvPr/>
        </p:nvSpPr>
        <p:spPr>
          <a:xfrm>
            <a:off x="6400800" y="594360"/>
            <a:ext cx="5532120" cy="36576"/>
          </a:xfrm>
          <a:prstGeom prst="rect">
            <a:avLst/>
          </a:prstGeom>
          <a:solidFill>
            <a:srgbClr val="3B82C4"/>
          </a:solidFill>
          <a:ln w="12700">
            <a:solidFill>
              <a:srgbClr val="3B82C4"/>
            </a:solidFill>
            <a:prstDash val="solid"/>
          </a:ln>
        </p:spPr>
      </p:sp>
      <p:sp>
        <p:nvSpPr>
          <p:cNvPr id="24" name="Text 21"/>
          <p:cNvSpPr/>
          <p:nvPr/>
        </p:nvSpPr>
        <p:spPr>
          <a:xfrm>
            <a:off x="6400800" y="658368"/>
            <a:ext cx="5532120" cy="256032"/>
          </a:xfrm>
          <a:prstGeom prst="rect">
            <a:avLst/>
          </a:prstGeom>
          <a:noFill/>
          <a:ln/>
        </p:spPr>
        <p:txBody>
          <a:bodyPr wrap="square" lIns="0" tIns="0" rIns="0" bIns="0" rtlCol="0" anchor="ctr"/>
          <a:lstStyle/>
          <a:p>
            <a:pPr marL="0" indent="0">
              <a:buNone/>
            </a:pPr>
            <a:r>
              <a:rPr lang="en-US" sz="850" b="1" kern="0" spc="150" dirty="0">
                <a:solidFill>
                  <a:srgbClr val="1E4D8C"/>
                </a:solidFill>
              </a:rPr>
              <a:t>TABLA 4  —  RENDIMIENTO CONDICIONAL AL CICLO — MODELO MARKOV-SWITCHING MS-MH(3)</a:t>
            </a:r>
            <a:endParaRPr lang="en-US" sz="85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400800" y="886968"/>
          <a:ext cx="5532120" cy="1645920"/>
        </p:xfrm>
        <a:graphic>
          <a:graphicData uri="http://schemas.openxmlformats.org/drawingml/2006/table">
            <a:tbl>
              <a:tblPr/>
              <a:tblGrid>
                <a:gridCol w="1600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411480">
                <a:tc>
                  <a:txBody>
                    <a:bodyPr/>
                    <a:lstStyle/>
                    <a:p>
                      <a:pPr marL="0" indent="0">
                        <a:buNone/>
                      </a:pPr>
                      <a:r>
                        <a:rPr lang="en-US" sz="900" b="1" dirty="0">
                          <a:solidFill>
                            <a:srgbClr val="FFFFFF"/>
                          </a:solidFill>
                        </a:rPr>
                        <a:t>Fase del Ciclo</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buNone/>
                      </a:pPr>
                      <a:r>
                        <a:rPr lang="en-US" sz="900" b="1" dirty="0">
                          <a:solidFill>
                            <a:srgbClr val="FFFFFF"/>
                          </a:solidFill>
                        </a:rPr>
                        <a:t>E[Rp] Semanal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buNone/>
                      </a:pPr>
                      <a:r>
                        <a:rPr lang="en-US" sz="900" b="1" dirty="0">
                          <a:solidFill>
                            <a:srgbClr val="FFFFFF"/>
                          </a:solidFill>
                        </a:rPr>
                        <a:t>E[Rp] Anual*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buNone/>
                      </a:pPr>
                      <a:r>
                        <a:rPr lang="en-US" sz="900" b="1" dirty="0">
                          <a:solidFill>
                            <a:srgbClr val="FFFFFF"/>
                          </a:solidFill>
                        </a:rPr>
                        <a:t>σₚ</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buNone/>
                      </a:pPr>
                      <a:r>
                        <a:rPr lang="en-US" sz="900" b="1" dirty="0">
                          <a:solidFill>
                            <a:srgbClr val="FFFFFF"/>
                          </a:solidFill>
                        </a:rPr>
                        <a:t>Señal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extLst>
                  <a:ext uri="{0D108BD9-81ED-4DB2-BD59-A6C34878D82A}">
                    <a16:rowId xmlns:a16="http://schemas.microsoft.com/office/drawing/2014/main" val="10000"/>
                  </a:ext>
                </a:extLst>
              </a:tr>
              <a:tr h="411480">
                <a:tc>
                  <a:txBody>
                    <a:bodyPr/>
                    <a:lstStyle/>
                    <a:p>
                      <a:pPr marL="0" indent="0">
                        <a:buNone/>
                      </a:pPr>
                      <a:r>
                        <a:rPr lang="en-US" sz="900" b="1" dirty="0">
                          <a:solidFill>
                            <a:srgbClr val="0F172A"/>
                          </a:solidFill>
                        </a:rPr>
                        <a:t>Auge (fin. cycle)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buNone/>
                      </a:pPr>
                      <a:r>
                        <a:rPr lang="en-US" sz="900" b="1" dirty="0">
                          <a:solidFill>
                            <a:srgbClr val="16A34A"/>
                          </a:solidFill>
                        </a:rPr>
                        <a:t>+12.05%</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buNone/>
                      </a:pPr>
                      <a:r>
                        <a:rPr lang="en-US" sz="900" b="1" dirty="0">
                          <a:solidFill>
                            <a:srgbClr val="16A34A"/>
                          </a:solidFill>
                        </a:rPr>
                        <a:t>+83.5% equiv.</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buNone/>
                      </a:pPr>
                      <a:r>
                        <a:rPr lang="en-US" sz="900" dirty="0">
                          <a:solidFill>
                            <a:srgbClr val="0F172A"/>
                          </a:solidFill>
                        </a:rPr>
                        <a:t>4.67%</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tc>
                  <a:txBody>
                    <a:bodyPr/>
                    <a:lstStyle/>
                    <a:p>
                      <a:pPr marL="0" indent="0">
                        <a:buNone/>
                      </a:pPr>
                      <a:r>
                        <a:rPr lang="en-US" sz="900" b="1" dirty="0">
                          <a:solidFill>
                            <a:srgbClr val="16A34A"/>
                          </a:solidFill>
                        </a:rPr>
                        <a:t>ÓPTIMO</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CFCE7"/>
                    </a:solidFill>
                  </a:tcPr>
                </a:tc>
                <a:extLst>
                  <a:ext uri="{0D108BD9-81ED-4DB2-BD59-A6C34878D82A}">
                    <a16:rowId xmlns:a16="http://schemas.microsoft.com/office/drawing/2014/main" val="10001"/>
                  </a:ext>
                </a:extLst>
              </a:tr>
              <a:tr h="411480">
                <a:tc>
                  <a:txBody>
                    <a:bodyPr/>
                    <a:lstStyle/>
                    <a:p>
                      <a:pPr marL="0" indent="0">
                        <a:buNone/>
                      </a:pPr>
                      <a:r>
                        <a:rPr lang="en-US" sz="900" b="1" dirty="0">
                          <a:solidFill>
                            <a:srgbClr val="0F172A"/>
                          </a:solidFill>
                        </a:rPr>
                        <a:t>Expansión (fin.)</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marL="0" indent="0">
                        <a:buNone/>
                      </a:pPr>
                      <a:r>
                        <a:rPr lang="en-US" sz="900" dirty="0">
                          <a:solidFill>
                            <a:srgbClr val="D97706"/>
                          </a:solidFill>
                        </a:rPr>
                        <a:t>+0.28%</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marL="0" indent="0">
                        <a:buNone/>
                      </a:pPr>
                      <a:r>
                        <a:rPr lang="en-US" sz="900" dirty="0">
                          <a:solidFill>
                            <a:srgbClr val="D97706"/>
                          </a:solidFill>
                        </a:rPr>
                        <a:t>+14.7% equiv.</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marL="0" indent="0">
                        <a:buNone/>
                      </a:pPr>
                      <a:r>
                        <a:rPr lang="en-US" sz="900" dirty="0">
                          <a:solidFill>
                            <a:srgbClr val="0F172A"/>
                          </a:solidFill>
                        </a:rPr>
                        <a:t>4.89%</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marL="0" indent="0">
                        <a:buNone/>
                      </a:pPr>
                      <a:r>
                        <a:rPr lang="en-US" sz="900" b="1" dirty="0">
                          <a:solidFill>
                            <a:srgbClr val="D97706"/>
                          </a:solidFill>
                        </a:rPr>
                        <a:t>NEUTRAL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extLst>
                  <a:ext uri="{0D108BD9-81ED-4DB2-BD59-A6C34878D82A}">
                    <a16:rowId xmlns:a16="http://schemas.microsoft.com/office/drawing/2014/main" val="10002"/>
                  </a:ext>
                </a:extLst>
              </a:tr>
              <a:tr h="411480">
                <a:tc>
                  <a:txBody>
                    <a:bodyPr/>
                    <a:lstStyle/>
                    <a:p>
                      <a:pPr marL="0" indent="0">
                        <a:buNone/>
                      </a:pPr>
                      <a:r>
                        <a:rPr lang="en-US" sz="900" b="1" dirty="0">
                          <a:solidFill>
                            <a:srgbClr val="0F172A"/>
                          </a:solidFill>
                        </a:rPr>
                        <a:t>Recesión (fin.)</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marL="0" indent="0">
                        <a:buNone/>
                      </a:pPr>
                      <a:r>
                        <a:rPr lang="en-US" sz="900" b="1" dirty="0">
                          <a:solidFill>
                            <a:srgbClr val="DC2626"/>
                          </a:solidFill>
                        </a:rPr>
                        <a:t>−11.51%</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marL="0" indent="0">
                        <a:buNone/>
                      </a:pPr>
                      <a:r>
                        <a:rPr lang="en-US" sz="900" b="1" dirty="0">
                          <a:solidFill>
                            <a:srgbClr val="DC2626"/>
                          </a:solidFill>
                        </a:rPr>
                        <a:t>−79.5% equiv.</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marL="0" indent="0">
                        <a:buNone/>
                      </a:pPr>
                      <a:r>
                        <a:rPr lang="en-US" sz="900" dirty="0">
                          <a:solidFill>
                            <a:srgbClr val="0F172A"/>
                          </a:solidFill>
                        </a:rPr>
                        <a:t>5.91%</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marL="0" indent="0">
                        <a:buNone/>
                      </a:pPr>
                      <a:r>
                        <a:rPr lang="en-US" sz="900" b="1" dirty="0">
                          <a:solidFill>
                            <a:srgbClr val="DC2626"/>
                          </a:solidFill>
                        </a:rPr>
                        <a:t>EVITAR</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extLst>
                  <a:ext uri="{0D108BD9-81ED-4DB2-BD59-A6C34878D82A}">
                    <a16:rowId xmlns:a16="http://schemas.microsoft.com/office/drawing/2014/main" val="10003"/>
                  </a:ext>
                </a:extLst>
              </a:tr>
            </a:tbl>
          </a:graphicData>
        </a:graphic>
      </p:graphicFrame>
      <p:sp>
        <p:nvSpPr>
          <p:cNvPr id="26" name="Shape 22"/>
          <p:cNvSpPr/>
          <p:nvPr/>
        </p:nvSpPr>
        <p:spPr>
          <a:xfrm>
            <a:off x="6400800" y="2615184"/>
            <a:ext cx="5532120" cy="777240"/>
          </a:xfrm>
          <a:prstGeom prst="rect">
            <a:avLst/>
          </a:prstGeom>
          <a:solidFill>
            <a:srgbClr val="0D2240"/>
          </a:solidFill>
          <a:ln w="15240">
            <a:solidFill>
              <a:srgbClr val="16A34A"/>
            </a:solidFill>
            <a:prstDash val="solid"/>
          </a:ln>
        </p:spPr>
      </p:sp>
      <p:sp>
        <p:nvSpPr>
          <p:cNvPr id="27" name="Text 23"/>
          <p:cNvSpPr/>
          <p:nvPr/>
        </p:nvSpPr>
        <p:spPr>
          <a:xfrm>
            <a:off x="6510528" y="2633472"/>
            <a:ext cx="5349240" cy="201168"/>
          </a:xfrm>
          <a:prstGeom prst="rect">
            <a:avLst/>
          </a:prstGeom>
          <a:noFill/>
          <a:ln/>
        </p:spPr>
        <p:txBody>
          <a:bodyPr wrap="square" lIns="0" tIns="0" rIns="0" bIns="0" rtlCol="0" anchor="ctr"/>
          <a:lstStyle/>
          <a:p>
            <a:pPr marL="0" indent="0">
              <a:buNone/>
            </a:pPr>
            <a:r>
              <a:rPr lang="en-US" sz="800" kern="0" spc="120" dirty="0">
                <a:solidFill>
                  <a:srgbClr val="C8D9F0"/>
                </a:solidFill>
              </a:rPr>
              <a:t>FASE ACTUAL DEL CICLO — Junio 2026</a:t>
            </a:r>
            <a:endParaRPr lang="en-US" sz="800" dirty="0"/>
          </a:p>
        </p:txBody>
      </p:sp>
      <p:sp>
        <p:nvSpPr>
          <p:cNvPr id="28" name="Text 24"/>
          <p:cNvSpPr/>
          <p:nvPr/>
        </p:nvSpPr>
        <p:spPr>
          <a:xfrm>
            <a:off x="6510528" y="2834640"/>
            <a:ext cx="3200400" cy="292608"/>
          </a:xfrm>
          <a:prstGeom prst="rect">
            <a:avLst/>
          </a:prstGeom>
          <a:noFill/>
          <a:ln/>
        </p:spPr>
        <p:txBody>
          <a:bodyPr wrap="square" lIns="0" tIns="0" rIns="0" bIns="0" rtlCol="0" anchor="ctr"/>
          <a:lstStyle/>
          <a:p>
            <a:pPr marL="0" indent="0">
              <a:buNone/>
            </a:pPr>
            <a:r>
              <a:rPr lang="en-US" sz="1700" b="1" dirty="0">
                <a:solidFill>
                  <a:srgbClr val="16A34A"/>
                </a:solidFill>
              </a:rPr>
              <a:t>AUGE (Ciclo Financiero)</a:t>
            </a:r>
            <a:endParaRPr lang="en-US" sz="1700" dirty="0"/>
          </a:p>
        </p:txBody>
      </p:sp>
      <p:sp>
        <p:nvSpPr>
          <p:cNvPr id="29" name="Text 25"/>
          <p:cNvSpPr/>
          <p:nvPr/>
        </p:nvSpPr>
        <p:spPr>
          <a:xfrm>
            <a:off x="9875520" y="2907792"/>
            <a:ext cx="2011680" cy="237744"/>
          </a:xfrm>
          <a:prstGeom prst="rect">
            <a:avLst/>
          </a:prstGeom>
          <a:noFill/>
          <a:ln/>
        </p:spPr>
        <p:txBody>
          <a:bodyPr wrap="square" lIns="0" tIns="0" rIns="0" bIns="0" rtlCol="0" anchor="ctr"/>
          <a:lstStyle/>
          <a:p>
            <a:pPr marL="0" indent="0" algn="r">
              <a:buNone/>
            </a:pPr>
            <a:r>
              <a:rPr lang="en-US" sz="900" b="1" dirty="0">
                <a:solidFill>
                  <a:srgbClr val="16A34A"/>
                </a:solidFill>
              </a:rPr>
              <a:t>Señal: ÓPTIMO PARA INVERTIR</a:t>
            </a:r>
            <a:endParaRPr lang="en-US" sz="900" dirty="0"/>
          </a:p>
        </p:txBody>
      </p:sp>
      <p:sp>
        <p:nvSpPr>
          <p:cNvPr id="30" name="Text 26"/>
          <p:cNvSpPr/>
          <p:nvPr/>
        </p:nvSpPr>
        <p:spPr>
          <a:xfrm>
            <a:off x="6510528" y="3145536"/>
            <a:ext cx="5349240" cy="182880"/>
          </a:xfrm>
          <a:prstGeom prst="rect">
            <a:avLst/>
          </a:prstGeom>
          <a:noFill/>
          <a:ln/>
        </p:spPr>
        <p:txBody>
          <a:bodyPr wrap="square" lIns="0" tIns="0" rIns="0" bIns="0" rtlCol="0" anchor="ctr"/>
          <a:lstStyle/>
          <a:p>
            <a:pPr marL="0" indent="0">
              <a:buNone/>
            </a:pPr>
            <a:r>
              <a:rPr lang="en-US" sz="750" i="1" dirty="0">
                <a:solidFill>
                  <a:srgbClr val="C8D9F0"/>
                </a:solidFill>
              </a:rPr>
              <a:t>Fuente del ciclo: CTSNF (BIS) + GDPC1 (FRED). Modelo: Markov-Switching MS-MH(3).</a:t>
            </a:r>
            <a:endParaRPr lang="en-US" sz="750" dirty="0"/>
          </a:p>
        </p:txBody>
      </p:sp>
      <p:sp>
        <p:nvSpPr>
          <p:cNvPr id="31" name="Shape 27"/>
          <p:cNvSpPr/>
          <p:nvPr/>
        </p:nvSpPr>
        <p:spPr>
          <a:xfrm>
            <a:off x="6400800" y="3511296"/>
            <a:ext cx="5532120" cy="36576"/>
          </a:xfrm>
          <a:prstGeom prst="rect">
            <a:avLst/>
          </a:prstGeom>
          <a:solidFill>
            <a:srgbClr val="3B82C4"/>
          </a:solidFill>
          <a:ln w="12700">
            <a:solidFill>
              <a:srgbClr val="3B82C4"/>
            </a:solidFill>
            <a:prstDash val="solid"/>
          </a:ln>
        </p:spPr>
      </p:sp>
      <p:sp>
        <p:nvSpPr>
          <p:cNvPr id="32" name="Text 28"/>
          <p:cNvSpPr/>
          <p:nvPr/>
        </p:nvSpPr>
        <p:spPr>
          <a:xfrm>
            <a:off x="6400800" y="3575304"/>
            <a:ext cx="5532120" cy="256032"/>
          </a:xfrm>
          <a:prstGeom prst="rect">
            <a:avLst/>
          </a:prstGeom>
          <a:noFill/>
          <a:ln/>
        </p:spPr>
        <p:txBody>
          <a:bodyPr wrap="square" lIns="0" tIns="0" rIns="0" bIns="0" rtlCol="0" anchor="ctr"/>
          <a:lstStyle/>
          <a:p>
            <a:pPr marL="0" indent="0">
              <a:buNone/>
            </a:pPr>
            <a:r>
              <a:rPr lang="en-US" sz="850" b="1" kern="0" spc="150" dirty="0">
                <a:solidFill>
                  <a:srgbClr val="1E4D8C"/>
                </a:solidFill>
              </a:rPr>
              <a:t>TABLA 5  —  DISTRIBUCIÓN ESTACIONARIA DE LARGO PLAZO (CICLO FINANCIERO)</a:t>
            </a:r>
            <a:endParaRPr lang="en-US" sz="850" dirty="0"/>
          </a:p>
        </p:txBody>
      </p:sp>
      <p:graphicFrame>
        <p:nvGraphicFramePr>
          <p:cNvPr id="33" name="Table 2"/>
          <p:cNvGraphicFramePr>
            <a:graphicFrameLocks noGrp="1"/>
          </p:cNvGraphicFramePr>
          <p:nvPr>
            <p:extLst>
              <p:ext uri="{D42A27DB-BD31-4B8C-83A1-F6EECF244321}">
                <p14:modId xmlns:p14="http://schemas.microsoft.com/office/powerpoint/2010/main" val="1579011935"/>
              </p:ext>
            </p:extLst>
          </p:nvPr>
        </p:nvGraphicFramePr>
        <p:xfrm>
          <a:off x="6400800" y="3767328"/>
          <a:ext cx="5532120" cy="1463040"/>
        </p:xfrm>
        <a:graphic>
          <a:graphicData uri="http://schemas.openxmlformats.org/drawingml/2006/table">
            <a:tbl>
              <a:tblPr/>
              <a:tblGrid>
                <a:gridCol w="11887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tblGrid>
              <a:tr h="292608">
                <a:tc>
                  <a:txBody>
                    <a:bodyPr/>
                    <a:lstStyle/>
                    <a:p>
                      <a:pPr marL="0" indent="0">
                        <a:buNone/>
                      </a:pPr>
                      <a:r>
                        <a:rPr lang="en-US" sz="900" b="1" dirty="0">
                          <a:solidFill>
                            <a:srgbClr val="FFFFFF"/>
                          </a:solidFill>
                        </a:rPr>
                        <a:t>Régimen</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63461"/>
                    </a:solidFill>
                  </a:tcPr>
                </a:tc>
                <a:tc>
                  <a:txBody>
                    <a:bodyPr/>
                    <a:lstStyle/>
                    <a:p>
                      <a:pPr marL="0" indent="0">
                        <a:buNone/>
                      </a:pPr>
                      <a:r>
                        <a:rPr lang="en-US" sz="900" b="1" dirty="0">
                          <a:solidFill>
                            <a:srgbClr val="FFFFFF"/>
                          </a:solidFill>
                        </a:rPr>
                        <a:t>πᵢ (prob. LP)</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63461"/>
                    </a:solidFill>
                  </a:tcPr>
                </a:tc>
                <a:tc>
                  <a:txBody>
                    <a:bodyPr/>
                    <a:lstStyle/>
                    <a:p>
                      <a:pPr marL="0" indent="0">
                        <a:buNone/>
                      </a:pPr>
                      <a:r>
                        <a:rPr lang="en-US" sz="900" b="1" dirty="0">
                          <a:solidFill>
                            <a:srgbClr val="FFFFFF"/>
                          </a:solidFill>
                        </a:rPr>
                        <a:t>E[Rp|i] Sem.</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63461"/>
                    </a:solidFill>
                  </a:tcPr>
                </a:tc>
                <a:tc>
                  <a:txBody>
                    <a:bodyPr/>
                    <a:lstStyle/>
                    <a:p>
                      <a:pPr marL="0" indent="0">
                        <a:buNone/>
                      </a:pPr>
                      <a:r>
                        <a:rPr lang="en-US" sz="900" b="1" dirty="0">
                          <a:solidFill>
                            <a:srgbClr val="FFFFFF"/>
                          </a:solidFill>
                        </a:rPr>
                        <a:t>Contribución</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63461"/>
                    </a:solidFill>
                  </a:tcPr>
                </a:tc>
                <a:extLst>
                  <a:ext uri="{0D108BD9-81ED-4DB2-BD59-A6C34878D82A}">
                    <a16:rowId xmlns:a16="http://schemas.microsoft.com/office/drawing/2014/main" val="10000"/>
                  </a:ext>
                </a:extLst>
              </a:tr>
              <a:tr h="292608">
                <a:tc>
                  <a:txBody>
                    <a:bodyPr/>
                    <a:lstStyle/>
                    <a:p>
                      <a:pPr marL="0" indent="0">
                        <a:buNone/>
                      </a:pPr>
                      <a:r>
                        <a:rPr lang="en-US" sz="900" b="1" dirty="0">
                          <a:solidFill>
                            <a:srgbClr val="DC2626"/>
                          </a:solidFill>
                        </a:rPr>
                        <a:t>Recesión</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0F172A"/>
                          </a:solidFill>
                        </a:rPr>
                        <a:t>17.80%</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b="1" dirty="0">
                          <a:solidFill>
                            <a:srgbClr val="DC2626"/>
                          </a:solidFill>
                        </a:rPr>
                        <a:t>−11.51%</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DC2626"/>
                          </a:solidFill>
                        </a:rPr>
                        <a:t>−2.05%</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900" b="1" dirty="0">
                          <a:solidFill>
                            <a:srgbClr val="D97706"/>
                          </a:solidFill>
                        </a:rPr>
                        <a:t>Expansión</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900" dirty="0">
                          <a:solidFill>
                            <a:srgbClr val="0F172A"/>
                          </a:solidFill>
                        </a:rPr>
                        <a:t>57.93%</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900" dirty="0">
                          <a:solidFill>
                            <a:srgbClr val="0F172A"/>
                          </a:solidFill>
                        </a:rPr>
                        <a:t>+0.28%</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tc>
                  <a:txBody>
                    <a:bodyPr/>
                    <a:lstStyle/>
                    <a:p>
                      <a:pPr marL="0" indent="0">
                        <a:buNone/>
                      </a:pPr>
                      <a:r>
                        <a:rPr lang="en-US" sz="900" dirty="0">
                          <a:solidFill>
                            <a:srgbClr val="0F172A"/>
                          </a:solidFill>
                        </a:rPr>
                        <a:t>+0.16%</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2ECF8"/>
                    </a:solidFill>
                  </a:tcPr>
                </a:tc>
                <a:extLst>
                  <a:ext uri="{0D108BD9-81ED-4DB2-BD59-A6C34878D82A}">
                    <a16:rowId xmlns:a16="http://schemas.microsoft.com/office/drawing/2014/main" val="10002"/>
                  </a:ext>
                </a:extLst>
              </a:tr>
              <a:tr h="292608">
                <a:tc>
                  <a:txBody>
                    <a:bodyPr/>
                    <a:lstStyle/>
                    <a:p>
                      <a:pPr marL="0" indent="0">
                        <a:buNone/>
                      </a:pPr>
                      <a:r>
                        <a:rPr lang="en-US" sz="900" b="1" dirty="0">
                          <a:solidFill>
                            <a:srgbClr val="16A34A"/>
                          </a:solidFill>
                        </a:rPr>
                        <a:t>Auge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0F172A"/>
                          </a:solidFill>
                        </a:rPr>
                        <a:t>24.27%</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b="1" dirty="0">
                          <a:solidFill>
                            <a:srgbClr val="16A34A"/>
                          </a:solidFill>
                        </a:rPr>
                        <a:t>+12.05%</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16A34A"/>
                          </a:solidFill>
                        </a:rPr>
                        <a:t>+2.93%</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900" b="1" dirty="0">
                          <a:solidFill>
                            <a:srgbClr val="FFFFFF"/>
                          </a:solidFill>
                        </a:rPr>
                        <a:t>E[Rp] LP</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63461"/>
                    </a:solidFill>
                  </a:tcPr>
                </a:tc>
                <a:tc>
                  <a:txBody>
                    <a:bodyPr/>
                    <a:lstStyle/>
                    <a:p>
                      <a:pPr marL="0" indent="0">
                        <a:buNone/>
                      </a:pPr>
                      <a:r>
                        <a:rPr lang="en-US" sz="900" b="1" dirty="0">
                          <a:solidFill>
                            <a:srgbClr val="FFFFFF"/>
                          </a:solidFill>
                        </a:rPr>
                        <a:t>Σπᵢ = 1.00</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63461"/>
                    </a:solidFill>
                  </a:tcPr>
                </a:tc>
                <a:tc>
                  <a:txBody>
                    <a:bodyPr/>
                    <a:lstStyle/>
                    <a:p>
                      <a:pPr marL="0" indent="0">
                        <a:buNone/>
                      </a:pPr>
                      <a:r>
                        <a:rPr lang="en-US" sz="900" dirty="0">
                          <a:solidFill>
                            <a:srgbClr val="FFFFFF"/>
                          </a:solidFill>
                        </a:rPr>
                        <a: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63461"/>
                    </a:solidFill>
                  </a:tcPr>
                </a:tc>
                <a:tc>
                  <a:txBody>
                    <a:bodyPr/>
                    <a:lstStyle/>
                    <a:p>
                      <a:pPr marL="0" indent="0">
                        <a:buNone/>
                      </a:pPr>
                      <a:r>
                        <a:rPr lang="en-US" sz="900" b="1" dirty="0">
                          <a:solidFill>
                            <a:srgbClr val="16A34A"/>
                          </a:solidFill>
                        </a:rPr>
                        <a:t>+1.04% sem.</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63461"/>
                    </a:solidFill>
                  </a:tcPr>
                </a:tc>
                <a:extLst>
                  <a:ext uri="{0D108BD9-81ED-4DB2-BD59-A6C34878D82A}">
                    <a16:rowId xmlns:a16="http://schemas.microsoft.com/office/drawing/2014/main" val="10004"/>
                  </a:ext>
                </a:extLst>
              </a:tr>
            </a:tbl>
          </a:graphicData>
        </a:graphic>
      </p:graphicFrame>
      <p:sp>
        <p:nvSpPr>
          <p:cNvPr id="34" name="Text 29"/>
          <p:cNvSpPr/>
          <p:nvPr/>
        </p:nvSpPr>
        <p:spPr>
          <a:xfrm>
            <a:off x="6400800" y="5303520"/>
            <a:ext cx="5532120" cy="347472"/>
          </a:xfrm>
          <a:prstGeom prst="rect">
            <a:avLst/>
          </a:prstGeom>
          <a:noFill/>
          <a:ln/>
        </p:spPr>
        <p:txBody>
          <a:bodyPr wrap="square" lIns="0" tIns="0" rIns="0" bIns="0" rtlCol="0" anchor="ctr"/>
          <a:lstStyle/>
          <a:p>
            <a:pPr marL="0" indent="0">
              <a:lnSpc>
                <a:spcPct val="110000"/>
              </a:lnSpc>
              <a:buNone/>
            </a:pPr>
            <a:r>
              <a:rPr lang="en-US" sz="700" i="1" dirty="0">
                <a:solidFill>
                  <a:srgbClr val="94A3B8"/>
                </a:solidFill>
              </a:rPr>
              <a:t>Nota. Distribución estacionaria π del ciclo financiero (BIS CTSNF) via Markov-Switching MS-MH(3). Rendimientos condicionales del portafolio de mínima varianza Markowitz. Fuentes: BIS (https://www.bis.org/statistics/totcredit.htm); FRED (https://fred.stlouisfed.org/series/GDPC1). Ref.: Hamilton (1989); Christiano &amp; Fitzgerald (2003).</a:t>
            </a:r>
            <a:endParaRPr lang="en-US" sz="700" dirty="0"/>
          </a:p>
        </p:txBody>
      </p:sp>
      <p:sp>
        <p:nvSpPr>
          <p:cNvPr id="35" name="Shape 30"/>
          <p:cNvSpPr/>
          <p:nvPr/>
        </p:nvSpPr>
        <p:spPr>
          <a:xfrm>
            <a:off x="228600" y="5715000"/>
            <a:ext cx="11704320" cy="502920"/>
          </a:xfrm>
          <a:prstGeom prst="rect">
            <a:avLst/>
          </a:prstGeom>
          <a:solidFill>
            <a:srgbClr val="0D2240"/>
          </a:solidFill>
          <a:ln w="12700">
            <a:solidFill>
              <a:srgbClr val="0D2240"/>
            </a:solidFill>
            <a:prstDash val="solid"/>
          </a:ln>
        </p:spPr>
      </p:sp>
      <p:sp>
        <p:nvSpPr>
          <p:cNvPr id="36" name="Text 31"/>
          <p:cNvSpPr/>
          <p:nvPr/>
        </p:nvSpPr>
        <p:spPr>
          <a:xfrm>
            <a:off x="320040" y="5715000"/>
            <a:ext cx="11521440" cy="502920"/>
          </a:xfrm>
          <a:prstGeom prst="rect">
            <a:avLst/>
          </a:prstGeom>
          <a:noFill/>
          <a:ln/>
        </p:spPr>
        <p:txBody>
          <a:bodyPr wrap="square" lIns="0" tIns="0" rIns="0" bIns="0" rtlCol="0" anchor="ctr"/>
          <a:lstStyle/>
          <a:p>
            <a:pPr marL="0" indent="0">
              <a:lnSpc>
                <a:spcPct val="115000"/>
              </a:lnSpc>
              <a:buNone/>
            </a:pPr>
            <a:r>
              <a:rPr lang="en-US" sz="850" dirty="0">
                <a:solidFill>
                  <a:srgbClr val="FFFFFF"/>
                </a:solidFill>
              </a:rPr>
              <a:t>Interpretación: El portafolio de mínima varianza concentra el 79.6% en MSFT+GOOGL (activos de menor riesgo idioisncratico) y excluye META y NVDA por su alta varianza individual. En la fase actual de auge del ciclo financiero (CTSNF), el portafolio genera un E[Rp] semanal de +12.05% (σ = 4.67%), la mejor relación riesgo-retorno del modelo. En un escenario de recesión, la señal es EVITAR: el portafolio caería −11.51% semanal.</a:t>
            </a:r>
            <a:endParaRPr lang="en-US" sz="850" dirty="0"/>
          </a:p>
        </p:txBody>
      </p:sp>
      <p:sp>
        <p:nvSpPr>
          <p:cNvPr id="37" name="Shape 32"/>
          <p:cNvSpPr/>
          <p:nvPr/>
        </p:nvSpPr>
        <p:spPr>
          <a:xfrm>
            <a:off x="0" y="6601968"/>
            <a:ext cx="12161520" cy="256032"/>
          </a:xfrm>
          <a:prstGeom prst="rect">
            <a:avLst/>
          </a:prstGeom>
          <a:solidFill>
            <a:srgbClr val="0D2240"/>
          </a:solidFill>
          <a:ln w="12700">
            <a:solidFill>
              <a:srgbClr val="0D2240"/>
            </a:solidFill>
            <a:prstDash val="solid"/>
          </a:ln>
        </p:spPr>
      </p:sp>
      <p:sp>
        <p:nvSpPr>
          <p:cNvPr id="38" name="Text 33"/>
          <p:cNvSpPr/>
          <p:nvPr/>
        </p:nvSpPr>
        <p:spPr>
          <a:xfrm>
            <a:off x="228600" y="6601968"/>
            <a:ext cx="7315200" cy="256032"/>
          </a:xfrm>
          <a:prstGeom prst="rect">
            <a:avLst/>
          </a:prstGeom>
          <a:noFill/>
          <a:ln/>
        </p:spPr>
        <p:txBody>
          <a:bodyPr wrap="square" lIns="0" tIns="0" rIns="0" bIns="0" rtlCol="0" anchor="ctr"/>
          <a:lstStyle/>
          <a:p>
            <a:pPr marL="0" indent="0">
              <a:buNone/>
            </a:pPr>
            <a:r>
              <a:rPr lang="en-US" sz="800" dirty="0">
                <a:solidFill>
                  <a:srgbClr val="C8D9F0"/>
                </a:solidFill>
              </a:rPr>
              <a:t>MACROCONSULT  ·  Sistema de Información de Mercados</a:t>
            </a:r>
            <a:endParaRPr lang="en-US" sz="800" dirty="0"/>
          </a:p>
        </p:txBody>
      </p:sp>
      <p:sp>
        <p:nvSpPr>
          <p:cNvPr id="39" name="Text 34"/>
          <p:cNvSpPr/>
          <p:nvPr/>
        </p:nvSpPr>
        <p:spPr>
          <a:xfrm>
            <a:off x="11247120" y="6601968"/>
            <a:ext cx="685800" cy="256032"/>
          </a:xfrm>
          <a:prstGeom prst="rect">
            <a:avLst/>
          </a:prstGeom>
          <a:noFill/>
          <a:ln/>
        </p:spPr>
        <p:txBody>
          <a:bodyPr wrap="square" lIns="0" tIns="0" rIns="0" bIns="0" rtlCol="0" anchor="ctr"/>
          <a:lstStyle/>
          <a:p>
            <a:pPr marL="0" indent="0" algn="r">
              <a:buNone/>
            </a:pPr>
            <a:r>
              <a:rPr lang="en-US" sz="800" dirty="0">
                <a:solidFill>
                  <a:srgbClr val="C8D9F0"/>
                </a:solidFill>
              </a:rPr>
              <a:t>4 / 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0D2240"/>
          </a:solidFill>
          <a:ln w="12700">
            <a:solidFill>
              <a:srgbClr val="0D2240"/>
            </a:solidFill>
            <a:prstDash val="solid"/>
          </a:ln>
        </p:spPr>
      </p:sp>
      <p:sp>
        <p:nvSpPr>
          <p:cNvPr id="3" name="Text 1"/>
          <p:cNvSpPr/>
          <p:nvPr/>
        </p:nvSpPr>
        <p:spPr>
          <a:xfrm>
            <a:off x="182880" y="0"/>
            <a:ext cx="411480" cy="502920"/>
          </a:xfrm>
          <a:prstGeom prst="rect">
            <a:avLst/>
          </a:prstGeom>
          <a:noFill/>
          <a:ln/>
        </p:spPr>
        <p:txBody>
          <a:bodyPr wrap="square" lIns="0" tIns="0" rIns="0" bIns="0" rtlCol="0" anchor="ctr"/>
          <a:lstStyle/>
          <a:p>
            <a:pPr marL="0" indent="0">
              <a:buNone/>
            </a:pPr>
            <a:r>
              <a:rPr lang="en-US" sz="900" b="1" dirty="0">
                <a:solidFill>
                  <a:srgbClr val="94A3B8"/>
                </a:solidFill>
              </a:rPr>
              <a:t>05</a:t>
            </a:r>
            <a:endParaRPr lang="en-US" sz="900" dirty="0"/>
          </a:p>
        </p:txBody>
      </p:sp>
      <p:sp>
        <p:nvSpPr>
          <p:cNvPr id="4" name="Text 2"/>
          <p:cNvSpPr/>
          <p:nvPr/>
        </p:nvSpPr>
        <p:spPr>
          <a:xfrm>
            <a:off x="594360" y="0"/>
            <a:ext cx="11338560" cy="502920"/>
          </a:xfrm>
          <a:prstGeom prst="rect">
            <a:avLst/>
          </a:prstGeom>
          <a:noFill/>
          <a:ln/>
        </p:spPr>
        <p:txBody>
          <a:bodyPr wrap="square" lIns="0" tIns="0" rIns="0" bIns="0" rtlCol="0" anchor="ctr"/>
          <a:lstStyle/>
          <a:p>
            <a:pPr marL="0" indent="0">
              <a:buNone/>
            </a:pPr>
            <a:r>
              <a:rPr lang="en-US" sz="1300" b="1" dirty="0">
                <a:solidFill>
                  <a:srgbClr val="FFFFFF"/>
                </a:solidFill>
              </a:rPr>
              <a:t>Posicionamiento Competitivo  ·  Modelo de las 5 Fuerzas de Porter  ·  Sector IA</a:t>
            </a:r>
            <a:endParaRPr lang="en-US" sz="1300" dirty="0"/>
          </a:p>
        </p:txBody>
      </p:sp>
      <p:sp>
        <p:nvSpPr>
          <p:cNvPr id="5" name="Shape 3"/>
          <p:cNvSpPr/>
          <p:nvPr/>
        </p:nvSpPr>
        <p:spPr>
          <a:xfrm>
            <a:off x="228600" y="594360"/>
            <a:ext cx="11704320" cy="36576"/>
          </a:xfrm>
          <a:prstGeom prst="rect">
            <a:avLst/>
          </a:prstGeom>
          <a:solidFill>
            <a:srgbClr val="3B82C4"/>
          </a:solidFill>
          <a:ln w="12700">
            <a:solidFill>
              <a:srgbClr val="3B82C4"/>
            </a:solidFill>
            <a:prstDash val="solid"/>
          </a:ln>
        </p:spPr>
      </p:sp>
      <p:sp>
        <p:nvSpPr>
          <p:cNvPr id="6" name="Text 4"/>
          <p:cNvSpPr/>
          <p:nvPr/>
        </p:nvSpPr>
        <p:spPr>
          <a:xfrm>
            <a:off x="228600" y="658368"/>
            <a:ext cx="11704320" cy="256032"/>
          </a:xfrm>
          <a:prstGeom prst="rect">
            <a:avLst/>
          </a:prstGeom>
          <a:noFill/>
          <a:ln/>
        </p:spPr>
        <p:txBody>
          <a:bodyPr wrap="square" lIns="0" tIns="0" rIns="0" bIns="0" rtlCol="0" anchor="ctr"/>
          <a:lstStyle/>
          <a:p>
            <a:pPr marL="0" indent="0">
              <a:buNone/>
            </a:pPr>
            <a:r>
              <a:rPr lang="en-US" sz="850" b="1" kern="0" spc="150" dirty="0">
                <a:solidFill>
                  <a:srgbClr val="1E4D8C"/>
                </a:solidFill>
              </a:rPr>
              <a:t>TABLA 6  —  ANÁLISIS DE LAS 5 FUERZAS DE PORTER POR EMPRESA (EVALUACIÓN CUALITATIVA — 2026)</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28600" y="886968"/>
          <a:ext cx="11704322" cy="2560320"/>
        </p:xfrm>
        <a:graphic>
          <a:graphicData uri="http://schemas.openxmlformats.org/drawingml/2006/table">
            <a:tbl>
              <a:tblPr/>
              <a:tblGrid>
                <a:gridCol w="1672046">
                  <a:extLst>
                    <a:ext uri="{9D8B030D-6E8A-4147-A177-3AD203B41FA5}">
                      <a16:colId xmlns:a16="http://schemas.microsoft.com/office/drawing/2014/main" val="20000"/>
                    </a:ext>
                  </a:extLst>
                </a:gridCol>
                <a:gridCol w="1672046">
                  <a:extLst>
                    <a:ext uri="{9D8B030D-6E8A-4147-A177-3AD203B41FA5}">
                      <a16:colId xmlns:a16="http://schemas.microsoft.com/office/drawing/2014/main" val="20001"/>
                    </a:ext>
                  </a:extLst>
                </a:gridCol>
                <a:gridCol w="1672046">
                  <a:extLst>
                    <a:ext uri="{9D8B030D-6E8A-4147-A177-3AD203B41FA5}">
                      <a16:colId xmlns:a16="http://schemas.microsoft.com/office/drawing/2014/main" val="20002"/>
                    </a:ext>
                  </a:extLst>
                </a:gridCol>
                <a:gridCol w="1672046">
                  <a:extLst>
                    <a:ext uri="{9D8B030D-6E8A-4147-A177-3AD203B41FA5}">
                      <a16:colId xmlns:a16="http://schemas.microsoft.com/office/drawing/2014/main" val="20003"/>
                    </a:ext>
                  </a:extLst>
                </a:gridCol>
                <a:gridCol w="1672046">
                  <a:extLst>
                    <a:ext uri="{9D8B030D-6E8A-4147-A177-3AD203B41FA5}">
                      <a16:colId xmlns:a16="http://schemas.microsoft.com/office/drawing/2014/main" val="20004"/>
                    </a:ext>
                  </a:extLst>
                </a:gridCol>
                <a:gridCol w="1672046">
                  <a:extLst>
                    <a:ext uri="{9D8B030D-6E8A-4147-A177-3AD203B41FA5}">
                      <a16:colId xmlns:a16="http://schemas.microsoft.com/office/drawing/2014/main" val="20005"/>
                    </a:ext>
                  </a:extLst>
                </a:gridCol>
                <a:gridCol w="1672046">
                  <a:extLst>
                    <a:ext uri="{9D8B030D-6E8A-4147-A177-3AD203B41FA5}">
                      <a16:colId xmlns:a16="http://schemas.microsoft.com/office/drawing/2014/main" val="20006"/>
                    </a:ext>
                  </a:extLst>
                </a:gridCol>
              </a:tblGrid>
              <a:tr h="365760">
                <a:tc>
                  <a:txBody>
                    <a:bodyPr/>
                    <a:lstStyle/>
                    <a:p>
                      <a:pPr marL="0" indent="0">
                        <a:buNone/>
                      </a:pPr>
                      <a:r>
                        <a:rPr lang="en-US" sz="850" b="1" dirty="0">
                          <a:solidFill>
                            <a:srgbClr val="FFFFFF"/>
                          </a:solidFill>
                        </a:rPr>
                        <a:t>Empresa / Fuerza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lgn="ctr">
                        <a:buNone/>
                      </a:pPr>
                      <a:r>
                        <a:rPr lang="en-US" sz="850" b="1" dirty="0">
                          <a:solidFill>
                            <a:srgbClr val="FFFFFF"/>
                          </a:solidFill>
                        </a:rPr>
                        <a:t>Rivalidad</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lgn="ctr">
                        <a:buNone/>
                      </a:pPr>
                      <a:r>
                        <a:rPr lang="en-US" sz="850" b="1" dirty="0">
                          <a:solidFill>
                            <a:srgbClr val="FFFFFF"/>
                          </a:solidFill>
                        </a:rPr>
                        <a:t>Nuevos entrantes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lgn="ctr">
                        <a:buNone/>
                      </a:pPr>
                      <a:r>
                        <a:rPr lang="en-US" sz="850" b="1" dirty="0">
                          <a:solidFill>
                            <a:srgbClr val="FFFFFF"/>
                          </a:solidFill>
                        </a:rPr>
                        <a:t>Poder proveedores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lgn="ctr">
                        <a:buNone/>
                      </a:pPr>
                      <a:r>
                        <a:rPr lang="en-US" sz="850" b="1" dirty="0">
                          <a:solidFill>
                            <a:srgbClr val="FFFFFF"/>
                          </a:solidFill>
                        </a:rPr>
                        <a:t>Poder compradores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lgn="ctr">
                        <a:buNone/>
                      </a:pPr>
                      <a:r>
                        <a:rPr lang="en-US" sz="850" b="1" dirty="0">
                          <a:solidFill>
                            <a:srgbClr val="FFFFFF"/>
                          </a:solidFill>
                        </a:rPr>
                        <a:t>Sustitutos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tc>
                  <a:txBody>
                    <a:bodyPr/>
                    <a:lstStyle/>
                    <a:p>
                      <a:pPr marL="0" indent="0">
                        <a:buNone/>
                      </a:pPr>
                      <a:r>
                        <a:rPr lang="en-US" sz="850" b="1" dirty="0">
                          <a:solidFill>
                            <a:srgbClr val="FFFFFF"/>
                          </a:solidFill>
                        </a:rPr>
                        <a:t>Valoración global</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240"/>
                    </a:solidFill>
                  </a:tcPr>
                </a:tc>
                <a:extLst>
                  <a:ext uri="{0D108BD9-81ED-4DB2-BD59-A6C34878D82A}">
                    <a16:rowId xmlns:a16="http://schemas.microsoft.com/office/drawing/2014/main" val="10000"/>
                  </a:ext>
                </a:extLst>
              </a:tr>
              <a:tr h="365760">
                <a:tc>
                  <a:txBody>
                    <a:bodyPr/>
                    <a:lstStyle/>
                    <a:p>
                      <a:pPr marL="0" indent="0">
                        <a:buNone/>
                      </a:pPr>
                      <a:r>
                        <a:rPr lang="en-US" sz="950" b="1" dirty="0">
                          <a:solidFill>
                            <a:srgbClr val="1E4D8C"/>
                          </a:solidFill>
                        </a:rPr>
                        <a:t>NVDA</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lgn="ctr">
                        <a:buNone/>
                      </a:pPr>
                      <a:r>
                        <a:rPr lang="en-US" sz="850" b="1" dirty="0">
                          <a:solidFill>
                            <a:srgbClr val="16A34A"/>
                          </a:solidFill>
                        </a:rPr>
                        <a:t>BAJA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lgn="ctr">
                        <a:buNone/>
                      </a:pPr>
                      <a:r>
                        <a:rPr lang="en-US" sz="850" b="1" dirty="0">
                          <a:solidFill>
                            <a:srgbClr val="16A34A"/>
                          </a:solidFill>
                        </a:rPr>
                        <a:t>BAJA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lgn="ctr">
                        <a:buNone/>
                      </a:pPr>
                      <a:r>
                        <a:rPr lang="en-US" sz="850" b="1" dirty="0">
                          <a:solidFill>
                            <a:srgbClr val="D97706"/>
                          </a:solidFill>
                        </a:rPr>
                        <a:t>MEDIA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lgn="ctr">
                        <a:buNone/>
                      </a:pPr>
                      <a:r>
                        <a:rPr lang="en-US" sz="850" b="1" dirty="0">
                          <a:solidFill>
                            <a:srgbClr val="16A34A"/>
                          </a:solidFill>
                        </a:rPr>
                        <a:t>BAJA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lgn="ctr">
                        <a:buNone/>
                      </a:pPr>
                      <a:r>
                        <a:rPr lang="en-US" sz="850" b="1" dirty="0">
                          <a:solidFill>
                            <a:srgbClr val="16A34A"/>
                          </a:solidFill>
                        </a:rPr>
                        <a:t>BAJA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buNone/>
                      </a:pPr>
                      <a:r>
                        <a:rPr lang="en-US" sz="850" b="1" dirty="0">
                          <a:solidFill>
                            <a:srgbClr val="16A34A"/>
                          </a:solidFill>
                        </a:rPr>
                        <a:t>MUY DEFENSIBLE</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extLst>
                  <a:ext uri="{0D108BD9-81ED-4DB2-BD59-A6C34878D82A}">
                    <a16:rowId xmlns:a16="http://schemas.microsoft.com/office/drawing/2014/main" val="10001"/>
                  </a:ext>
                </a:extLst>
              </a:tr>
              <a:tr h="365760">
                <a:tc>
                  <a:txBody>
                    <a:bodyPr/>
                    <a:lstStyle/>
                    <a:p>
                      <a:pPr marL="0" indent="0">
                        <a:buNone/>
                      </a:pPr>
                      <a:r>
                        <a:rPr lang="en-US" sz="950" b="1" dirty="0">
                          <a:solidFill>
                            <a:srgbClr val="1E4D8C"/>
                          </a:solidFill>
                        </a:rPr>
                        <a:t>MSFT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97706"/>
                          </a:solidFill>
                        </a:rPr>
                        <a:t>MEDIA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6A34A"/>
                          </a:solidFill>
                        </a:rPr>
                        <a:t>BAJA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6A34A"/>
                          </a:solidFill>
                        </a:rPr>
                        <a:t>BAJA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6A34A"/>
                          </a:solidFill>
                        </a:rPr>
                        <a:t>BAJA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97706"/>
                          </a:solidFill>
                        </a:rPr>
                        <a:t>MEDIA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b="1" dirty="0">
                          <a:solidFill>
                            <a:srgbClr val="16A34A"/>
                          </a:solidFill>
                        </a:rPr>
                        <a:t>SÓLIDO</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950" b="1" dirty="0">
                          <a:solidFill>
                            <a:srgbClr val="1E4D8C"/>
                          </a:solidFill>
                        </a:rPr>
                        <a:t>GOOGL</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lgn="ctr">
                        <a:buNone/>
                      </a:pPr>
                      <a:r>
                        <a:rPr lang="en-US" sz="850" b="1" dirty="0">
                          <a:solidFill>
                            <a:srgbClr val="D97706"/>
                          </a:solidFill>
                        </a:rPr>
                        <a:t>MEDIA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lgn="ctr">
                        <a:buNone/>
                      </a:pPr>
                      <a:r>
                        <a:rPr lang="en-US" sz="850" b="1" dirty="0">
                          <a:solidFill>
                            <a:srgbClr val="16A34A"/>
                          </a:solidFill>
                        </a:rPr>
                        <a:t>BAJA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lgn="ctr">
                        <a:buNone/>
                      </a:pPr>
                      <a:r>
                        <a:rPr lang="en-US" sz="850" b="1" dirty="0">
                          <a:solidFill>
                            <a:srgbClr val="16A34A"/>
                          </a:solidFill>
                        </a:rPr>
                        <a:t>BAJA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lgn="ctr">
                        <a:buNone/>
                      </a:pPr>
                      <a:r>
                        <a:rPr lang="en-US" sz="850" b="1" dirty="0">
                          <a:solidFill>
                            <a:srgbClr val="D97706"/>
                          </a:solidFill>
                        </a:rPr>
                        <a:t>MEDIA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lgn="ctr">
                        <a:buNone/>
                      </a:pPr>
                      <a:r>
                        <a:rPr lang="en-US" sz="850" b="1" dirty="0">
                          <a:solidFill>
                            <a:srgbClr val="D97706"/>
                          </a:solidFill>
                        </a:rPr>
                        <a:t>MEDIA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buNone/>
                      </a:pPr>
                      <a:r>
                        <a:rPr lang="en-US" sz="850" b="1" dirty="0">
                          <a:solidFill>
                            <a:srgbClr val="16A34A"/>
                          </a:solidFill>
                        </a:rPr>
                        <a:t>SÓLIDO</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extLst>
                  <a:ext uri="{0D108BD9-81ED-4DB2-BD59-A6C34878D82A}">
                    <a16:rowId xmlns:a16="http://schemas.microsoft.com/office/drawing/2014/main" val="10003"/>
                  </a:ext>
                </a:extLst>
              </a:tr>
              <a:tr h="365760">
                <a:tc>
                  <a:txBody>
                    <a:bodyPr/>
                    <a:lstStyle/>
                    <a:p>
                      <a:pPr marL="0" indent="0">
                        <a:buNone/>
                      </a:pPr>
                      <a:r>
                        <a:rPr lang="en-US" sz="950" b="1" dirty="0">
                          <a:solidFill>
                            <a:srgbClr val="1E4D8C"/>
                          </a:solidFill>
                        </a:rPr>
                        <a:t>META</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C2626"/>
                          </a:solidFill>
                        </a:rPr>
                        <a:t>ALTA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97706"/>
                          </a:solidFill>
                        </a:rPr>
                        <a:t>MEDIA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6A34A"/>
                          </a:solidFill>
                        </a:rPr>
                        <a:t>BAJA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C2626"/>
                          </a:solidFill>
                        </a:rPr>
                        <a:t>ALTA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C2626"/>
                          </a:solidFill>
                        </a:rPr>
                        <a:t>ALTA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b="1" dirty="0">
                          <a:solidFill>
                            <a:srgbClr val="D97706"/>
                          </a:solidFill>
                        </a:rPr>
                        <a:t>PRESIONADO</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950" b="1" dirty="0">
                          <a:solidFill>
                            <a:srgbClr val="1E4D8C"/>
                          </a:solidFill>
                        </a:rPr>
                        <a:t>TSM</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lgn="ctr">
                        <a:buNone/>
                      </a:pPr>
                      <a:r>
                        <a:rPr lang="en-US" sz="850" b="1" dirty="0">
                          <a:solidFill>
                            <a:srgbClr val="16A34A"/>
                          </a:solidFill>
                        </a:rPr>
                        <a:t>BAJA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lgn="ctr">
                        <a:buNone/>
                      </a:pPr>
                      <a:r>
                        <a:rPr lang="en-US" sz="850" b="1" dirty="0">
                          <a:solidFill>
                            <a:srgbClr val="16A34A"/>
                          </a:solidFill>
                        </a:rPr>
                        <a:t>BAJA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lgn="ctr">
                        <a:buNone/>
                      </a:pPr>
                      <a:r>
                        <a:rPr lang="en-US" sz="850" b="1" dirty="0">
                          <a:solidFill>
                            <a:srgbClr val="DC2626"/>
                          </a:solidFill>
                        </a:rPr>
                        <a:t>ALTA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lgn="ctr">
                        <a:buNone/>
                      </a:pPr>
                      <a:r>
                        <a:rPr lang="en-US" sz="850" b="1" dirty="0">
                          <a:solidFill>
                            <a:srgbClr val="D97706"/>
                          </a:solidFill>
                        </a:rPr>
                        <a:t>MEDIA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lgn="ctr">
                        <a:buNone/>
                      </a:pPr>
                      <a:r>
                        <a:rPr lang="en-US" sz="850" b="1" dirty="0">
                          <a:solidFill>
                            <a:srgbClr val="16A34A"/>
                          </a:solidFill>
                        </a:rPr>
                        <a:t>BAJA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tc>
                  <a:txBody>
                    <a:bodyPr/>
                    <a:lstStyle/>
                    <a:p>
                      <a:pPr marL="0" indent="0">
                        <a:buNone/>
                      </a:pPr>
                      <a:r>
                        <a:rPr lang="en-US" sz="850" b="1" dirty="0">
                          <a:solidFill>
                            <a:srgbClr val="16A34A"/>
                          </a:solidFill>
                        </a:rPr>
                        <a:t>DOMINANTE</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2FB"/>
                    </a:solidFill>
                  </a:tcPr>
                </a:tc>
                <a:extLst>
                  <a:ext uri="{0D108BD9-81ED-4DB2-BD59-A6C34878D82A}">
                    <a16:rowId xmlns:a16="http://schemas.microsoft.com/office/drawing/2014/main" val="10005"/>
                  </a:ext>
                </a:extLst>
              </a:tr>
              <a:tr h="365760">
                <a:tc>
                  <a:txBody>
                    <a:bodyPr/>
                    <a:lstStyle/>
                    <a:p>
                      <a:pPr marL="0" indent="0">
                        <a:buNone/>
                      </a:pPr>
                      <a:r>
                        <a:rPr lang="en-US" sz="950" b="1" dirty="0">
                          <a:solidFill>
                            <a:srgbClr val="1E4D8C"/>
                          </a:solidFill>
                        </a:rPr>
                        <a:t>CRM</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C2626"/>
                          </a:solidFill>
                        </a:rPr>
                        <a:t>ALTA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97706"/>
                          </a:solidFill>
                        </a:rPr>
                        <a:t>MEDIA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97706"/>
                          </a:solidFill>
                        </a:rPr>
                        <a:t>MEDIA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C2626"/>
                          </a:solidFill>
                        </a:rPr>
                        <a:t>ALTA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C2626"/>
                          </a:solidFill>
                        </a:rPr>
                        <a:t>ALTA</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850" b="1" dirty="0">
                          <a:solidFill>
                            <a:srgbClr val="DC2626"/>
                          </a:solidFill>
                        </a:rPr>
                        <a:t>VULNERABLE</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Shape 5"/>
          <p:cNvSpPr/>
          <p:nvPr/>
        </p:nvSpPr>
        <p:spPr>
          <a:xfrm>
            <a:off x="228600" y="3547872"/>
            <a:ext cx="11704320" cy="36576"/>
          </a:xfrm>
          <a:prstGeom prst="rect">
            <a:avLst/>
          </a:prstGeom>
          <a:solidFill>
            <a:srgbClr val="3B82C4"/>
          </a:solidFill>
          <a:ln w="12700">
            <a:solidFill>
              <a:srgbClr val="3B82C4"/>
            </a:solidFill>
            <a:prstDash val="solid"/>
          </a:ln>
        </p:spPr>
      </p:sp>
      <p:sp>
        <p:nvSpPr>
          <p:cNvPr id="9" name="Text 6"/>
          <p:cNvSpPr/>
          <p:nvPr/>
        </p:nvSpPr>
        <p:spPr>
          <a:xfrm>
            <a:off x="228600" y="3611880"/>
            <a:ext cx="11704320" cy="256032"/>
          </a:xfrm>
          <a:prstGeom prst="rect">
            <a:avLst/>
          </a:prstGeom>
          <a:noFill/>
          <a:ln/>
        </p:spPr>
        <p:txBody>
          <a:bodyPr wrap="square" lIns="0" tIns="0" rIns="0" bIns="0" rtlCol="0" anchor="ctr"/>
          <a:lstStyle/>
          <a:p>
            <a:pPr marL="0" indent="0">
              <a:buNone/>
            </a:pPr>
            <a:r>
              <a:rPr lang="en-US" sz="850" b="1" kern="0" spc="150" dirty="0">
                <a:solidFill>
                  <a:srgbClr val="1E4D8C"/>
                </a:solidFill>
              </a:rPr>
              <a:t>ANÁLISIS ESTRATÉGICO DIFERENCIAL — IMPLICANCIAS DE INVERSIÓN</a:t>
            </a:r>
            <a:endParaRPr lang="en-US" sz="850" dirty="0"/>
          </a:p>
        </p:txBody>
      </p:sp>
      <p:sp>
        <p:nvSpPr>
          <p:cNvPr id="10" name="Shape 7"/>
          <p:cNvSpPr/>
          <p:nvPr/>
        </p:nvSpPr>
        <p:spPr>
          <a:xfrm>
            <a:off x="228600" y="3776472"/>
            <a:ext cx="3749040" cy="1508760"/>
          </a:xfrm>
          <a:prstGeom prst="rect">
            <a:avLst/>
          </a:prstGeom>
          <a:solidFill>
            <a:srgbClr val="DCFCE7"/>
          </a:solidFill>
          <a:ln w="9525">
            <a:solidFill>
              <a:srgbClr val="16A34A"/>
            </a:solidFill>
            <a:prstDash val="solid"/>
          </a:ln>
        </p:spPr>
      </p:sp>
      <p:sp>
        <p:nvSpPr>
          <p:cNvPr id="11" name="Shape 8"/>
          <p:cNvSpPr/>
          <p:nvPr/>
        </p:nvSpPr>
        <p:spPr>
          <a:xfrm>
            <a:off x="228600" y="3776472"/>
            <a:ext cx="64008" cy="1508760"/>
          </a:xfrm>
          <a:prstGeom prst="rect">
            <a:avLst/>
          </a:prstGeom>
          <a:solidFill>
            <a:srgbClr val="16A34A"/>
          </a:solidFill>
          <a:ln w="12700">
            <a:solidFill>
              <a:srgbClr val="16A34A"/>
            </a:solidFill>
            <a:prstDash val="solid"/>
          </a:ln>
        </p:spPr>
      </p:sp>
      <p:sp>
        <p:nvSpPr>
          <p:cNvPr id="12" name="Text 9"/>
          <p:cNvSpPr/>
          <p:nvPr/>
        </p:nvSpPr>
        <p:spPr>
          <a:xfrm>
            <a:off x="365760" y="3813048"/>
            <a:ext cx="1097280" cy="274320"/>
          </a:xfrm>
          <a:prstGeom prst="rect">
            <a:avLst/>
          </a:prstGeom>
          <a:noFill/>
          <a:ln/>
        </p:spPr>
        <p:txBody>
          <a:bodyPr wrap="square" lIns="0" tIns="0" rIns="0" bIns="0" rtlCol="0" anchor="ctr"/>
          <a:lstStyle/>
          <a:p>
            <a:pPr marL="0" indent="0">
              <a:buNone/>
            </a:pPr>
            <a:r>
              <a:rPr lang="en-US" sz="1300" b="1" dirty="0">
                <a:solidFill>
                  <a:srgbClr val="16A34A"/>
                </a:solidFill>
              </a:rPr>
              <a:t>NVDA</a:t>
            </a:r>
            <a:endParaRPr lang="en-US" sz="1300" dirty="0"/>
          </a:p>
        </p:txBody>
      </p:sp>
      <p:sp>
        <p:nvSpPr>
          <p:cNvPr id="13" name="Text 10"/>
          <p:cNvSpPr/>
          <p:nvPr/>
        </p:nvSpPr>
        <p:spPr>
          <a:xfrm>
            <a:off x="365760" y="4123944"/>
            <a:ext cx="3520440" cy="1115568"/>
          </a:xfrm>
          <a:prstGeom prst="rect">
            <a:avLst/>
          </a:prstGeom>
          <a:noFill/>
          <a:ln/>
        </p:spPr>
        <p:txBody>
          <a:bodyPr wrap="square" lIns="0" tIns="0" rIns="0" bIns="0" rtlCol="0" anchor="ctr"/>
          <a:lstStyle/>
          <a:p>
            <a:pPr marL="0" indent="0">
              <a:lnSpc>
                <a:spcPct val="115000"/>
              </a:lnSpc>
              <a:buNone/>
            </a:pPr>
            <a:r>
              <a:rPr lang="en-US" sz="800" dirty="0">
                <a:solidFill>
                  <a:srgbClr val="0F172A"/>
                </a:solidFill>
              </a:rPr>
              <a:t>Ecosistema CUDA con más de 4 millones de desarrolladores activos genera barreras de entrada estructurales. La transición a arquitectura Blackwell profundiza la dependencia del ecosistema. Riesgo: restricciones exportación chips a China (sanciones EEUU).</a:t>
            </a:r>
            <a:endParaRPr lang="en-US" sz="800" dirty="0"/>
          </a:p>
        </p:txBody>
      </p:sp>
      <p:sp>
        <p:nvSpPr>
          <p:cNvPr id="14" name="Shape 11"/>
          <p:cNvSpPr/>
          <p:nvPr/>
        </p:nvSpPr>
        <p:spPr>
          <a:xfrm>
            <a:off x="4142232" y="3776472"/>
            <a:ext cx="3749040" cy="1508760"/>
          </a:xfrm>
          <a:prstGeom prst="rect">
            <a:avLst/>
          </a:prstGeom>
          <a:solidFill>
            <a:srgbClr val="EAF2FB"/>
          </a:solidFill>
          <a:ln w="9525">
            <a:solidFill>
              <a:srgbClr val="2563AE"/>
            </a:solidFill>
            <a:prstDash val="solid"/>
          </a:ln>
        </p:spPr>
      </p:sp>
      <p:sp>
        <p:nvSpPr>
          <p:cNvPr id="15" name="Shape 12"/>
          <p:cNvSpPr/>
          <p:nvPr/>
        </p:nvSpPr>
        <p:spPr>
          <a:xfrm>
            <a:off x="4142232" y="3776472"/>
            <a:ext cx="64008" cy="1508760"/>
          </a:xfrm>
          <a:prstGeom prst="rect">
            <a:avLst/>
          </a:prstGeom>
          <a:solidFill>
            <a:srgbClr val="2563AE"/>
          </a:solidFill>
          <a:ln w="12700">
            <a:solidFill>
              <a:srgbClr val="2563AE"/>
            </a:solidFill>
            <a:prstDash val="solid"/>
          </a:ln>
        </p:spPr>
      </p:sp>
      <p:sp>
        <p:nvSpPr>
          <p:cNvPr id="16" name="Text 13"/>
          <p:cNvSpPr/>
          <p:nvPr/>
        </p:nvSpPr>
        <p:spPr>
          <a:xfrm>
            <a:off x="4279392" y="3813048"/>
            <a:ext cx="1097280" cy="274320"/>
          </a:xfrm>
          <a:prstGeom prst="rect">
            <a:avLst/>
          </a:prstGeom>
          <a:noFill/>
          <a:ln/>
        </p:spPr>
        <p:txBody>
          <a:bodyPr wrap="square" lIns="0" tIns="0" rIns="0" bIns="0" rtlCol="0" anchor="ctr"/>
          <a:lstStyle/>
          <a:p>
            <a:pPr marL="0" indent="0">
              <a:buNone/>
            </a:pPr>
            <a:r>
              <a:rPr lang="en-US" sz="1300" b="1" dirty="0">
                <a:solidFill>
                  <a:srgbClr val="2563AE"/>
                </a:solidFill>
              </a:rPr>
              <a:t>TSM</a:t>
            </a:r>
            <a:endParaRPr lang="en-US" sz="1300" dirty="0"/>
          </a:p>
        </p:txBody>
      </p:sp>
      <p:sp>
        <p:nvSpPr>
          <p:cNvPr id="17" name="Text 14"/>
          <p:cNvSpPr/>
          <p:nvPr/>
        </p:nvSpPr>
        <p:spPr>
          <a:xfrm>
            <a:off x="4279392" y="4123944"/>
            <a:ext cx="3520440" cy="1115568"/>
          </a:xfrm>
          <a:prstGeom prst="rect">
            <a:avLst/>
          </a:prstGeom>
          <a:noFill/>
          <a:ln/>
        </p:spPr>
        <p:txBody>
          <a:bodyPr wrap="square" lIns="0" tIns="0" rIns="0" bIns="0" rtlCol="0" anchor="ctr"/>
          <a:lstStyle/>
          <a:p>
            <a:pPr marL="0" indent="0">
              <a:lnSpc>
                <a:spcPct val="115000"/>
              </a:lnSpc>
              <a:buNone/>
            </a:pPr>
            <a:r>
              <a:rPr lang="en-US" sz="800" dirty="0">
                <a:solidFill>
                  <a:srgbClr val="0F172A"/>
                </a:solidFill>
              </a:rPr>
              <a:t>Posición dominante en nodos sub-3nm (monopolio de facto en 2nm para 2025–2026). Sin alternativas viables a corto plazo (Intel, Samsung rezagados). RIESGO CLAVE: dependencia geopolítica de Taiwán; cualquier escalada con China impacta el portafolio global de semiconductores.</a:t>
            </a:r>
            <a:endParaRPr lang="en-US" sz="800" dirty="0"/>
          </a:p>
        </p:txBody>
      </p:sp>
      <p:sp>
        <p:nvSpPr>
          <p:cNvPr id="18" name="Shape 15"/>
          <p:cNvSpPr/>
          <p:nvPr/>
        </p:nvSpPr>
        <p:spPr>
          <a:xfrm>
            <a:off x="8055864" y="3776472"/>
            <a:ext cx="3749040" cy="1508760"/>
          </a:xfrm>
          <a:prstGeom prst="rect">
            <a:avLst/>
          </a:prstGeom>
          <a:solidFill>
            <a:srgbClr val="FEE2E2"/>
          </a:solidFill>
          <a:ln w="9525">
            <a:solidFill>
              <a:srgbClr val="DC2626"/>
            </a:solidFill>
            <a:prstDash val="solid"/>
          </a:ln>
        </p:spPr>
      </p:sp>
      <p:sp>
        <p:nvSpPr>
          <p:cNvPr id="19" name="Shape 16"/>
          <p:cNvSpPr/>
          <p:nvPr/>
        </p:nvSpPr>
        <p:spPr>
          <a:xfrm>
            <a:off x="8055864" y="3776472"/>
            <a:ext cx="64008" cy="1508760"/>
          </a:xfrm>
          <a:prstGeom prst="rect">
            <a:avLst/>
          </a:prstGeom>
          <a:solidFill>
            <a:srgbClr val="DC2626"/>
          </a:solidFill>
          <a:ln w="12700">
            <a:solidFill>
              <a:srgbClr val="DC2626"/>
            </a:solidFill>
            <a:prstDash val="solid"/>
          </a:ln>
        </p:spPr>
      </p:sp>
      <p:sp>
        <p:nvSpPr>
          <p:cNvPr id="20" name="Text 17"/>
          <p:cNvSpPr/>
          <p:nvPr/>
        </p:nvSpPr>
        <p:spPr>
          <a:xfrm>
            <a:off x="8193024" y="3813048"/>
            <a:ext cx="1097280" cy="274320"/>
          </a:xfrm>
          <a:prstGeom prst="rect">
            <a:avLst/>
          </a:prstGeom>
          <a:noFill/>
          <a:ln/>
        </p:spPr>
        <p:txBody>
          <a:bodyPr wrap="square" lIns="0" tIns="0" rIns="0" bIns="0" rtlCol="0" anchor="ctr"/>
          <a:lstStyle/>
          <a:p>
            <a:pPr marL="0" indent="0">
              <a:buNone/>
            </a:pPr>
            <a:r>
              <a:rPr lang="en-US" sz="1300" b="1" dirty="0">
                <a:solidFill>
                  <a:srgbClr val="DC2626"/>
                </a:solidFill>
              </a:rPr>
              <a:t>CRM</a:t>
            </a:r>
            <a:endParaRPr lang="en-US" sz="1300" dirty="0"/>
          </a:p>
        </p:txBody>
      </p:sp>
      <p:sp>
        <p:nvSpPr>
          <p:cNvPr id="21" name="Text 18"/>
          <p:cNvSpPr/>
          <p:nvPr/>
        </p:nvSpPr>
        <p:spPr>
          <a:xfrm>
            <a:off x="8193024" y="4123944"/>
            <a:ext cx="3520440" cy="1115568"/>
          </a:xfrm>
          <a:prstGeom prst="rect">
            <a:avLst/>
          </a:prstGeom>
          <a:noFill/>
          <a:ln/>
        </p:spPr>
        <p:txBody>
          <a:bodyPr wrap="square" lIns="0" tIns="0" rIns="0" bIns="0" rtlCol="0" anchor="ctr"/>
          <a:lstStyle/>
          <a:p>
            <a:pPr marL="0" indent="0">
              <a:lnSpc>
                <a:spcPct val="115000"/>
              </a:lnSpc>
              <a:buNone/>
            </a:pPr>
            <a:r>
              <a:rPr lang="en-US" sz="800" dirty="0">
                <a:solidFill>
                  <a:srgbClr val="0F172A"/>
                </a:solidFill>
              </a:rPr>
              <a:t>Microsoft Copilot se integra nativamente en el ecosistema Office/Teams que ya usan los clientes enterprise de Salesforce. La presión competitiva se refleja en el único alfa negativo del portafolio (−8.86%) y Sharpe negativo (−0.047). Señal: EXCLUIR.</a:t>
            </a:r>
            <a:endParaRPr lang="en-US" sz="800" dirty="0"/>
          </a:p>
        </p:txBody>
      </p:sp>
      <p:sp>
        <p:nvSpPr>
          <p:cNvPr id="22" name="Shape 19"/>
          <p:cNvSpPr/>
          <p:nvPr/>
        </p:nvSpPr>
        <p:spPr>
          <a:xfrm>
            <a:off x="228600" y="5376672"/>
            <a:ext cx="11704320" cy="502920"/>
          </a:xfrm>
          <a:prstGeom prst="rect">
            <a:avLst/>
          </a:prstGeom>
          <a:solidFill>
            <a:srgbClr val="0D2240"/>
          </a:solidFill>
          <a:ln w="12700">
            <a:solidFill>
              <a:srgbClr val="0D2240"/>
            </a:solidFill>
            <a:prstDash val="solid"/>
          </a:ln>
        </p:spPr>
      </p:sp>
      <p:sp>
        <p:nvSpPr>
          <p:cNvPr id="23" name="Text 20"/>
          <p:cNvSpPr/>
          <p:nvPr/>
        </p:nvSpPr>
        <p:spPr>
          <a:xfrm>
            <a:off x="320040" y="5376672"/>
            <a:ext cx="11521440" cy="502920"/>
          </a:xfrm>
          <a:prstGeom prst="rect">
            <a:avLst/>
          </a:prstGeom>
          <a:noFill/>
          <a:ln/>
        </p:spPr>
        <p:txBody>
          <a:bodyPr wrap="square" lIns="0" tIns="0" rIns="0" bIns="0" rtlCol="0" anchor="ctr"/>
          <a:lstStyle/>
          <a:p>
            <a:pPr marL="0" indent="0">
              <a:lnSpc>
                <a:spcPct val="115000"/>
              </a:lnSpc>
              <a:buNone/>
            </a:pPr>
            <a:r>
              <a:rPr lang="en-US" sz="850" dirty="0">
                <a:solidFill>
                  <a:srgbClr val="FFFFFF"/>
                </a:solidFill>
              </a:rPr>
              <a:t>Interpretación: NVDA y TSM presentan las posiciones competitivas más defensibles del portafolio; sus barreras de entrada son estructurales, no temporales. CRM enfrenta la presión competitiva más severa — validada cuantitativamente por su alfa negativa — y carece de ventajas diferenciales frente a la integración nativa de IA en Microsoft. META es el único caso donde el riesgo regulatorio y competitivo coexisten con alta volatilidad de mercado.</a:t>
            </a:r>
            <a:endParaRPr lang="en-US" sz="850" dirty="0"/>
          </a:p>
        </p:txBody>
      </p:sp>
      <p:sp>
        <p:nvSpPr>
          <p:cNvPr id="24" name="Shape 21"/>
          <p:cNvSpPr/>
          <p:nvPr/>
        </p:nvSpPr>
        <p:spPr>
          <a:xfrm>
            <a:off x="0" y="6601968"/>
            <a:ext cx="12161520" cy="256032"/>
          </a:xfrm>
          <a:prstGeom prst="rect">
            <a:avLst/>
          </a:prstGeom>
          <a:solidFill>
            <a:srgbClr val="0D2240"/>
          </a:solidFill>
          <a:ln w="12700">
            <a:solidFill>
              <a:srgbClr val="0D2240"/>
            </a:solidFill>
            <a:prstDash val="solid"/>
          </a:ln>
        </p:spPr>
      </p:sp>
      <p:sp>
        <p:nvSpPr>
          <p:cNvPr id="25" name="Text 22"/>
          <p:cNvSpPr/>
          <p:nvPr/>
        </p:nvSpPr>
        <p:spPr>
          <a:xfrm>
            <a:off x="228600" y="6601968"/>
            <a:ext cx="7315200" cy="256032"/>
          </a:xfrm>
          <a:prstGeom prst="rect">
            <a:avLst/>
          </a:prstGeom>
          <a:noFill/>
          <a:ln/>
        </p:spPr>
        <p:txBody>
          <a:bodyPr wrap="square" lIns="0" tIns="0" rIns="0" bIns="0" rtlCol="0" anchor="ctr"/>
          <a:lstStyle/>
          <a:p>
            <a:pPr marL="0" indent="0">
              <a:buNone/>
            </a:pPr>
            <a:r>
              <a:rPr lang="en-US" sz="800" dirty="0">
                <a:solidFill>
                  <a:srgbClr val="C8D9F0"/>
                </a:solidFill>
              </a:rPr>
              <a:t>MACROCONSULT  ·  Sistema de Información de Mercados</a:t>
            </a:r>
            <a:endParaRPr lang="en-US" sz="800" dirty="0"/>
          </a:p>
        </p:txBody>
      </p:sp>
      <p:sp>
        <p:nvSpPr>
          <p:cNvPr id="26" name="Text 23"/>
          <p:cNvSpPr/>
          <p:nvPr/>
        </p:nvSpPr>
        <p:spPr>
          <a:xfrm>
            <a:off x="11247120" y="6601968"/>
            <a:ext cx="685800" cy="256032"/>
          </a:xfrm>
          <a:prstGeom prst="rect">
            <a:avLst/>
          </a:prstGeom>
          <a:noFill/>
          <a:ln/>
        </p:spPr>
        <p:txBody>
          <a:bodyPr wrap="square" lIns="0" tIns="0" rIns="0" bIns="0" rtlCol="0" anchor="ctr"/>
          <a:lstStyle/>
          <a:p>
            <a:pPr marL="0" indent="0" algn="r">
              <a:buNone/>
            </a:pPr>
            <a:r>
              <a:rPr lang="en-US" sz="800" dirty="0">
                <a:solidFill>
                  <a:srgbClr val="C8D9F0"/>
                </a:solidFill>
              </a:rPr>
              <a:t>5 / 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0D2240"/>
          </a:solidFill>
          <a:ln w="12700">
            <a:solidFill>
              <a:srgbClr val="0D2240"/>
            </a:solidFill>
            <a:prstDash val="solid"/>
          </a:ln>
        </p:spPr>
      </p:sp>
      <p:sp>
        <p:nvSpPr>
          <p:cNvPr id="3" name="Text 1"/>
          <p:cNvSpPr/>
          <p:nvPr/>
        </p:nvSpPr>
        <p:spPr>
          <a:xfrm>
            <a:off x="182880" y="0"/>
            <a:ext cx="411480" cy="502920"/>
          </a:xfrm>
          <a:prstGeom prst="rect">
            <a:avLst/>
          </a:prstGeom>
          <a:noFill/>
          <a:ln/>
        </p:spPr>
        <p:txBody>
          <a:bodyPr wrap="square" lIns="0" tIns="0" rIns="0" bIns="0" rtlCol="0" anchor="ctr"/>
          <a:lstStyle/>
          <a:p>
            <a:pPr marL="0" indent="0">
              <a:buNone/>
            </a:pPr>
            <a:r>
              <a:rPr lang="en-US" sz="900" b="1" dirty="0">
                <a:solidFill>
                  <a:srgbClr val="94A3B8"/>
                </a:solidFill>
              </a:rPr>
              <a:t>06</a:t>
            </a:r>
            <a:endParaRPr lang="en-US" sz="900" dirty="0"/>
          </a:p>
        </p:txBody>
      </p:sp>
      <p:sp>
        <p:nvSpPr>
          <p:cNvPr id="4" name="Text 2"/>
          <p:cNvSpPr/>
          <p:nvPr/>
        </p:nvSpPr>
        <p:spPr>
          <a:xfrm>
            <a:off x="594360" y="0"/>
            <a:ext cx="11338560" cy="502920"/>
          </a:xfrm>
          <a:prstGeom prst="rect">
            <a:avLst/>
          </a:prstGeom>
          <a:noFill/>
          <a:ln/>
        </p:spPr>
        <p:txBody>
          <a:bodyPr wrap="square" lIns="0" tIns="0" rIns="0" bIns="0" rtlCol="0" anchor="ctr"/>
          <a:lstStyle/>
          <a:p>
            <a:pPr marL="0" indent="0">
              <a:buNone/>
            </a:pPr>
            <a:r>
              <a:rPr lang="en-US" sz="1300" b="1" dirty="0">
                <a:solidFill>
                  <a:srgbClr val="FFFFFF"/>
                </a:solidFill>
              </a:rPr>
              <a:t>Recomendación Final de Inversión  ·  Síntesis Ejecutiva  ·  Macroconsult 2026</a:t>
            </a:r>
            <a:endParaRPr lang="en-US" sz="1300" dirty="0"/>
          </a:p>
        </p:txBody>
      </p:sp>
      <p:sp>
        <p:nvSpPr>
          <p:cNvPr id="5" name="Shape 3"/>
          <p:cNvSpPr/>
          <p:nvPr/>
        </p:nvSpPr>
        <p:spPr>
          <a:xfrm>
            <a:off x="228600" y="594360"/>
            <a:ext cx="3840480" cy="347472"/>
          </a:xfrm>
          <a:prstGeom prst="rect">
            <a:avLst/>
          </a:prstGeom>
          <a:solidFill>
            <a:srgbClr val="16A34A"/>
          </a:solidFill>
          <a:ln w="12700">
            <a:solidFill>
              <a:srgbClr val="16A34A"/>
            </a:solidFill>
            <a:prstDash val="solid"/>
          </a:ln>
        </p:spPr>
      </p:sp>
      <p:sp>
        <p:nvSpPr>
          <p:cNvPr id="6" name="Text 4"/>
          <p:cNvSpPr/>
          <p:nvPr/>
        </p:nvSpPr>
        <p:spPr>
          <a:xfrm>
            <a:off x="228600" y="594360"/>
            <a:ext cx="3840480" cy="347472"/>
          </a:xfrm>
          <a:prstGeom prst="rect">
            <a:avLst/>
          </a:prstGeom>
          <a:noFill/>
          <a:ln/>
        </p:spPr>
        <p:txBody>
          <a:bodyPr wrap="square" lIns="0" tIns="0" rIns="0" bIns="0" rtlCol="0" anchor="ctr"/>
          <a:lstStyle/>
          <a:p>
            <a:pPr marL="0" indent="0" algn="ctr">
              <a:buNone/>
            </a:pPr>
            <a:r>
              <a:rPr lang="en-US" sz="1300" b="1" kern="0" spc="150" dirty="0">
                <a:solidFill>
                  <a:srgbClr val="FFFFFF"/>
                </a:solidFill>
              </a:rPr>
              <a:t>COMPRAR</a:t>
            </a:r>
            <a:endParaRPr lang="en-US" sz="1300" dirty="0"/>
          </a:p>
        </p:txBody>
      </p:sp>
      <p:sp>
        <p:nvSpPr>
          <p:cNvPr id="7" name="Shape 5"/>
          <p:cNvSpPr/>
          <p:nvPr/>
        </p:nvSpPr>
        <p:spPr>
          <a:xfrm>
            <a:off x="228600" y="1024128"/>
            <a:ext cx="3840480" cy="1755648"/>
          </a:xfrm>
          <a:prstGeom prst="rect">
            <a:avLst/>
          </a:prstGeom>
          <a:solidFill>
            <a:srgbClr val="DCFCE7"/>
          </a:solidFill>
          <a:ln w="9525">
            <a:solidFill>
              <a:srgbClr val="16A34A"/>
            </a:solidFill>
            <a:prstDash val="solid"/>
          </a:ln>
        </p:spPr>
      </p:sp>
      <p:sp>
        <p:nvSpPr>
          <p:cNvPr id="8" name="Text 6"/>
          <p:cNvSpPr/>
          <p:nvPr/>
        </p:nvSpPr>
        <p:spPr>
          <a:xfrm>
            <a:off x="338328" y="1088136"/>
            <a:ext cx="1097280" cy="310896"/>
          </a:xfrm>
          <a:prstGeom prst="rect">
            <a:avLst/>
          </a:prstGeom>
          <a:noFill/>
          <a:ln/>
        </p:spPr>
        <p:txBody>
          <a:bodyPr wrap="square" lIns="0" tIns="0" rIns="0" bIns="0" rtlCol="0" anchor="ctr"/>
          <a:lstStyle/>
          <a:p>
            <a:pPr marL="0" indent="0">
              <a:buNone/>
            </a:pPr>
            <a:r>
              <a:rPr lang="en-US" sz="1600" b="1" dirty="0">
                <a:solidFill>
                  <a:srgbClr val="16A34A"/>
                </a:solidFill>
              </a:rPr>
              <a:t>NVDA</a:t>
            </a:r>
            <a:endParaRPr lang="en-US" sz="1600" dirty="0"/>
          </a:p>
        </p:txBody>
      </p:sp>
      <p:sp>
        <p:nvSpPr>
          <p:cNvPr id="9" name="Shape 7"/>
          <p:cNvSpPr/>
          <p:nvPr/>
        </p:nvSpPr>
        <p:spPr>
          <a:xfrm>
            <a:off x="338328" y="1426464"/>
            <a:ext cx="3621024" cy="182880"/>
          </a:xfrm>
          <a:prstGeom prst="rect">
            <a:avLst/>
          </a:prstGeom>
          <a:solidFill>
            <a:srgbClr val="FFFFFF"/>
          </a:solidFill>
          <a:ln w="6350">
            <a:solidFill>
              <a:srgbClr val="16A34A"/>
            </a:solidFill>
            <a:prstDash val="solid"/>
          </a:ln>
        </p:spPr>
      </p:sp>
      <p:sp>
        <p:nvSpPr>
          <p:cNvPr id="10" name="Text 8"/>
          <p:cNvSpPr/>
          <p:nvPr/>
        </p:nvSpPr>
        <p:spPr>
          <a:xfrm>
            <a:off x="338328" y="1426464"/>
            <a:ext cx="3621024" cy="182880"/>
          </a:xfrm>
          <a:prstGeom prst="rect">
            <a:avLst/>
          </a:prstGeom>
          <a:noFill/>
          <a:ln/>
        </p:spPr>
        <p:txBody>
          <a:bodyPr wrap="square" lIns="25400" tIns="25400" rIns="25400" bIns="25400" rtlCol="0" anchor="ctr"/>
          <a:lstStyle/>
          <a:p>
            <a:pPr marL="0" indent="0">
              <a:buNone/>
            </a:pPr>
            <a:r>
              <a:rPr lang="en-US" sz="700" b="1" dirty="0">
                <a:solidFill>
                  <a:srgbClr val="16A34A"/>
                </a:solidFill>
              </a:rPr>
              <a:t>β = 1.906 · α = +44.33% · SR = 1.117 · VaR99% = −15.85%</a:t>
            </a:r>
            <a:endParaRPr lang="en-US" sz="700" dirty="0"/>
          </a:p>
        </p:txBody>
      </p:sp>
      <p:sp>
        <p:nvSpPr>
          <p:cNvPr id="11" name="Text 9"/>
          <p:cNvSpPr/>
          <p:nvPr/>
        </p:nvSpPr>
        <p:spPr>
          <a:xfrm>
            <a:off x="338328" y="1645920"/>
            <a:ext cx="3621024" cy="1078992"/>
          </a:xfrm>
          <a:prstGeom prst="rect">
            <a:avLst/>
          </a:prstGeom>
          <a:noFill/>
          <a:ln/>
        </p:spPr>
        <p:txBody>
          <a:bodyPr wrap="square" lIns="0" tIns="0" rIns="0" bIns="0" rtlCol="0" anchor="ctr"/>
          <a:lstStyle/>
          <a:p>
            <a:pPr marL="0" indent="0" algn="just">
              <a:lnSpc>
                <a:spcPct val="112000"/>
              </a:lnSpc>
              <a:buNone/>
            </a:pPr>
            <a:r>
              <a:rPr lang="en-US" sz="900" b="1" dirty="0">
                <a:solidFill>
                  <a:srgbClr val="0F172A"/>
                </a:solidFill>
              </a:rPr>
              <a:t>Ecosistema CUDA inigualable. Mayor alfa Jensen del portafolio. Arquitectura Blackwell como catalizador de demanda sostenida. Pese al VaR elevado, el riesgo es retribuido por el alfa más alta del universo analizado.</a:t>
            </a:r>
            <a:endParaRPr lang="en-US" sz="900" b="1" dirty="0"/>
          </a:p>
        </p:txBody>
      </p:sp>
      <p:sp>
        <p:nvSpPr>
          <p:cNvPr id="12" name="Shape 10"/>
          <p:cNvSpPr/>
          <p:nvPr/>
        </p:nvSpPr>
        <p:spPr>
          <a:xfrm>
            <a:off x="228600" y="2898648"/>
            <a:ext cx="3840480" cy="1755648"/>
          </a:xfrm>
          <a:prstGeom prst="rect">
            <a:avLst/>
          </a:prstGeom>
          <a:solidFill>
            <a:srgbClr val="DCFCE7"/>
          </a:solidFill>
          <a:ln w="9525">
            <a:solidFill>
              <a:srgbClr val="16A34A"/>
            </a:solidFill>
            <a:prstDash val="solid"/>
          </a:ln>
        </p:spPr>
      </p:sp>
      <p:sp>
        <p:nvSpPr>
          <p:cNvPr id="13" name="Text 11"/>
          <p:cNvSpPr/>
          <p:nvPr/>
        </p:nvSpPr>
        <p:spPr>
          <a:xfrm>
            <a:off x="338328" y="2962656"/>
            <a:ext cx="1097280" cy="310896"/>
          </a:xfrm>
          <a:prstGeom prst="rect">
            <a:avLst/>
          </a:prstGeom>
          <a:noFill/>
          <a:ln/>
        </p:spPr>
        <p:txBody>
          <a:bodyPr wrap="square" lIns="0" tIns="0" rIns="0" bIns="0" rtlCol="0" anchor="ctr"/>
          <a:lstStyle/>
          <a:p>
            <a:pPr marL="0" indent="0">
              <a:buNone/>
            </a:pPr>
            <a:r>
              <a:rPr lang="en-US" sz="1600" b="1" dirty="0">
                <a:solidFill>
                  <a:srgbClr val="16A34A"/>
                </a:solidFill>
              </a:rPr>
              <a:t>GOOGL</a:t>
            </a:r>
            <a:endParaRPr lang="en-US" sz="1600" dirty="0"/>
          </a:p>
        </p:txBody>
      </p:sp>
      <p:sp>
        <p:nvSpPr>
          <p:cNvPr id="14" name="Shape 12"/>
          <p:cNvSpPr/>
          <p:nvPr/>
        </p:nvSpPr>
        <p:spPr>
          <a:xfrm>
            <a:off x="338328" y="3300984"/>
            <a:ext cx="3621024" cy="182880"/>
          </a:xfrm>
          <a:prstGeom prst="rect">
            <a:avLst/>
          </a:prstGeom>
          <a:solidFill>
            <a:srgbClr val="FFFFFF"/>
          </a:solidFill>
          <a:ln w="6350">
            <a:solidFill>
              <a:srgbClr val="16A34A"/>
            </a:solidFill>
            <a:prstDash val="solid"/>
          </a:ln>
        </p:spPr>
      </p:sp>
      <p:sp>
        <p:nvSpPr>
          <p:cNvPr id="15" name="Text 13"/>
          <p:cNvSpPr/>
          <p:nvPr/>
        </p:nvSpPr>
        <p:spPr>
          <a:xfrm>
            <a:off x="338328" y="3300984"/>
            <a:ext cx="3621024" cy="182880"/>
          </a:xfrm>
          <a:prstGeom prst="rect">
            <a:avLst/>
          </a:prstGeom>
          <a:noFill/>
          <a:ln/>
        </p:spPr>
        <p:txBody>
          <a:bodyPr wrap="square" lIns="25400" tIns="25400" rIns="25400" bIns="25400" rtlCol="0" anchor="ctr"/>
          <a:lstStyle/>
          <a:p>
            <a:pPr marL="0" indent="0">
              <a:buNone/>
            </a:pPr>
            <a:r>
              <a:rPr lang="en-US" sz="700" b="1" dirty="0">
                <a:solidFill>
                  <a:srgbClr val="16A34A"/>
                </a:solidFill>
              </a:rPr>
              <a:t>β = 1.062 · α = +17.37% · SR = 0.700 · VaR99% = −7.52%</a:t>
            </a:r>
            <a:endParaRPr lang="en-US" sz="700" dirty="0"/>
          </a:p>
        </p:txBody>
      </p:sp>
      <p:sp>
        <p:nvSpPr>
          <p:cNvPr id="16" name="Text 14"/>
          <p:cNvSpPr/>
          <p:nvPr/>
        </p:nvSpPr>
        <p:spPr>
          <a:xfrm>
            <a:off x="338328" y="3520440"/>
            <a:ext cx="3621024" cy="1078992"/>
          </a:xfrm>
          <a:prstGeom prst="rect">
            <a:avLst/>
          </a:prstGeom>
          <a:noFill/>
          <a:ln/>
        </p:spPr>
        <p:txBody>
          <a:bodyPr wrap="square" lIns="0" tIns="0" rIns="0" bIns="0" rtlCol="0" anchor="ctr"/>
          <a:lstStyle/>
          <a:p>
            <a:pPr algn="just">
              <a:lnSpc>
                <a:spcPct val="112000"/>
              </a:lnSpc>
            </a:pPr>
            <a:r>
              <a:rPr lang="en-US" sz="900" b="1" dirty="0">
                <a:solidFill>
                  <a:srgbClr val="0F172A"/>
                </a:solidFill>
              </a:rPr>
              <a:t>Google Cloud +63% YoY (Q1 2026). Gemini Ultra consolida posición en IA generativa. Alfa positiva con beta controlada: perfil riesgo-retorno favorable. Monitorear resultado DOJ (antimonopolio search).</a:t>
            </a:r>
          </a:p>
        </p:txBody>
      </p:sp>
      <p:sp>
        <p:nvSpPr>
          <p:cNvPr id="17" name="Shape 15"/>
          <p:cNvSpPr/>
          <p:nvPr/>
        </p:nvSpPr>
        <p:spPr>
          <a:xfrm>
            <a:off x="4206240" y="594360"/>
            <a:ext cx="3840480" cy="347472"/>
          </a:xfrm>
          <a:prstGeom prst="rect">
            <a:avLst/>
          </a:prstGeom>
          <a:solidFill>
            <a:srgbClr val="D97706"/>
          </a:solidFill>
          <a:ln w="12700">
            <a:solidFill>
              <a:srgbClr val="D97706"/>
            </a:solidFill>
            <a:prstDash val="solid"/>
          </a:ln>
        </p:spPr>
      </p:sp>
      <p:sp>
        <p:nvSpPr>
          <p:cNvPr id="18" name="Text 16"/>
          <p:cNvSpPr/>
          <p:nvPr/>
        </p:nvSpPr>
        <p:spPr>
          <a:xfrm>
            <a:off x="4206240" y="594360"/>
            <a:ext cx="3840480" cy="347472"/>
          </a:xfrm>
          <a:prstGeom prst="rect">
            <a:avLst/>
          </a:prstGeom>
          <a:noFill/>
          <a:ln/>
        </p:spPr>
        <p:txBody>
          <a:bodyPr wrap="square" lIns="0" tIns="0" rIns="0" bIns="0" rtlCol="0" anchor="ctr"/>
          <a:lstStyle/>
          <a:p>
            <a:pPr marL="0" indent="0" algn="ctr">
              <a:buNone/>
            </a:pPr>
            <a:r>
              <a:rPr lang="en-US" sz="1300" b="1" kern="0" spc="150" dirty="0">
                <a:solidFill>
                  <a:srgbClr val="FFFFFF"/>
                </a:solidFill>
              </a:rPr>
              <a:t>CONDICIONAL</a:t>
            </a:r>
            <a:endParaRPr lang="en-US" sz="1300" dirty="0"/>
          </a:p>
        </p:txBody>
      </p:sp>
      <p:sp>
        <p:nvSpPr>
          <p:cNvPr id="19" name="Shape 17"/>
          <p:cNvSpPr/>
          <p:nvPr/>
        </p:nvSpPr>
        <p:spPr>
          <a:xfrm>
            <a:off x="4206240" y="1024128"/>
            <a:ext cx="3840480" cy="1755648"/>
          </a:xfrm>
          <a:prstGeom prst="rect">
            <a:avLst/>
          </a:prstGeom>
          <a:solidFill>
            <a:srgbClr val="FEF3C7"/>
          </a:solidFill>
          <a:ln w="9525">
            <a:solidFill>
              <a:srgbClr val="D97706"/>
            </a:solidFill>
            <a:prstDash val="solid"/>
          </a:ln>
        </p:spPr>
      </p:sp>
      <p:sp>
        <p:nvSpPr>
          <p:cNvPr id="20" name="Text 18"/>
          <p:cNvSpPr/>
          <p:nvPr/>
        </p:nvSpPr>
        <p:spPr>
          <a:xfrm>
            <a:off x="4315968" y="1088136"/>
            <a:ext cx="1097280" cy="310896"/>
          </a:xfrm>
          <a:prstGeom prst="rect">
            <a:avLst/>
          </a:prstGeom>
          <a:noFill/>
          <a:ln/>
        </p:spPr>
        <p:txBody>
          <a:bodyPr wrap="square" lIns="0" tIns="0" rIns="0" bIns="0" rtlCol="0" anchor="ctr"/>
          <a:lstStyle/>
          <a:p>
            <a:pPr marL="0" indent="0">
              <a:buNone/>
            </a:pPr>
            <a:r>
              <a:rPr lang="en-US" sz="1600" b="1" dirty="0">
                <a:solidFill>
                  <a:srgbClr val="D97706"/>
                </a:solidFill>
              </a:rPr>
              <a:t>MSFT</a:t>
            </a:r>
            <a:endParaRPr lang="en-US" sz="1600" dirty="0"/>
          </a:p>
        </p:txBody>
      </p:sp>
      <p:sp>
        <p:nvSpPr>
          <p:cNvPr id="21" name="Shape 19"/>
          <p:cNvSpPr/>
          <p:nvPr/>
        </p:nvSpPr>
        <p:spPr>
          <a:xfrm>
            <a:off x="4315968" y="1426464"/>
            <a:ext cx="3621024" cy="182880"/>
          </a:xfrm>
          <a:prstGeom prst="rect">
            <a:avLst/>
          </a:prstGeom>
          <a:solidFill>
            <a:srgbClr val="FFFFFF"/>
          </a:solidFill>
          <a:ln w="6350">
            <a:solidFill>
              <a:srgbClr val="D97706"/>
            </a:solidFill>
            <a:prstDash val="solid"/>
          </a:ln>
        </p:spPr>
      </p:sp>
      <p:sp>
        <p:nvSpPr>
          <p:cNvPr id="22" name="Text 20"/>
          <p:cNvSpPr/>
          <p:nvPr/>
        </p:nvSpPr>
        <p:spPr>
          <a:xfrm>
            <a:off x="4315968" y="1426464"/>
            <a:ext cx="3621024" cy="182880"/>
          </a:xfrm>
          <a:prstGeom prst="rect">
            <a:avLst/>
          </a:prstGeom>
          <a:noFill/>
          <a:ln/>
        </p:spPr>
        <p:txBody>
          <a:bodyPr wrap="square" lIns="25400" tIns="25400" rIns="25400" bIns="25400" rtlCol="0" anchor="ctr"/>
          <a:lstStyle/>
          <a:p>
            <a:pPr marL="0" indent="0">
              <a:buNone/>
            </a:pPr>
            <a:r>
              <a:rPr lang="en-US" sz="700" b="1" dirty="0">
                <a:solidFill>
                  <a:srgbClr val="D97706"/>
                </a:solidFill>
              </a:rPr>
              <a:t>β = 0.893 · α = +7.41% · SR = 0.442 · RPO $392B</a:t>
            </a:r>
            <a:endParaRPr lang="en-US" sz="700" dirty="0"/>
          </a:p>
        </p:txBody>
      </p:sp>
      <p:sp>
        <p:nvSpPr>
          <p:cNvPr id="23" name="Text 21"/>
          <p:cNvSpPr/>
          <p:nvPr/>
        </p:nvSpPr>
        <p:spPr>
          <a:xfrm>
            <a:off x="4315968" y="1645920"/>
            <a:ext cx="3621024" cy="1078992"/>
          </a:xfrm>
          <a:prstGeom prst="rect">
            <a:avLst/>
          </a:prstGeom>
          <a:noFill/>
          <a:ln/>
        </p:spPr>
        <p:txBody>
          <a:bodyPr wrap="square" lIns="0" tIns="0" rIns="0" bIns="0" rtlCol="0" anchor="ctr"/>
          <a:lstStyle/>
          <a:p>
            <a:pPr algn="just">
              <a:lnSpc>
                <a:spcPct val="112000"/>
              </a:lnSpc>
            </a:pPr>
            <a:r>
              <a:rPr lang="en-US" sz="900" b="1" dirty="0">
                <a:solidFill>
                  <a:srgbClr val="0F172A"/>
                </a:solidFill>
              </a:rPr>
              <a:t>Alfa positiva pero moderada. Incorporar en correcciones de 8–12%. RPO (Remaining Performance Obligations) de $392B es indicador adelantado de visibilidad de ingresos. Copilot en proceso de </a:t>
            </a:r>
            <a:r>
              <a:rPr lang="en-US" sz="900" b="1" dirty="0" err="1">
                <a:solidFill>
                  <a:srgbClr val="0F172A"/>
                </a:solidFill>
              </a:rPr>
              <a:t>monetización</a:t>
            </a:r>
            <a:r>
              <a:rPr lang="en-US" sz="900" b="1" dirty="0">
                <a:solidFill>
                  <a:srgbClr val="0F172A"/>
                </a:solidFill>
              </a:rPr>
              <a:t>.</a:t>
            </a:r>
          </a:p>
        </p:txBody>
      </p:sp>
      <p:sp>
        <p:nvSpPr>
          <p:cNvPr id="24" name="Shape 22"/>
          <p:cNvSpPr/>
          <p:nvPr/>
        </p:nvSpPr>
        <p:spPr>
          <a:xfrm>
            <a:off x="4206240" y="2898648"/>
            <a:ext cx="3840480" cy="1755648"/>
          </a:xfrm>
          <a:prstGeom prst="rect">
            <a:avLst/>
          </a:prstGeom>
          <a:solidFill>
            <a:srgbClr val="FEF3C7"/>
          </a:solidFill>
          <a:ln w="9525">
            <a:solidFill>
              <a:srgbClr val="D97706"/>
            </a:solidFill>
            <a:prstDash val="solid"/>
          </a:ln>
        </p:spPr>
      </p:sp>
      <p:sp>
        <p:nvSpPr>
          <p:cNvPr id="25" name="Text 23"/>
          <p:cNvSpPr/>
          <p:nvPr/>
        </p:nvSpPr>
        <p:spPr>
          <a:xfrm>
            <a:off x="4315968" y="2962656"/>
            <a:ext cx="1097280" cy="310896"/>
          </a:xfrm>
          <a:prstGeom prst="rect">
            <a:avLst/>
          </a:prstGeom>
          <a:noFill/>
          <a:ln/>
        </p:spPr>
        <p:txBody>
          <a:bodyPr wrap="square" lIns="0" tIns="0" rIns="0" bIns="0" rtlCol="0" anchor="ctr"/>
          <a:lstStyle/>
          <a:p>
            <a:pPr marL="0" indent="0">
              <a:buNone/>
            </a:pPr>
            <a:r>
              <a:rPr lang="en-US" sz="1600" b="1" dirty="0">
                <a:solidFill>
                  <a:srgbClr val="D97706"/>
                </a:solidFill>
              </a:rPr>
              <a:t>TSM</a:t>
            </a:r>
            <a:endParaRPr lang="en-US" sz="1600" dirty="0"/>
          </a:p>
        </p:txBody>
      </p:sp>
      <p:sp>
        <p:nvSpPr>
          <p:cNvPr id="26" name="Shape 24"/>
          <p:cNvSpPr/>
          <p:nvPr/>
        </p:nvSpPr>
        <p:spPr>
          <a:xfrm>
            <a:off x="4315968" y="3300984"/>
            <a:ext cx="3621024" cy="182880"/>
          </a:xfrm>
          <a:prstGeom prst="rect">
            <a:avLst/>
          </a:prstGeom>
          <a:solidFill>
            <a:srgbClr val="FFFFFF"/>
          </a:solidFill>
          <a:ln w="6350">
            <a:solidFill>
              <a:srgbClr val="D97706"/>
            </a:solidFill>
            <a:prstDash val="solid"/>
          </a:ln>
        </p:spPr>
      </p:sp>
      <p:sp>
        <p:nvSpPr>
          <p:cNvPr id="27" name="Text 25"/>
          <p:cNvSpPr/>
          <p:nvPr/>
        </p:nvSpPr>
        <p:spPr>
          <a:xfrm>
            <a:off x="4315968" y="3300984"/>
            <a:ext cx="3621024" cy="182880"/>
          </a:xfrm>
          <a:prstGeom prst="rect">
            <a:avLst/>
          </a:prstGeom>
          <a:noFill/>
          <a:ln/>
        </p:spPr>
        <p:txBody>
          <a:bodyPr wrap="square" lIns="25400" tIns="25400" rIns="25400" bIns="25400" rtlCol="0" anchor="ctr"/>
          <a:lstStyle/>
          <a:p>
            <a:pPr marL="0" indent="0">
              <a:buNone/>
            </a:pPr>
            <a:r>
              <a:rPr lang="en-US" sz="700" b="1" dirty="0">
                <a:solidFill>
                  <a:srgbClr val="D97706"/>
                </a:solidFill>
              </a:rPr>
              <a:t>β = 0.998 · α = +23.06% · SR = 0.747 · Posición táctica 5–8%</a:t>
            </a:r>
            <a:endParaRPr lang="en-US" sz="700" dirty="0"/>
          </a:p>
        </p:txBody>
      </p:sp>
      <p:sp>
        <p:nvSpPr>
          <p:cNvPr id="28" name="Text 26"/>
          <p:cNvSpPr/>
          <p:nvPr/>
        </p:nvSpPr>
        <p:spPr>
          <a:xfrm>
            <a:off x="4315968" y="3520440"/>
            <a:ext cx="3621024" cy="1078992"/>
          </a:xfrm>
          <a:prstGeom prst="rect">
            <a:avLst/>
          </a:prstGeom>
          <a:noFill/>
          <a:ln/>
        </p:spPr>
        <p:txBody>
          <a:bodyPr wrap="square" lIns="0" tIns="0" rIns="0" bIns="0" rtlCol="0" anchor="ctr"/>
          <a:lstStyle/>
          <a:p>
            <a:pPr indent="0" algn="just">
              <a:lnSpc>
                <a:spcPct val="112000"/>
              </a:lnSpc>
              <a:buNone/>
            </a:pPr>
            <a:r>
              <a:rPr lang="en-US" sz="900" b="1" dirty="0">
                <a:solidFill>
                  <a:srgbClr val="0F172A"/>
                </a:solidFill>
              </a:rPr>
              <a:t>Segunda mayor alfa del portafolio. Monopolio en nodos sub-3nm. Posición táctica (5–8%) para gestionar concentración de riesgo geopolítico de Taiwán. No </a:t>
            </a:r>
            <a:r>
              <a:rPr lang="en-US" sz="900" b="1" dirty="0" err="1">
                <a:solidFill>
                  <a:srgbClr val="0F172A"/>
                </a:solidFill>
              </a:rPr>
              <a:t>sobreponderar</a:t>
            </a:r>
            <a:r>
              <a:rPr lang="en-US" sz="900" b="1" dirty="0">
                <a:solidFill>
                  <a:srgbClr val="0F172A"/>
                </a:solidFill>
              </a:rPr>
              <a:t>.</a:t>
            </a:r>
          </a:p>
        </p:txBody>
      </p:sp>
      <p:sp>
        <p:nvSpPr>
          <p:cNvPr id="29" name="Shape 27"/>
          <p:cNvSpPr/>
          <p:nvPr/>
        </p:nvSpPr>
        <p:spPr>
          <a:xfrm>
            <a:off x="8183880" y="594360"/>
            <a:ext cx="3749040" cy="347472"/>
          </a:xfrm>
          <a:prstGeom prst="rect">
            <a:avLst/>
          </a:prstGeom>
          <a:solidFill>
            <a:srgbClr val="DC2626"/>
          </a:solidFill>
          <a:ln w="12700">
            <a:solidFill>
              <a:srgbClr val="DC2626"/>
            </a:solidFill>
            <a:prstDash val="solid"/>
          </a:ln>
        </p:spPr>
      </p:sp>
      <p:sp>
        <p:nvSpPr>
          <p:cNvPr id="30" name="Text 28"/>
          <p:cNvSpPr/>
          <p:nvPr/>
        </p:nvSpPr>
        <p:spPr>
          <a:xfrm>
            <a:off x="8183880" y="594360"/>
            <a:ext cx="3749040" cy="347472"/>
          </a:xfrm>
          <a:prstGeom prst="rect">
            <a:avLst/>
          </a:prstGeom>
          <a:noFill/>
          <a:ln/>
        </p:spPr>
        <p:txBody>
          <a:bodyPr wrap="square" lIns="0" tIns="0" rIns="0" bIns="0" rtlCol="0" anchor="ctr"/>
          <a:lstStyle/>
          <a:p>
            <a:pPr marL="0" indent="0" algn="ctr">
              <a:buNone/>
            </a:pPr>
            <a:r>
              <a:rPr lang="en-US" sz="1300" b="1" kern="0" spc="150" dirty="0">
                <a:solidFill>
                  <a:srgbClr val="FFFFFF"/>
                </a:solidFill>
              </a:rPr>
              <a:t>NO INVERTIR</a:t>
            </a:r>
            <a:endParaRPr lang="en-US" sz="1300" dirty="0"/>
          </a:p>
        </p:txBody>
      </p:sp>
      <p:sp>
        <p:nvSpPr>
          <p:cNvPr id="31" name="Shape 29"/>
          <p:cNvSpPr/>
          <p:nvPr/>
        </p:nvSpPr>
        <p:spPr>
          <a:xfrm>
            <a:off x="8183880" y="1024128"/>
            <a:ext cx="3749040" cy="1755648"/>
          </a:xfrm>
          <a:prstGeom prst="rect">
            <a:avLst/>
          </a:prstGeom>
          <a:solidFill>
            <a:srgbClr val="FEE2E2"/>
          </a:solidFill>
          <a:ln w="9525">
            <a:solidFill>
              <a:srgbClr val="DC2626"/>
            </a:solidFill>
            <a:prstDash val="solid"/>
          </a:ln>
        </p:spPr>
      </p:sp>
      <p:sp>
        <p:nvSpPr>
          <p:cNvPr id="32" name="Text 30"/>
          <p:cNvSpPr/>
          <p:nvPr/>
        </p:nvSpPr>
        <p:spPr>
          <a:xfrm>
            <a:off x="8293608" y="1088136"/>
            <a:ext cx="1097280" cy="310896"/>
          </a:xfrm>
          <a:prstGeom prst="rect">
            <a:avLst/>
          </a:prstGeom>
          <a:noFill/>
          <a:ln/>
        </p:spPr>
        <p:txBody>
          <a:bodyPr wrap="square" lIns="0" tIns="0" rIns="0" bIns="0" rtlCol="0" anchor="ctr"/>
          <a:lstStyle/>
          <a:p>
            <a:pPr marL="0" indent="0">
              <a:buNone/>
            </a:pPr>
            <a:r>
              <a:rPr lang="en-US" sz="1600" b="1" dirty="0">
                <a:solidFill>
                  <a:srgbClr val="DC2626"/>
                </a:solidFill>
              </a:rPr>
              <a:t>META</a:t>
            </a:r>
            <a:endParaRPr lang="en-US" sz="1600" dirty="0"/>
          </a:p>
        </p:txBody>
      </p:sp>
      <p:sp>
        <p:nvSpPr>
          <p:cNvPr id="33" name="Shape 31"/>
          <p:cNvSpPr/>
          <p:nvPr/>
        </p:nvSpPr>
        <p:spPr>
          <a:xfrm>
            <a:off x="8293608" y="1426464"/>
            <a:ext cx="3529584" cy="182880"/>
          </a:xfrm>
          <a:prstGeom prst="rect">
            <a:avLst/>
          </a:prstGeom>
          <a:solidFill>
            <a:srgbClr val="FFFFFF"/>
          </a:solidFill>
          <a:ln w="6350">
            <a:solidFill>
              <a:srgbClr val="DC2626"/>
            </a:solidFill>
            <a:prstDash val="solid"/>
          </a:ln>
        </p:spPr>
      </p:sp>
      <p:sp>
        <p:nvSpPr>
          <p:cNvPr id="34" name="Text 32"/>
          <p:cNvSpPr/>
          <p:nvPr/>
        </p:nvSpPr>
        <p:spPr>
          <a:xfrm>
            <a:off x="8293608" y="1426464"/>
            <a:ext cx="3529584" cy="182880"/>
          </a:xfrm>
          <a:prstGeom prst="rect">
            <a:avLst/>
          </a:prstGeom>
          <a:noFill/>
          <a:ln/>
        </p:spPr>
        <p:txBody>
          <a:bodyPr wrap="square" lIns="25400" tIns="25400" rIns="25400" bIns="25400" rtlCol="0" anchor="ctr"/>
          <a:lstStyle/>
          <a:p>
            <a:pPr marL="0" indent="0">
              <a:buNone/>
            </a:pPr>
            <a:r>
              <a:rPr lang="en-US" sz="700" b="1" dirty="0">
                <a:solidFill>
                  <a:srgbClr val="DC2626"/>
                </a:solidFill>
              </a:rPr>
              <a:t>β = 1.217 · α = +7.90% · SR = 0.272 · α+β GARCH = 0.947</a:t>
            </a:r>
            <a:endParaRPr lang="en-US" sz="700" dirty="0"/>
          </a:p>
        </p:txBody>
      </p:sp>
      <p:sp>
        <p:nvSpPr>
          <p:cNvPr id="35" name="Text 33"/>
          <p:cNvSpPr/>
          <p:nvPr/>
        </p:nvSpPr>
        <p:spPr>
          <a:xfrm>
            <a:off x="8293608" y="1645920"/>
            <a:ext cx="3529584" cy="1078992"/>
          </a:xfrm>
          <a:prstGeom prst="rect">
            <a:avLst/>
          </a:prstGeom>
          <a:noFill/>
          <a:ln/>
        </p:spPr>
        <p:txBody>
          <a:bodyPr wrap="square" lIns="0" tIns="0" rIns="0" bIns="0" rtlCol="0" anchor="ctr"/>
          <a:lstStyle/>
          <a:p>
            <a:pPr indent="0" algn="just">
              <a:lnSpc>
                <a:spcPct val="112000"/>
              </a:lnSpc>
              <a:buNone/>
            </a:pPr>
            <a:r>
              <a:rPr lang="en-US" sz="900" b="1" dirty="0">
                <a:solidFill>
                  <a:srgbClr val="0F172A"/>
                </a:solidFill>
              </a:rPr>
              <a:t>Alta persistencia de volatilidad (α+β = 0.947 → shocks de largo decaimiento). Alfa positiva pero menor calidad que NVDA/GOOGL/TSM. Capex masivo en metaverso y AI sin retorno demostrado. Riesgo regulatorio de </a:t>
            </a:r>
            <a:r>
              <a:rPr lang="en-US" sz="900" b="1" dirty="0" err="1">
                <a:solidFill>
                  <a:srgbClr val="0F172A"/>
                </a:solidFill>
              </a:rPr>
              <a:t>privacidad</a:t>
            </a:r>
            <a:r>
              <a:rPr lang="en-US" sz="900" b="1" dirty="0">
                <a:solidFill>
                  <a:srgbClr val="0F172A"/>
                </a:solidFill>
              </a:rPr>
              <a:t>.</a:t>
            </a:r>
          </a:p>
        </p:txBody>
      </p:sp>
      <p:sp>
        <p:nvSpPr>
          <p:cNvPr id="36" name="Shape 34"/>
          <p:cNvSpPr/>
          <p:nvPr/>
        </p:nvSpPr>
        <p:spPr>
          <a:xfrm>
            <a:off x="8183880" y="2898648"/>
            <a:ext cx="3749040" cy="1755648"/>
          </a:xfrm>
          <a:prstGeom prst="rect">
            <a:avLst/>
          </a:prstGeom>
          <a:solidFill>
            <a:srgbClr val="FEE2E2"/>
          </a:solidFill>
          <a:ln w="9525">
            <a:solidFill>
              <a:srgbClr val="DC2626"/>
            </a:solidFill>
            <a:prstDash val="solid"/>
          </a:ln>
        </p:spPr>
      </p:sp>
      <p:sp>
        <p:nvSpPr>
          <p:cNvPr id="37" name="Text 35"/>
          <p:cNvSpPr/>
          <p:nvPr/>
        </p:nvSpPr>
        <p:spPr>
          <a:xfrm>
            <a:off x="8293608" y="2962656"/>
            <a:ext cx="1097280" cy="310896"/>
          </a:xfrm>
          <a:prstGeom prst="rect">
            <a:avLst/>
          </a:prstGeom>
          <a:noFill/>
          <a:ln/>
        </p:spPr>
        <p:txBody>
          <a:bodyPr wrap="square" lIns="0" tIns="0" rIns="0" bIns="0" rtlCol="0" anchor="ctr"/>
          <a:lstStyle/>
          <a:p>
            <a:pPr marL="0" indent="0">
              <a:buNone/>
            </a:pPr>
            <a:r>
              <a:rPr lang="en-US" sz="1600" b="1" dirty="0">
                <a:solidFill>
                  <a:srgbClr val="DC2626"/>
                </a:solidFill>
              </a:rPr>
              <a:t>CRM</a:t>
            </a:r>
            <a:endParaRPr lang="en-US" sz="1600" dirty="0"/>
          </a:p>
        </p:txBody>
      </p:sp>
      <p:sp>
        <p:nvSpPr>
          <p:cNvPr id="38" name="Shape 36"/>
          <p:cNvSpPr/>
          <p:nvPr/>
        </p:nvSpPr>
        <p:spPr>
          <a:xfrm>
            <a:off x="8293608" y="3300984"/>
            <a:ext cx="3529584" cy="182880"/>
          </a:xfrm>
          <a:prstGeom prst="rect">
            <a:avLst/>
          </a:prstGeom>
          <a:solidFill>
            <a:srgbClr val="FFFFFF"/>
          </a:solidFill>
          <a:ln w="6350">
            <a:solidFill>
              <a:srgbClr val="DC2626"/>
            </a:solidFill>
            <a:prstDash val="solid"/>
          </a:ln>
        </p:spPr>
      </p:sp>
      <p:sp>
        <p:nvSpPr>
          <p:cNvPr id="39" name="Text 37"/>
          <p:cNvSpPr/>
          <p:nvPr/>
        </p:nvSpPr>
        <p:spPr>
          <a:xfrm>
            <a:off x="8293608" y="3300984"/>
            <a:ext cx="3529584" cy="182880"/>
          </a:xfrm>
          <a:prstGeom prst="rect">
            <a:avLst/>
          </a:prstGeom>
          <a:noFill/>
          <a:ln/>
        </p:spPr>
        <p:txBody>
          <a:bodyPr wrap="square" lIns="25400" tIns="25400" rIns="25400" bIns="25400" rtlCol="0" anchor="ctr"/>
          <a:lstStyle/>
          <a:p>
            <a:pPr marL="0" indent="0">
              <a:buNone/>
            </a:pPr>
            <a:r>
              <a:rPr lang="en-US" sz="700" b="1" dirty="0">
                <a:solidFill>
                  <a:srgbClr val="DC2626"/>
                </a:solidFill>
              </a:rPr>
              <a:t>β = 1.041 · α = −8.86% · SR = −0.047 · EXCLUIR</a:t>
            </a:r>
            <a:endParaRPr lang="en-US" sz="700" dirty="0"/>
          </a:p>
        </p:txBody>
      </p:sp>
      <p:sp>
        <p:nvSpPr>
          <p:cNvPr id="40" name="Text 38"/>
          <p:cNvSpPr/>
          <p:nvPr/>
        </p:nvSpPr>
        <p:spPr>
          <a:xfrm>
            <a:off x="8293608" y="3520440"/>
            <a:ext cx="3529584" cy="1078992"/>
          </a:xfrm>
          <a:prstGeom prst="rect">
            <a:avLst/>
          </a:prstGeom>
          <a:noFill/>
          <a:ln/>
        </p:spPr>
        <p:txBody>
          <a:bodyPr wrap="square" lIns="0" tIns="0" rIns="0" bIns="0" rtlCol="0" anchor="ctr"/>
          <a:lstStyle/>
          <a:p>
            <a:pPr algn="just">
              <a:lnSpc>
                <a:spcPct val="112000"/>
              </a:lnSpc>
            </a:pPr>
            <a:r>
              <a:rPr lang="en-US" sz="900" b="1" dirty="0">
                <a:solidFill>
                  <a:srgbClr val="0F172A"/>
                </a:solidFill>
              </a:rPr>
              <a:t>ÚNICO activo del portafolio con alfa y Sharpe negativos. Pérdida de valor sistemática ajustada por riesgo. Presión competitiva severa de MSFT Copilot validada cuantitativamente. Sin catalizador de recuperación visible.</a:t>
            </a:r>
          </a:p>
        </p:txBody>
      </p:sp>
      <p:sp>
        <p:nvSpPr>
          <p:cNvPr id="41" name="Shape 39"/>
          <p:cNvSpPr/>
          <p:nvPr/>
        </p:nvSpPr>
        <p:spPr>
          <a:xfrm>
            <a:off x="228600" y="5193792"/>
            <a:ext cx="7635240" cy="18288"/>
          </a:xfrm>
          <a:prstGeom prst="rect">
            <a:avLst/>
          </a:prstGeom>
          <a:solidFill>
            <a:srgbClr val="3B82C4"/>
          </a:solidFill>
          <a:ln w="12700">
            <a:solidFill>
              <a:srgbClr val="3B82C4"/>
            </a:solidFill>
            <a:prstDash val="solid"/>
          </a:ln>
        </p:spPr>
      </p:sp>
      <p:sp>
        <p:nvSpPr>
          <p:cNvPr id="42" name="Text 40"/>
          <p:cNvSpPr/>
          <p:nvPr/>
        </p:nvSpPr>
        <p:spPr>
          <a:xfrm>
            <a:off x="228600" y="5221224"/>
            <a:ext cx="7635240" cy="164592"/>
          </a:xfrm>
          <a:prstGeom prst="rect">
            <a:avLst/>
          </a:prstGeom>
          <a:noFill/>
          <a:ln/>
        </p:spPr>
        <p:txBody>
          <a:bodyPr wrap="square" lIns="0" tIns="0" rIns="0" bIns="0" rtlCol="0" anchor="ctr"/>
          <a:lstStyle/>
          <a:p>
            <a:pPr marL="0" indent="0">
              <a:buNone/>
            </a:pPr>
            <a:r>
              <a:rPr lang="en-US" sz="750" b="1" kern="0" spc="150" dirty="0">
                <a:solidFill>
                  <a:srgbClr val="1E4D8C"/>
                </a:solidFill>
              </a:rPr>
              <a:t>RIESGOS SISTÉMICOS A MONITOREAR</a:t>
            </a:r>
            <a:endParaRPr lang="en-US" sz="750" dirty="0"/>
          </a:p>
        </p:txBody>
      </p:sp>
      <p:sp>
        <p:nvSpPr>
          <p:cNvPr id="43" name="Shape 41"/>
          <p:cNvSpPr/>
          <p:nvPr/>
        </p:nvSpPr>
        <p:spPr>
          <a:xfrm>
            <a:off x="228600" y="5404104"/>
            <a:ext cx="2468880" cy="512064"/>
          </a:xfrm>
          <a:prstGeom prst="rect">
            <a:avLst/>
          </a:prstGeom>
          <a:solidFill>
            <a:srgbClr val="FEE2E2"/>
          </a:solidFill>
          <a:ln w="9525">
            <a:solidFill>
              <a:srgbClr val="DC2626"/>
            </a:solidFill>
            <a:prstDash val="solid"/>
          </a:ln>
        </p:spPr>
      </p:sp>
      <p:sp>
        <p:nvSpPr>
          <p:cNvPr id="44" name="Shape 42"/>
          <p:cNvSpPr/>
          <p:nvPr/>
        </p:nvSpPr>
        <p:spPr>
          <a:xfrm>
            <a:off x="228600" y="5404104"/>
            <a:ext cx="45720" cy="512064"/>
          </a:xfrm>
          <a:prstGeom prst="rect">
            <a:avLst/>
          </a:prstGeom>
          <a:solidFill>
            <a:srgbClr val="DC2626"/>
          </a:solidFill>
          <a:ln w="12700">
            <a:solidFill>
              <a:srgbClr val="DC2626"/>
            </a:solidFill>
            <a:prstDash val="solid"/>
          </a:ln>
        </p:spPr>
      </p:sp>
      <p:sp>
        <p:nvSpPr>
          <p:cNvPr id="45" name="Text 43"/>
          <p:cNvSpPr/>
          <p:nvPr/>
        </p:nvSpPr>
        <p:spPr>
          <a:xfrm>
            <a:off x="320040" y="5422392"/>
            <a:ext cx="2331720" cy="256032"/>
          </a:xfrm>
          <a:prstGeom prst="rect">
            <a:avLst/>
          </a:prstGeom>
          <a:noFill/>
          <a:ln/>
        </p:spPr>
        <p:txBody>
          <a:bodyPr wrap="square" lIns="0" tIns="0" rIns="0" bIns="0" rtlCol="0" anchor="ctr"/>
          <a:lstStyle/>
          <a:p>
            <a:pPr marL="0" indent="0">
              <a:lnSpc>
                <a:spcPct val="105000"/>
              </a:lnSpc>
              <a:buNone/>
            </a:pPr>
            <a:r>
              <a:rPr lang="en-US" sz="750" b="1" dirty="0">
                <a:solidFill>
                  <a:srgbClr val="0F172A"/>
                </a:solidFill>
              </a:rPr>
              <a:t>Restricciones exportación de chips a China</a:t>
            </a:r>
            <a:endParaRPr lang="en-US" sz="750" dirty="0"/>
          </a:p>
        </p:txBody>
      </p:sp>
      <p:sp>
        <p:nvSpPr>
          <p:cNvPr id="46" name="Text 44"/>
          <p:cNvSpPr/>
          <p:nvPr/>
        </p:nvSpPr>
        <p:spPr>
          <a:xfrm>
            <a:off x="320040" y="5687568"/>
            <a:ext cx="2331720" cy="164592"/>
          </a:xfrm>
          <a:prstGeom prst="rect">
            <a:avLst/>
          </a:prstGeom>
          <a:noFill/>
          <a:ln/>
        </p:spPr>
        <p:txBody>
          <a:bodyPr wrap="square" lIns="0" tIns="0" rIns="0" bIns="0" rtlCol="0" anchor="ctr"/>
          <a:lstStyle/>
          <a:p>
            <a:pPr marL="0" indent="0">
              <a:buNone/>
            </a:pPr>
            <a:r>
              <a:rPr lang="en-US" sz="750" b="1" dirty="0">
                <a:solidFill>
                  <a:srgbClr val="DC2626"/>
                </a:solidFill>
              </a:rPr>
              <a:t>Exposición: NVDA / TSM</a:t>
            </a:r>
            <a:endParaRPr lang="en-US" sz="750" dirty="0"/>
          </a:p>
        </p:txBody>
      </p:sp>
      <p:sp>
        <p:nvSpPr>
          <p:cNvPr id="47" name="Shape 45"/>
          <p:cNvSpPr/>
          <p:nvPr/>
        </p:nvSpPr>
        <p:spPr>
          <a:xfrm>
            <a:off x="2834640" y="5404104"/>
            <a:ext cx="2468880" cy="512064"/>
          </a:xfrm>
          <a:prstGeom prst="rect">
            <a:avLst/>
          </a:prstGeom>
          <a:solidFill>
            <a:srgbClr val="FEE2E2"/>
          </a:solidFill>
          <a:ln w="9525">
            <a:solidFill>
              <a:srgbClr val="DC2626"/>
            </a:solidFill>
            <a:prstDash val="solid"/>
          </a:ln>
        </p:spPr>
      </p:sp>
      <p:sp>
        <p:nvSpPr>
          <p:cNvPr id="48" name="Shape 46"/>
          <p:cNvSpPr/>
          <p:nvPr/>
        </p:nvSpPr>
        <p:spPr>
          <a:xfrm>
            <a:off x="2834640" y="5404104"/>
            <a:ext cx="45720" cy="512064"/>
          </a:xfrm>
          <a:prstGeom prst="rect">
            <a:avLst/>
          </a:prstGeom>
          <a:solidFill>
            <a:srgbClr val="DC2626"/>
          </a:solidFill>
          <a:ln w="12700">
            <a:solidFill>
              <a:srgbClr val="DC2626"/>
            </a:solidFill>
            <a:prstDash val="solid"/>
          </a:ln>
        </p:spPr>
      </p:sp>
      <p:sp>
        <p:nvSpPr>
          <p:cNvPr id="49" name="Text 47"/>
          <p:cNvSpPr/>
          <p:nvPr/>
        </p:nvSpPr>
        <p:spPr>
          <a:xfrm>
            <a:off x="2926080" y="5422392"/>
            <a:ext cx="2331720" cy="256032"/>
          </a:xfrm>
          <a:prstGeom prst="rect">
            <a:avLst/>
          </a:prstGeom>
          <a:noFill/>
          <a:ln/>
        </p:spPr>
        <p:txBody>
          <a:bodyPr wrap="square" lIns="0" tIns="0" rIns="0" bIns="0" rtlCol="0" anchor="ctr"/>
          <a:lstStyle/>
          <a:p>
            <a:pPr marL="0" indent="0">
              <a:lnSpc>
                <a:spcPct val="105000"/>
              </a:lnSpc>
              <a:buNone/>
            </a:pPr>
            <a:r>
              <a:rPr lang="en-US" sz="750" b="1" dirty="0">
                <a:solidFill>
                  <a:srgbClr val="0F172A"/>
                </a:solidFill>
              </a:rPr>
              <a:t>Fallo DOJ vs. Google (antimonopolio search)</a:t>
            </a:r>
            <a:endParaRPr lang="en-US" sz="750" dirty="0"/>
          </a:p>
        </p:txBody>
      </p:sp>
      <p:sp>
        <p:nvSpPr>
          <p:cNvPr id="50" name="Text 48"/>
          <p:cNvSpPr/>
          <p:nvPr/>
        </p:nvSpPr>
        <p:spPr>
          <a:xfrm>
            <a:off x="2926080" y="5687568"/>
            <a:ext cx="2331720" cy="164592"/>
          </a:xfrm>
          <a:prstGeom prst="rect">
            <a:avLst/>
          </a:prstGeom>
          <a:noFill/>
          <a:ln/>
        </p:spPr>
        <p:txBody>
          <a:bodyPr wrap="square" lIns="0" tIns="0" rIns="0" bIns="0" rtlCol="0" anchor="ctr"/>
          <a:lstStyle/>
          <a:p>
            <a:pPr marL="0" indent="0">
              <a:buNone/>
            </a:pPr>
            <a:r>
              <a:rPr lang="en-US" sz="750" b="1" dirty="0">
                <a:solidFill>
                  <a:srgbClr val="D97706"/>
                </a:solidFill>
              </a:rPr>
              <a:t>Exposición: GOOGL</a:t>
            </a:r>
            <a:endParaRPr lang="en-US" sz="750" dirty="0"/>
          </a:p>
        </p:txBody>
      </p:sp>
      <p:sp>
        <p:nvSpPr>
          <p:cNvPr id="51" name="Shape 49"/>
          <p:cNvSpPr/>
          <p:nvPr/>
        </p:nvSpPr>
        <p:spPr>
          <a:xfrm>
            <a:off x="5440680" y="5404104"/>
            <a:ext cx="2468880" cy="512064"/>
          </a:xfrm>
          <a:prstGeom prst="rect">
            <a:avLst/>
          </a:prstGeom>
          <a:solidFill>
            <a:srgbClr val="FEE2E2"/>
          </a:solidFill>
          <a:ln w="9525">
            <a:solidFill>
              <a:srgbClr val="DC2626"/>
            </a:solidFill>
            <a:prstDash val="solid"/>
          </a:ln>
        </p:spPr>
      </p:sp>
      <p:sp>
        <p:nvSpPr>
          <p:cNvPr id="52" name="Shape 50"/>
          <p:cNvSpPr/>
          <p:nvPr/>
        </p:nvSpPr>
        <p:spPr>
          <a:xfrm>
            <a:off x="5440680" y="5404104"/>
            <a:ext cx="45720" cy="512064"/>
          </a:xfrm>
          <a:prstGeom prst="rect">
            <a:avLst/>
          </a:prstGeom>
          <a:solidFill>
            <a:srgbClr val="DC2626"/>
          </a:solidFill>
          <a:ln w="12700">
            <a:solidFill>
              <a:srgbClr val="DC2626"/>
            </a:solidFill>
            <a:prstDash val="solid"/>
          </a:ln>
        </p:spPr>
      </p:sp>
      <p:sp>
        <p:nvSpPr>
          <p:cNvPr id="53" name="Text 51"/>
          <p:cNvSpPr/>
          <p:nvPr/>
        </p:nvSpPr>
        <p:spPr>
          <a:xfrm>
            <a:off x="5532120" y="5422392"/>
            <a:ext cx="2331720" cy="256032"/>
          </a:xfrm>
          <a:prstGeom prst="rect">
            <a:avLst/>
          </a:prstGeom>
          <a:noFill/>
          <a:ln/>
        </p:spPr>
        <p:txBody>
          <a:bodyPr wrap="square" lIns="0" tIns="0" rIns="0" bIns="0" rtlCol="0" anchor="ctr"/>
          <a:lstStyle/>
          <a:p>
            <a:pPr marL="0" indent="0">
              <a:lnSpc>
                <a:spcPct val="105000"/>
              </a:lnSpc>
              <a:buNone/>
            </a:pPr>
            <a:r>
              <a:rPr lang="en-US" sz="750" b="1" dirty="0">
                <a:solidFill>
                  <a:srgbClr val="0F172A"/>
                </a:solidFill>
              </a:rPr>
              <a:t>Escalada geopolítica Taiwan (TSMC)</a:t>
            </a:r>
            <a:endParaRPr lang="en-US" sz="750" dirty="0"/>
          </a:p>
        </p:txBody>
      </p:sp>
      <p:sp>
        <p:nvSpPr>
          <p:cNvPr id="54" name="Text 52"/>
          <p:cNvSpPr/>
          <p:nvPr/>
        </p:nvSpPr>
        <p:spPr>
          <a:xfrm>
            <a:off x="5532120" y="5687568"/>
            <a:ext cx="2331720" cy="164592"/>
          </a:xfrm>
          <a:prstGeom prst="rect">
            <a:avLst/>
          </a:prstGeom>
          <a:noFill/>
          <a:ln/>
        </p:spPr>
        <p:txBody>
          <a:bodyPr wrap="square" lIns="0" tIns="0" rIns="0" bIns="0" rtlCol="0" anchor="ctr"/>
          <a:lstStyle/>
          <a:p>
            <a:pPr marL="0" indent="0">
              <a:buNone/>
            </a:pPr>
            <a:r>
              <a:rPr lang="en-US" sz="750" b="1" dirty="0">
                <a:solidFill>
                  <a:srgbClr val="DC2626"/>
                </a:solidFill>
              </a:rPr>
              <a:t>Exposición: TSM / NVDA</a:t>
            </a:r>
            <a:endParaRPr lang="en-US" sz="750" dirty="0"/>
          </a:p>
        </p:txBody>
      </p:sp>
      <p:sp>
        <p:nvSpPr>
          <p:cNvPr id="58" name="Shape 56"/>
          <p:cNvSpPr/>
          <p:nvPr/>
        </p:nvSpPr>
        <p:spPr>
          <a:xfrm>
            <a:off x="0" y="6601968"/>
            <a:ext cx="12161520" cy="256032"/>
          </a:xfrm>
          <a:prstGeom prst="rect">
            <a:avLst/>
          </a:prstGeom>
          <a:solidFill>
            <a:srgbClr val="0D2240"/>
          </a:solidFill>
          <a:ln w="12700">
            <a:solidFill>
              <a:srgbClr val="0D2240"/>
            </a:solidFill>
            <a:prstDash val="solid"/>
          </a:ln>
        </p:spPr>
      </p:sp>
      <p:sp>
        <p:nvSpPr>
          <p:cNvPr id="59" name="Text 57"/>
          <p:cNvSpPr/>
          <p:nvPr/>
        </p:nvSpPr>
        <p:spPr>
          <a:xfrm>
            <a:off x="228600" y="6601968"/>
            <a:ext cx="7315200" cy="256032"/>
          </a:xfrm>
          <a:prstGeom prst="rect">
            <a:avLst/>
          </a:prstGeom>
          <a:noFill/>
          <a:ln/>
        </p:spPr>
        <p:txBody>
          <a:bodyPr wrap="square" lIns="0" tIns="0" rIns="0" bIns="0" rtlCol="0" anchor="ctr"/>
          <a:lstStyle/>
          <a:p>
            <a:pPr marL="0" indent="0">
              <a:buNone/>
            </a:pPr>
            <a:r>
              <a:rPr lang="en-US" sz="800" dirty="0">
                <a:solidFill>
                  <a:srgbClr val="C8D9F0"/>
                </a:solidFill>
              </a:rPr>
              <a:t>MACROCONSULT  ·  Sistema de Información de Mercados</a:t>
            </a:r>
            <a:endParaRPr lang="en-US" sz="800" dirty="0"/>
          </a:p>
        </p:txBody>
      </p:sp>
      <p:sp>
        <p:nvSpPr>
          <p:cNvPr id="60" name="Text 58"/>
          <p:cNvSpPr/>
          <p:nvPr/>
        </p:nvSpPr>
        <p:spPr>
          <a:xfrm>
            <a:off x="11247120" y="6601968"/>
            <a:ext cx="685800" cy="256032"/>
          </a:xfrm>
          <a:prstGeom prst="rect">
            <a:avLst/>
          </a:prstGeom>
          <a:noFill/>
          <a:ln/>
        </p:spPr>
        <p:txBody>
          <a:bodyPr wrap="square" lIns="0" tIns="0" rIns="0" bIns="0" rtlCol="0" anchor="ctr"/>
          <a:lstStyle/>
          <a:p>
            <a:pPr marL="0" indent="0" algn="r">
              <a:buNone/>
            </a:pPr>
            <a:r>
              <a:rPr lang="en-US" sz="800" dirty="0">
                <a:solidFill>
                  <a:srgbClr val="C8D9F0"/>
                </a:solidFill>
              </a:rPr>
              <a:t>6 / 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2257</Words>
  <Application>Microsoft Office PowerPoint</Application>
  <PresentationFormat>Panorámica</PresentationFormat>
  <Paragraphs>356</Paragraphs>
  <Slides>6</Slides>
  <Notes>6</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6</vt:i4>
      </vt:variant>
    </vt:vector>
  </HeadingPairs>
  <TitlesOfParts>
    <vt:vector size="9"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Evaluación de Inversión en Empresas de Inteligencia Artificial — Macroconsult 2026</dc:title>
  <dc:subject>PptxGenJS Presentation</dc:subject>
  <dc:creator>Joan Valderrama Inoñan</dc:creator>
  <cp:lastModifiedBy>jvalderramainonan@gmail.com</cp:lastModifiedBy>
  <cp:revision>2</cp:revision>
  <dcterms:created xsi:type="dcterms:W3CDTF">2026-06-07T01:20:22Z</dcterms:created>
  <dcterms:modified xsi:type="dcterms:W3CDTF">2026-06-07T03:10:45Z</dcterms:modified>
</cp:coreProperties>
</file>