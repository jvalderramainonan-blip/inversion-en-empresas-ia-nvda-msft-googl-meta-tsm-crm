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0" r:id="rId4"/>
    <p:sldId id="258" r:id="rId5"/>
    <p:sldId id="259" r:id="rId6"/>
    <p:sldId id="261" r:id="rId7"/>
  </p:sldIdLst>
  <p:sldSz cx="16256000" cy="9144000"/>
  <p:notesSz cx="9144000" cy="16256000"/>
  <p:embeddedFontLst>
    <p:embeddedFont>
      <p:font typeface="Liter" panose="020B0604020202020204" charset="0"/>
      <p:regular r:id="rId9"/>
    </p:embeddedFont>
    <p:embeddedFont>
      <p:font typeface="Oranienbaum" panose="02000506080000020003" pitchFamily="2" charset="0"/>
      <p:regular r:id="rId10"/>
    </p:embeddedFont>
  </p:embeddedFontLst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038" autoAdjust="0"/>
  </p:normalViewPr>
  <p:slideViewPr>
    <p:cSldViewPr snapToGrid="0" snapToObjects="1">
      <p:cViewPr varScale="1">
        <p:scale>
          <a:sx n="65" d="100"/>
          <a:sy n="65" d="100"/>
        </p:scale>
        <p:origin x="4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del Portafolio</c:v>
                </c:pt>
              </c:strCache>
            </c:strRef>
          </c:tx>
          <c:spPr>
            <a:solidFill>
              <a:srgbClr val="1B4F72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C2833"/>
                    </a:solidFill>
                    <a:latin typeface="Arial"/>
                  </a:defRPr>
                </a:pPr>
                <a:endParaRPr lang="es-P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CRM</c:v>
                </c:pt>
                <c:pt idx="1">
                  <c:v>TSM</c:v>
                </c:pt>
                <c:pt idx="2">
                  <c:v>GOOGL</c:v>
                </c:pt>
                <c:pt idx="3">
                  <c:v>MSFT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0.33</c:v>
                </c:pt>
                <c:pt idx="1">
                  <c:v>20.05</c:v>
                </c:pt>
                <c:pt idx="2">
                  <c:v>21.44</c:v>
                </c:pt>
                <c:pt idx="3">
                  <c:v>58.18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3C-4455-946D-CFD12FD845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7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8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3074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PE" b="1" dirty="0"/>
              <a:t>NOTAS IMPORTANTES: </a:t>
            </a:r>
          </a:p>
          <a:p>
            <a:pPr marL="228600" indent="-228600">
              <a:buAutoNum type="arabicPeriod"/>
            </a:pPr>
            <a:r>
              <a:rPr lang="es-PE" b="1" dirty="0"/>
              <a:t>Para el cálculo del valor esperado del rendimiento se empleó el método CAPM: E(</a:t>
            </a:r>
            <a:r>
              <a:rPr lang="es-PE" b="1" dirty="0" err="1"/>
              <a:t>Ri</a:t>
            </a:r>
            <a:r>
              <a:rPr lang="es-PE" b="1" dirty="0"/>
              <a:t>)= </a:t>
            </a:r>
            <a:r>
              <a:rPr lang="es-PE" b="1" dirty="0" err="1"/>
              <a:t>Rf+beta</a:t>
            </a:r>
            <a:r>
              <a:rPr lang="es-PE" b="1" dirty="0"/>
              <a:t>(i)*</a:t>
            </a:r>
            <a:r>
              <a:rPr lang="es-PE" b="1" dirty="0" err="1"/>
              <a:t>ERP_damodarán</a:t>
            </a:r>
            <a:r>
              <a:rPr lang="es-PE" b="1" dirty="0"/>
              <a:t>.</a:t>
            </a:r>
          </a:p>
          <a:p>
            <a:pPr marL="228600" indent="-228600">
              <a:buAutoNum type="arabicPeriod"/>
            </a:pPr>
            <a:r>
              <a:rPr lang="es-PE" b="1" dirty="0"/>
              <a:t>La prima de riesgo se obtuvo de la base de datos de </a:t>
            </a:r>
            <a:r>
              <a:rPr lang="es-PE" b="1" dirty="0" err="1"/>
              <a:t>Damodarán</a:t>
            </a:r>
            <a:r>
              <a:rPr lang="es-PE" b="1" dirty="0"/>
              <a:t>. </a:t>
            </a:r>
          </a:p>
          <a:p>
            <a:pPr marL="228600" indent="-228600">
              <a:buAutoNum type="arabicPeriod"/>
            </a:pPr>
            <a:r>
              <a:rPr lang="es-PE" b="1" dirty="0"/>
              <a:t>Los resultados se obtuvieron siguiendo la metodología no paramétrica del VaR al 99% y 95% respectivamente. Estos valores se obtuvieron después de estimar las volatilidades del modelo GARCH (1,1) para cada retorno de las 5 empresas en cuestión.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PE" sz="800" b="1" dirty="0"/>
              <a:t>NOTAS IMPORTANTES: </a:t>
            </a:r>
          </a:p>
          <a:p>
            <a:pPr marL="0" indent="0" algn="just">
              <a:buNone/>
            </a:pPr>
            <a:r>
              <a:rPr lang="es-PE" sz="800" b="0" dirty="0"/>
              <a:t>1. Se utilizó un modelo de cambio de régimen de Markov-</a:t>
            </a:r>
            <a:r>
              <a:rPr lang="es-PE" sz="800" b="0" dirty="0" err="1"/>
              <a:t>Shitching</a:t>
            </a:r>
            <a:r>
              <a:rPr lang="es-PE" sz="800" b="0" dirty="0"/>
              <a:t> para la estimación de la matriz de transición del ciclo del PBI  de estados unidos y se comprueba que  la economía estado </a:t>
            </a:r>
            <a:r>
              <a:rPr lang="es-PE" sz="800" b="0" dirty="0" err="1"/>
              <a:t>unidense</a:t>
            </a:r>
            <a:r>
              <a:rPr lang="es-PE" sz="800" b="0" dirty="0"/>
              <a:t> puede ubicarse en recesión, expansión y auge  alrededor de 4.5 , 9.9 , 4.5 trimestres, respectivamente.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800" b="0" dirty="0"/>
              <a:t>2. Se utilizó un modelo de cambio de régimen de Markov-</a:t>
            </a:r>
            <a:r>
              <a:rPr lang="es-PE" sz="800" b="0" dirty="0" err="1"/>
              <a:t>Shitching</a:t>
            </a:r>
            <a:r>
              <a:rPr lang="es-PE" sz="800" b="0" dirty="0"/>
              <a:t> para la estimación de la matriz de transición del ciclo financiero  de estados unidos y se comprueba que  la economía estado </a:t>
            </a:r>
            <a:r>
              <a:rPr lang="es-PE" sz="800" b="0" dirty="0" err="1"/>
              <a:t>unidense</a:t>
            </a:r>
            <a:r>
              <a:rPr lang="es-PE" sz="800" b="0" dirty="0"/>
              <a:t> puede ubicarse en recesión, expansión y auge  alrededor de 5.5 , 8.4 , 7.24 trimestres, respectivamente. </a:t>
            </a:r>
          </a:p>
          <a:p>
            <a:pPr marL="0" indent="0" algn="just">
              <a:buNone/>
            </a:pPr>
            <a:r>
              <a:rPr lang="es-PE" sz="800" b="0" dirty="0"/>
              <a:t>3. En base a la teoría de portafolio de Markowitz se obtuvo los pesos óptimos de diversificación de activos.</a:t>
            </a:r>
          </a:p>
          <a:p>
            <a:pPr marL="0" indent="0" algn="just">
              <a:buNone/>
            </a:pPr>
            <a:r>
              <a:rPr lang="es-PE" sz="800" b="0" dirty="0"/>
              <a:t>4. Con los pesos óptimo y con la matriz de transición estimada procedimos con el cálculo del valor esperado del portafolio. </a:t>
            </a:r>
          </a:p>
          <a:p>
            <a:pPr marL="0" indent="0" algn="just">
              <a:buNone/>
            </a:pPr>
            <a:r>
              <a:rPr lang="es-PE" sz="800" b="0" dirty="0"/>
              <a:t>5. La distribución de estacionariedad de largo plazo de la cadena de Márkov asociada a la matriz de transición de los regímenes económico en cada periodo t y con ello se estimó el valor y el riesgo esperado del portafolio para esos posibles estacionarios.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EVIDENCIA DE LOS RESULTADOS: </a:t>
            </a:r>
            <a:r>
              <a:rPr lang="en-US" b="1" dirty="0"/>
              <a:t>https://github.com/jvalderramainonan-blip/INVERSION-EN-EMPRESAS-IA-NVDA-MSFT-GOOGL-META-TSM-CRM.git 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200" kern="0" spc="300" noProof="0" dirty="0">
                <a:solidFill>
                  <a:srgbClr val="E8A0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MACROCONSULT · SISTEMA DE INFORMACIÓN DE MERCADOS</a:t>
            </a:r>
            <a:endParaRPr lang="es-ES" sz="1600" noProof="0" dirty="0"/>
          </a:p>
        </p:txBody>
      </p:sp>
      <p:sp>
        <p:nvSpPr>
          <p:cNvPr id="3" name="Text 1"/>
          <p:cNvSpPr/>
          <p:nvPr/>
        </p:nvSpPr>
        <p:spPr>
          <a:xfrm>
            <a:off x="1270000" y="2286000"/>
            <a:ext cx="8890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s-ES" sz="4800" noProof="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Evaluación de Inversión en</a:t>
            </a:r>
            <a:endParaRPr lang="es-ES" sz="4800" noProof="0" dirty="0"/>
          </a:p>
        </p:txBody>
      </p:sp>
      <p:sp>
        <p:nvSpPr>
          <p:cNvPr id="4" name="Text 2"/>
          <p:cNvSpPr/>
          <p:nvPr/>
        </p:nvSpPr>
        <p:spPr>
          <a:xfrm>
            <a:off x="1270000" y="3175000"/>
            <a:ext cx="95250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s-ES" sz="4800" noProof="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Empresas de Inteligencia Artificial</a:t>
            </a:r>
            <a:endParaRPr lang="es-ES" sz="4800" noProof="0" dirty="0"/>
          </a:p>
        </p:txBody>
      </p:sp>
      <p:sp>
        <p:nvSpPr>
          <p:cNvPr id="5" name="Shape 3"/>
          <p:cNvSpPr/>
          <p:nvPr/>
        </p:nvSpPr>
        <p:spPr>
          <a:xfrm>
            <a:off x="1270000" y="4318000"/>
            <a:ext cx="2032000" cy="254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6" name="Text 4"/>
          <p:cNvSpPr/>
          <p:nvPr/>
        </p:nvSpPr>
        <p:spPr>
          <a:xfrm>
            <a:off x="1270000" y="4699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s-ES" sz="1200" kern="0" spc="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EMPRESAS ANALIZADAS</a:t>
            </a:r>
            <a:endParaRPr lang="es-ES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1270000" y="5016500"/>
            <a:ext cx="825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800" b="1" noProof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NVDA (</a:t>
            </a:r>
            <a:r>
              <a:rPr lang="es-ES" sz="1800" noProof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NVIDIA)· </a:t>
            </a:r>
            <a:r>
              <a:rPr lang="es-ES" sz="1800" b="1" noProof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MSFT</a:t>
            </a:r>
            <a:r>
              <a:rPr lang="es-ES" sz="1800" noProof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(·Microsoft ) </a:t>
            </a:r>
            <a:r>
              <a:rPr lang="es-ES" sz="1800" b="1" noProof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</a:t>
            </a:r>
            <a:r>
              <a:rPr lang="es-ES" sz="1800" noProof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r>
              <a:rPr lang="es-ES" sz="1800" noProof="0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Alphabet</a:t>
            </a:r>
            <a:r>
              <a:rPr lang="es-ES" sz="1800" noProof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)· </a:t>
            </a:r>
            <a:r>
              <a:rPr lang="es-ES" sz="1800" b="1" noProof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 (Meta </a:t>
            </a:r>
            <a:r>
              <a:rPr lang="es-ES" sz="1800" b="1" noProof="0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Platforms</a:t>
            </a:r>
            <a:r>
              <a:rPr lang="es-ES" sz="1800" b="1" noProof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r>
              <a:rPr lang="es-ES" sz="1800" noProof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· </a:t>
            </a:r>
            <a:r>
              <a:rPr lang="es-ES" sz="1800" b="1" noProof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TSM</a:t>
            </a:r>
            <a:r>
              <a:rPr lang="es-ES" sz="1800" noProof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(Taiwan Semiconductor) · </a:t>
            </a:r>
            <a:r>
              <a:rPr lang="es-ES" sz="1800" b="1" noProof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CRM (Salesforce </a:t>
            </a:r>
            <a:r>
              <a:rPr lang="es-ES" sz="1800" b="1" noProof="0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</a:t>
            </a:r>
            <a:r>
              <a:rPr lang="es-ES" sz="1800" b="1" noProof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s-ES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1270000" y="5588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4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Benchmarks: </a:t>
            </a:r>
            <a:r>
              <a:rPr lang="es-ES" sz="1400" noProof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S&amp;P 500 </a:t>
            </a:r>
            <a:endParaRPr lang="es-ES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1270000" y="5905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4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Período: </a:t>
            </a:r>
            <a:r>
              <a:rPr lang="es-ES" sz="1400" noProof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Enero 2020 – Mayo 2026</a:t>
            </a:r>
            <a:endParaRPr lang="es-ES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1270000" y="7366000"/>
            <a:ext cx="762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s-ES" sz="1400" b="1" noProof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Joan Valderrama </a:t>
            </a:r>
            <a:r>
              <a:rPr lang="es-ES" sz="1400" b="1" noProof="0" dirty="0" err="1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Inoñan</a:t>
            </a:r>
            <a:endParaRPr lang="es-ES" sz="1600" noProof="0" dirty="0"/>
          </a:p>
          <a:p>
            <a:pPr>
              <a:lnSpc>
                <a:spcPct val="150000"/>
              </a:lnSpc>
            </a:pPr>
            <a:r>
              <a:rPr lang="es-ES" sz="14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Universidad Nacional del Callao · Practicante — Sistema de Información de </a:t>
            </a:r>
            <a:r>
              <a:rPr lang="es-ES" sz="1400" noProof="0" dirty="0" err="1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Macroconsult</a:t>
            </a:r>
            <a:endParaRPr lang="es-ES" sz="1600" noProof="0" dirty="0"/>
          </a:p>
        </p:txBody>
      </p:sp>
      <p:sp>
        <p:nvSpPr>
          <p:cNvPr id="11" name="Text 9"/>
          <p:cNvSpPr/>
          <p:nvPr/>
        </p:nvSpPr>
        <p:spPr>
          <a:xfrm>
            <a:off x="1270000" y="8191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3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 de junio de 2026</a:t>
            </a:r>
            <a:endParaRPr lang="es-ES" sz="1600" noProof="0" dirty="0"/>
          </a:p>
        </p:txBody>
      </p:sp>
      <p:sp>
        <p:nvSpPr>
          <p:cNvPr id="12" name="Text 10"/>
          <p:cNvSpPr/>
          <p:nvPr/>
        </p:nvSpPr>
        <p:spPr>
          <a:xfrm>
            <a:off x="1270000" y="8763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1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MACROCONSULT · Sistema de Información de Mercados</a:t>
            </a:r>
            <a:endParaRPr lang="es-ES" sz="1600" noProof="0" dirty="0"/>
          </a:p>
        </p:txBody>
      </p:sp>
      <p:sp>
        <p:nvSpPr>
          <p:cNvPr id="13" name="Text 11"/>
          <p:cNvSpPr/>
          <p:nvPr/>
        </p:nvSpPr>
        <p:spPr>
          <a:xfrm>
            <a:off x="14986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s-ES" sz="11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 / 6</a:t>
            </a:r>
            <a:endParaRPr lang="es-ES" sz="1600" noProof="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1778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s-ES" sz="1400" b="1" noProof="0" dirty="0">
                <a:solidFill>
                  <a:srgbClr val="E8A0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s-ES" sz="1400" noProof="0" dirty="0"/>
          </a:p>
        </p:txBody>
      </p:sp>
      <p:sp>
        <p:nvSpPr>
          <p:cNvPr id="3" name="Text 1"/>
          <p:cNvSpPr/>
          <p:nvPr/>
        </p:nvSpPr>
        <p:spPr>
          <a:xfrm>
            <a:off x="1016000" y="177800"/>
            <a:ext cx="1143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s-ES" sz="1400" noProof="0" dirty="0">
                <a:solidFill>
                  <a:srgbClr val="1B4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Antecedentes de Investigación · Tesis Sectorial y Contexto Macroeconómico</a:t>
            </a:r>
            <a:endParaRPr lang="es-ES" sz="1400" noProof="0" dirty="0"/>
          </a:p>
        </p:txBody>
      </p:sp>
      <p:sp>
        <p:nvSpPr>
          <p:cNvPr id="4" name="Text 2"/>
          <p:cNvSpPr/>
          <p:nvPr/>
        </p:nvSpPr>
        <p:spPr>
          <a:xfrm>
            <a:off x="12954000" y="1778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s-ES" sz="1400" i="1" noProof="0" dirty="0">
                <a:solidFill>
                  <a:srgbClr val="E8A0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¿Por qué invertir en IA hoy?</a:t>
            </a:r>
            <a:endParaRPr lang="es-ES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508000" y="508000"/>
            <a:ext cx="15240000" cy="0"/>
          </a:xfrm>
          <a:prstGeom prst="straightConnector1">
            <a:avLst/>
          </a:prstGeom>
          <a:noFill/>
          <a:ln w="12700">
            <a:solidFill>
              <a:srgbClr val="D5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6" name="Text 4"/>
          <p:cNvSpPr/>
          <p:nvPr/>
        </p:nvSpPr>
        <p:spPr>
          <a:xfrm>
            <a:off x="508000" y="635000"/>
            <a:ext cx="812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600" b="1" noProof="0" dirty="0">
                <a:solidFill>
                  <a:srgbClr val="E8A0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[01]</a:t>
            </a:r>
            <a:r>
              <a:rPr lang="es-ES" sz="1600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s-ES" b="1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Crecimiento &amp; Valoración</a:t>
            </a:r>
            <a:endParaRPr lang="es-ES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508000" y="965200"/>
            <a:ext cx="812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Babina et al. (2024). </a:t>
            </a:r>
            <a:r>
              <a:rPr lang="es-ES" sz="1200" noProof="0" dirty="0" err="1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Journal</a:t>
            </a:r>
            <a:r>
              <a:rPr lang="es-ES" sz="1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s-ES" sz="1200" noProof="0" dirty="0" err="1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</a:t>
            </a:r>
            <a:r>
              <a:rPr lang="es-ES" sz="1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s-ES" sz="1200" noProof="0" dirty="0" err="1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</a:t>
            </a:r>
            <a:r>
              <a:rPr lang="es-ES" sz="1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s-ES" sz="1200" noProof="0" dirty="0" err="1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Economics</a:t>
            </a:r>
            <a:r>
              <a:rPr lang="es-ES" sz="1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151, 103745.</a:t>
            </a:r>
            <a:endParaRPr lang="es-ES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508000" y="1244600"/>
            <a:ext cx="812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40000"/>
              </a:lnSpc>
            </a:pPr>
            <a:r>
              <a:rPr lang="es-ES" sz="1600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Las empresas con mayor inversión en IA registran mayor crecimiento en ventas, empleo y capitalización; el mecanismo es innovación de producto, no reducción de costos.</a:t>
            </a:r>
            <a:endParaRPr lang="es-ES" noProof="0" dirty="0"/>
          </a:p>
        </p:txBody>
      </p:sp>
      <p:sp>
        <p:nvSpPr>
          <p:cNvPr id="9" name="Text 7"/>
          <p:cNvSpPr/>
          <p:nvPr/>
        </p:nvSpPr>
        <p:spPr>
          <a:xfrm>
            <a:off x="508000" y="1879600"/>
            <a:ext cx="812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300" i="1" noProof="0" dirty="0">
                <a:solidFill>
                  <a:srgbClr val="1B4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Favorece a incumbentes grandes (NVDA, MSFT, GOOGL, TSM)</a:t>
            </a:r>
            <a:endParaRPr lang="es-ES" sz="1600" noProof="0" dirty="0"/>
          </a:p>
        </p:txBody>
      </p:sp>
      <p:sp>
        <p:nvSpPr>
          <p:cNvPr id="10" name="Shape 8"/>
          <p:cNvSpPr/>
          <p:nvPr/>
        </p:nvSpPr>
        <p:spPr>
          <a:xfrm>
            <a:off x="508000" y="2209800"/>
            <a:ext cx="8128000" cy="0"/>
          </a:xfrm>
          <a:prstGeom prst="straightConnector1">
            <a:avLst/>
          </a:prstGeom>
          <a:noFill/>
          <a:ln w="12700">
            <a:solidFill>
              <a:srgbClr val="D5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1" name="Text 9"/>
          <p:cNvSpPr/>
          <p:nvPr/>
        </p:nvSpPr>
        <p:spPr>
          <a:xfrm>
            <a:off x="508000" y="2311400"/>
            <a:ext cx="812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b="1" noProof="0" dirty="0">
                <a:solidFill>
                  <a:srgbClr val="E8A0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[02]</a:t>
            </a:r>
            <a:r>
              <a:rPr lang="es-ES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s-ES" b="1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 Generativa en Finanzas</a:t>
            </a:r>
            <a:endParaRPr lang="es-ES" noProof="0" dirty="0"/>
          </a:p>
        </p:txBody>
      </p:sp>
      <p:sp>
        <p:nvSpPr>
          <p:cNvPr id="12" name="Text 10"/>
          <p:cNvSpPr/>
          <p:nvPr/>
        </p:nvSpPr>
        <p:spPr>
          <a:xfrm>
            <a:off x="508000" y="2641600"/>
            <a:ext cx="812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Ali, Zafar &amp; Aysan (2025). </a:t>
            </a:r>
            <a:r>
              <a:rPr lang="es-ES" sz="1200" noProof="0" dirty="0" err="1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Finance</a:t>
            </a:r>
            <a:r>
              <a:rPr lang="es-ES" sz="1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s-ES" sz="1200" noProof="0" dirty="0" err="1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</a:t>
            </a:r>
            <a:r>
              <a:rPr lang="es-ES" sz="1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Letters, 86, 108797.</a:t>
            </a:r>
            <a:endParaRPr lang="es-ES" sz="1600" noProof="0" dirty="0"/>
          </a:p>
        </p:txBody>
      </p:sp>
      <p:sp>
        <p:nvSpPr>
          <p:cNvPr id="13" name="Text 11"/>
          <p:cNvSpPr/>
          <p:nvPr/>
        </p:nvSpPr>
        <p:spPr>
          <a:xfrm>
            <a:off x="508000" y="2921000"/>
            <a:ext cx="812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40000"/>
              </a:lnSpc>
            </a:pPr>
            <a:r>
              <a:rPr lang="es-ES" sz="1600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 IA generativa en finanzas creció 38.67% anual (2022–2025); dominios principales: predicción bursátil, ESG y análisis de sentimiento con </a:t>
            </a:r>
            <a:r>
              <a:rPr lang="es-ES" sz="1600" noProof="0" dirty="0" err="1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LLMs</a:t>
            </a:r>
            <a:r>
              <a:rPr lang="es-ES" sz="1600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s-ES" noProof="0" dirty="0"/>
          </a:p>
        </p:txBody>
      </p:sp>
      <p:sp>
        <p:nvSpPr>
          <p:cNvPr id="14" name="Text 12"/>
          <p:cNvSpPr/>
          <p:nvPr/>
        </p:nvSpPr>
        <p:spPr>
          <a:xfrm>
            <a:off x="508000" y="3556000"/>
            <a:ext cx="812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300" i="1" noProof="0" dirty="0">
                <a:solidFill>
                  <a:srgbClr val="1B4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Plataformas </a:t>
            </a:r>
            <a:r>
              <a:rPr lang="es-ES" sz="1300" i="1" noProof="0" dirty="0" err="1">
                <a:solidFill>
                  <a:srgbClr val="1B4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</a:t>
            </a:r>
            <a:r>
              <a:rPr lang="es-ES" sz="1300" i="1" noProof="0" dirty="0">
                <a:solidFill>
                  <a:srgbClr val="1B4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 IA integrada capturarán la demanda creciente</a:t>
            </a:r>
            <a:endParaRPr lang="es-ES" sz="1600" noProof="0" dirty="0"/>
          </a:p>
        </p:txBody>
      </p:sp>
      <p:sp>
        <p:nvSpPr>
          <p:cNvPr id="15" name="Shape 13"/>
          <p:cNvSpPr/>
          <p:nvPr/>
        </p:nvSpPr>
        <p:spPr>
          <a:xfrm>
            <a:off x="508000" y="3886200"/>
            <a:ext cx="8128000" cy="0"/>
          </a:xfrm>
          <a:prstGeom prst="straightConnector1">
            <a:avLst/>
          </a:prstGeom>
          <a:noFill/>
          <a:ln w="12700">
            <a:solidFill>
              <a:srgbClr val="D5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6" name="Text 14"/>
          <p:cNvSpPr/>
          <p:nvPr/>
        </p:nvSpPr>
        <p:spPr>
          <a:xfrm>
            <a:off x="508000" y="3987800"/>
            <a:ext cx="812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b="1" noProof="0" dirty="0">
                <a:solidFill>
                  <a:srgbClr val="E8A0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[03]</a:t>
            </a:r>
            <a:r>
              <a:rPr lang="es-ES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s-ES" b="1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Riesgo Regulatorio &amp; Privacidad</a:t>
            </a:r>
            <a:endParaRPr lang="es-ES" noProof="0" dirty="0"/>
          </a:p>
        </p:txBody>
      </p:sp>
      <p:sp>
        <p:nvSpPr>
          <p:cNvPr id="17" name="Text 15"/>
          <p:cNvSpPr/>
          <p:nvPr/>
        </p:nvSpPr>
        <p:spPr>
          <a:xfrm>
            <a:off x="508000" y="4318000"/>
            <a:ext cx="812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Saura, Skare &amp; </a:t>
            </a:r>
            <a:r>
              <a:rPr lang="es-ES" sz="1200" noProof="0" dirty="0" err="1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Ozretic</a:t>
            </a:r>
            <a:r>
              <a:rPr lang="es-ES" sz="1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Dosen (2024). </a:t>
            </a:r>
            <a:r>
              <a:rPr lang="es-ES" sz="1200" noProof="0" dirty="0" err="1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Journal</a:t>
            </a:r>
            <a:r>
              <a:rPr lang="es-ES" sz="1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s-ES" sz="1200" noProof="0" dirty="0" err="1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</a:t>
            </a:r>
            <a:r>
              <a:rPr lang="es-ES" sz="1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s-ES" sz="1200" noProof="0" dirty="0" err="1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Innovation</a:t>
            </a:r>
            <a:r>
              <a:rPr lang="es-ES" sz="1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&amp; Knowledge, 9, 100597.</a:t>
            </a:r>
            <a:endParaRPr lang="es-ES" sz="1600" noProof="0" dirty="0"/>
          </a:p>
        </p:txBody>
      </p:sp>
      <p:sp>
        <p:nvSpPr>
          <p:cNvPr id="18" name="Text 16"/>
          <p:cNvSpPr/>
          <p:nvPr/>
        </p:nvSpPr>
        <p:spPr>
          <a:xfrm>
            <a:off x="508000" y="4597400"/>
            <a:ext cx="812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40000"/>
              </a:lnSpc>
            </a:pPr>
            <a:r>
              <a:rPr lang="es-ES" sz="1600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Las estrategias de marketing digital con IA están desconectadas de estándares éticos; el endurecimiento regulatorio (GDPR, AI </a:t>
            </a:r>
            <a:r>
              <a:rPr lang="es-ES" sz="1600" noProof="0" dirty="0" err="1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</a:t>
            </a:r>
            <a:r>
              <a:rPr lang="es-ES" sz="1600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puede presionar márgenes publicitarios.</a:t>
            </a:r>
            <a:endParaRPr lang="es-ES" noProof="0" dirty="0"/>
          </a:p>
        </p:txBody>
      </p:sp>
      <p:sp>
        <p:nvSpPr>
          <p:cNvPr id="19" name="Text 17"/>
          <p:cNvSpPr/>
          <p:nvPr/>
        </p:nvSpPr>
        <p:spPr>
          <a:xfrm>
            <a:off x="508000" y="5232400"/>
            <a:ext cx="812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300" i="1" noProof="0" dirty="0">
                <a:solidFill>
                  <a:srgbClr val="1B4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Riesgo regulatorio de cola para META y GOOGL</a:t>
            </a:r>
            <a:endParaRPr lang="es-ES" sz="1600" noProof="0" dirty="0"/>
          </a:p>
        </p:txBody>
      </p:sp>
      <p:sp>
        <p:nvSpPr>
          <p:cNvPr id="20" name="Shape 18"/>
          <p:cNvSpPr/>
          <p:nvPr/>
        </p:nvSpPr>
        <p:spPr>
          <a:xfrm>
            <a:off x="508000" y="5562600"/>
            <a:ext cx="8128000" cy="0"/>
          </a:xfrm>
          <a:prstGeom prst="straightConnector1">
            <a:avLst/>
          </a:prstGeom>
          <a:noFill/>
          <a:ln w="12700">
            <a:solidFill>
              <a:srgbClr val="D5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1" name="Text 19"/>
          <p:cNvSpPr/>
          <p:nvPr/>
        </p:nvSpPr>
        <p:spPr>
          <a:xfrm>
            <a:off x="508000" y="5664200"/>
            <a:ext cx="812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b="1" noProof="0" dirty="0">
                <a:solidFill>
                  <a:srgbClr val="E8A0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[04]</a:t>
            </a:r>
            <a:r>
              <a:rPr lang="es-ES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s-ES" b="1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Posición Competitiva NVDA</a:t>
            </a:r>
            <a:endParaRPr lang="es-ES" noProof="0" dirty="0"/>
          </a:p>
        </p:txBody>
      </p:sp>
      <p:sp>
        <p:nvSpPr>
          <p:cNvPr id="22" name="Text 20"/>
          <p:cNvSpPr/>
          <p:nvPr/>
        </p:nvSpPr>
        <p:spPr>
          <a:xfrm>
            <a:off x="508000" y="5994400"/>
            <a:ext cx="812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200" noProof="0" dirty="0" err="1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Shumin</a:t>
            </a:r>
            <a:r>
              <a:rPr lang="es-ES" sz="1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X. (2024). </a:t>
            </a:r>
            <a:r>
              <a:rPr lang="es-ES" sz="1200" noProof="0" dirty="0" err="1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Scalability</a:t>
            </a:r>
            <a:r>
              <a:rPr lang="es-ES" sz="1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</a:t>
            </a:r>
            <a:r>
              <a:rPr lang="es-ES" sz="1200" noProof="0" dirty="0" err="1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incumbent</a:t>
            </a:r>
            <a:r>
              <a:rPr lang="es-ES" sz="1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s-ES" sz="1200" noProof="0" dirty="0" err="1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firms</a:t>
            </a:r>
            <a:r>
              <a:rPr lang="es-ES" sz="1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[Working </a:t>
            </a:r>
            <a:r>
              <a:rPr lang="es-ES" sz="1200" noProof="0" dirty="0" err="1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paper</a:t>
            </a:r>
            <a:r>
              <a:rPr lang="es-ES" sz="1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].</a:t>
            </a:r>
            <a:endParaRPr lang="es-ES" sz="1600" noProof="0" dirty="0"/>
          </a:p>
        </p:txBody>
      </p:sp>
      <p:sp>
        <p:nvSpPr>
          <p:cNvPr id="23" name="Text 21"/>
          <p:cNvSpPr/>
          <p:nvPr/>
        </p:nvSpPr>
        <p:spPr>
          <a:xfrm>
            <a:off x="508000" y="6273800"/>
            <a:ext cx="812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40000"/>
              </a:lnSpc>
            </a:pPr>
            <a:r>
              <a:rPr lang="es-ES" sz="1600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ecosistema CUDA y la escalabilidad GPU constituyen barreras estructurales de entrada; la ventaja de red es </a:t>
            </a:r>
            <a:r>
              <a:rPr lang="es-ES" sz="1600" noProof="0" dirty="0" err="1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autorreinforciada</a:t>
            </a:r>
            <a:r>
              <a:rPr lang="es-ES" sz="1600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s-ES" noProof="0" dirty="0"/>
          </a:p>
        </p:txBody>
      </p:sp>
      <p:sp>
        <p:nvSpPr>
          <p:cNvPr id="24" name="Text 22"/>
          <p:cNvSpPr/>
          <p:nvPr/>
        </p:nvSpPr>
        <p:spPr>
          <a:xfrm>
            <a:off x="508000" y="6908800"/>
            <a:ext cx="812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300" i="1" noProof="0" dirty="0">
                <a:solidFill>
                  <a:srgbClr val="1B4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La </a:t>
            </a:r>
            <a:r>
              <a:rPr lang="es-ES" sz="1300" i="1" noProof="0" dirty="0" err="1">
                <a:solidFill>
                  <a:srgbClr val="1B4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moat</a:t>
            </a:r>
            <a:r>
              <a:rPr lang="es-ES" sz="1300" i="1" noProof="0" dirty="0">
                <a:solidFill>
                  <a:srgbClr val="1B4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tecnológica de NVDA respalda alfa positiva (+44.33%)</a:t>
            </a:r>
            <a:endParaRPr lang="es-ES" sz="1600" noProof="0" dirty="0"/>
          </a:p>
        </p:txBody>
      </p:sp>
      <p:sp>
        <p:nvSpPr>
          <p:cNvPr id="25" name="Text 23"/>
          <p:cNvSpPr/>
          <p:nvPr/>
        </p:nvSpPr>
        <p:spPr>
          <a:xfrm>
            <a:off x="8890000" y="635000"/>
            <a:ext cx="685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s-ES" sz="1200" kern="0" spc="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COMPARATIVO SECTORIAL Q1 2026</a:t>
            </a:r>
            <a:endParaRPr lang="es-ES" sz="1200" noProof="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478654"/>
              </p:ext>
            </p:extLst>
          </p:nvPr>
        </p:nvGraphicFramePr>
        <p:xfrm>
          <a:off x="8890000" y="939800"/>
          <a:ext cx="6858000" cy="2222502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5114">
                <a:tc>
                  <a:txBody>
                    <a:bodyPr/>
                    <a:lstStyle/>
                    <a:p>
                      <a:pPr algn="ctr"/>
                      <a:r>
                        <a:rPr lang="es-ES" sz="16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Instrumento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Retorno TTM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P/E Forward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Señal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347"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Sector IA (SOXX)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+38.6%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34×–42×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A7A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POSITIVO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347"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Nasdaq 100 (QQQ)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+23.4%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27×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5D6D7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NEUTRAL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347"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S&amp;P 500 (SPY)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+18.7%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21×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5D6D7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NEUTRAL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347"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T-Bond 10Y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4.42%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N/A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C0392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CAUTELA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8890000" y="3327400"/>
            <a:ext cx="685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s-ES" sz="1200" kern="0" spc="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VARIABLES MACROECONÓMICAS EE.UU. Q1 2026</a:t>
            </a:r>
            <a:endParaRPr lang="es-ES" sz="1200" noProof="0" dirty="0"/>
          </a:p>
        </p:txBody>
      </p:sp>
      <p:sp>
        <p:nvSpPr>
          <p:cNvPr id="28" name="Text 25"/>
          <p:cNvSpPr/>
          <p:nvPr/>
        </p:nvSpPr>
        <p:spPr>
          <a:xfrm>
            <a:off x="8890000" y="3657600"/>
            <a:ext cx="177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Fed Funds Rate</a:t>
            </a:r>
            <a:endParaRPr lang="es-ES" sz="1600" noProof="0" dirty="0"/>
          </a:p>
        </p:txBody>
      </p:sp>
      <p:sp>
        <p:nvSpPr>
          <p:cNvPr id="29" name="Text 26"/>
          <p:cNvSpPr/>
          <p:nvPr/>
        </p:nvSpPr>
        <p:spPr>
          <a:xfrm>
            <a:off x="8890000" y="39370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2000" b="1" noProof="0" dirty="0">
                <a:solidFill>
                  <a:srgbClr val="0D1B2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3.50–3.75%</a:t>
            </a:r>
            <a:endParaRPr lang="es-ES" sz="1600" noProof="0" dirty="0"/>
          </a:p>
        </p:txBody>
      </p:sp>
      <p:sp>
        <p:nvSpPr>
          <p:cNvPr id="30" name="Text 27"/>
          <p:cNvSpPr/>
          <p:nvPr/>
        </p:nvSpPr>
        <p:spPr>
          <a:xfrm>
            <a:off x="10731500" y="3987800"/>
            <a:ext cx="1143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100" b="1" noProof="0" dirty="0">
                <a:solidFill>
                  <a:srgbClr val="1A7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FAVORABLE</a:t>
            </a:r>
            <a:endParaRPr lang="es-ES" sz="1600" noProof="0" dirty="0"/>
          </a:p>
        </p:txBody>
      </p:sp>
      <p:sp>
        <p:nvSpPr>
          <p:cNvPr id="31" name="Text 28"/>
          <p:cNvSpPr/>
          <p:nvPr/>
        </p:nvSpPr>
        <p:spPr>
          <a:xfrm>
            <a:off x="12192000" y="3657600"/>
            <a:ext cx="177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Inflación PCE</a:t>
            </a:r>
            <a:endParaRPr lang="es-ES" sz="1600" noProof="0" dirty="0"/>
          </a:p>
        </p:txBody>
      </p:sp>
      <p:sp>
        <p:nvSpPr>
          <p:cNvPr id="32" name="Text 29"/>
          <p:cNvSpPr/>
          <p:nvPr/>
        </p:nvSpPr>
        <p:spPr>
          <a:xfrm>
            <a:off x="12192000" y="3937000"/>
            <a:ext cx="127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2000" b="1" noProof="0" dirty="0">
                <a:solidFill>
                  <a:srgbClr val="0D1B2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2.7%</a:t>
            </a:r>
            <a:endParaRPr lang="es-ES" sz="1600" noProof="0" dirty="0"/>
          </a:p>
        </p:txBody>
      </p:sp>
      <p:sp>
        <p:nvSpPr>
          <p:cNvPr id="33" name="Text 30"/>
          <p:cNvSpPr/>
          <p:nvPr/>
        </p:nvSpPr>
        <p:spPr>
          <a:xfrm>
            <a:off x="13525500" y="39878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100" b="1" noProof="0" dirty="0">
                <a:solidFill>
                  <a:srgbClr val="E8A0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MONITOREAR</a:t>
            </a:r>
            <a:endParaRPr lang="es-ES" sz="1600" noProof="0" dirty="0"/>
          </a:p>
        </p:txBody>
      </p:sp>
      <p:sp>
        <p:nvSpPr>
          <p:cNvPr id="34" name="Text 31"/>
          <p:cNvSpPr/>
          <p:nvPr/>
        </p:nvSpPr>
        <p:spPr>
          <a:xfrm>
            <a:off x="8890000" y="4394200"/>
            <a:ext cx="177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PIB EE.UU.</a:t>
            </a:r>
            <a:endParaRPr lang="es-ES" sz="1600" noProof="0" dirty="0"/>
          </a:p>
        </p:txBody>
      </p:sp>
      <p:sp>
        <p:nvSpPr>
          <p:cNvPr id="35" name="Text 32"/>
          <p:cNvSpPr/>
          <p:nvPr/>
        </p:nvSpPr>
        <p:spPr>
          <a:xfrm>
            <a:off x="8890000" y="4673600"/>
            <a:ext cx="127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2000" b="1" noProof="0" dirty="0">
                <a:solidFill>
                  <a:srgbClr val="0D1B2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2.4%</a:t>
            </a:r>
            <a:endParaRPr lang="es-ES" sz="1600" noProof="0" dirty="0"/>
          </a:p>
        </p:txBody>
      </p:sp>
      <p:sp>
        <p:nvSpPr>
          <p:cNvPr id="36" name="Text 33"/>
          <p:cNvSpPr/>
          <p:nvPr/>
        </p:nvSpPr>
        <p:spPr>
          <a:xfrm>
            <a:off x="10223500" y="4724400"/>
            <a:ext cx="1143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100" b="1" noProof="0" dirty="0">
                <a:solidFill>
                  <a:srgbClr val="1A7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FAVORABLE</a:t>
            </a:r>
            <a:endParaRPr lang="es-ES" sz="1600" noProof="0" dirty="0"/>
          </a:p>
        </p:txBody>
      </p:sp>
      <p:sp>
        <p:nvSpPr>
          <p:cNvPr id="37" name="Text 34"/>
          <p:cNvSpPr/>
          <p:nvPr/>
        </p:nvSpPr>
        <p:spPr>
          <a:xfrm>
            <a:off x="12192000" y="4394200"/>
            <a:ext cx="177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Desempleo</a:t>
            </a:r>
            <a:endParaRPr lang="es-ES" sz="1600" noProof="0" dirty="0"/>
          </a:p>
        </p:txBody>
      </p:sp>
      <p:sp>
        <p:nvSpPr>
          <p:cNvPr id="38" name="Text 35"/>
          <p:cNvSpPr/>
          <p:nvPr/>
        </p:nvSpPr>
        <p:spPr>
          <a:xfrm>
            <a:off x="12192000" y="4673600"/>
            <a:ext cx="127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2000" b="1" noProof="0" dirty="0">
                <a:solidFill>
                  <a:srgbClr val="0D1B2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4.4%</a:t>
            </a:r>
            <a:endParaRPr lang="es-ES" sz="1600" noProof="0" dirty="0"/>
          </a:p>
        </p:txBody>
      </p:sp>
      <p:sp>
        <p:nvSpPr>
          <p:cNvPr id="39" name="Text 36"/>
          <p:cNvSpPr/>
          <p:nvPr/>
        </p:nvSpPr>
        <p:spPr>
          <a:xfrm>
            <a:off x="13525500" y="47244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100" b="1" noProof="0" dirty="0">
                <a:solidFill>
                  <a:srgbClr val="5D6D7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NEUTRAL</a:t>
            </a:r>
            <a:endParaRPr lang="es-ES" sz="1600" noProof="0" dirty="0"/>
          </a:p>
        </p:txBody>
      </p:sp>
      <p:sp>
        <p:nvSpPr>
          <p:cNvPr id="40" name="Text 37"/>
          <p:cNvSpPr/>
          <p:nvPr/>
        </p:nvSpPr>
        <p:spPr>
          <a:xfrm>
            <a:off x="8890000" y="5207000"/>
            <a:ext cx="685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s-ES" sz="1200" kern="0" spc="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MONETIZACIÓN REAL IA — Q1 2026</a:t>
            </a:r>
            <a:endParaRPr lang="es-ES" sz="1200" noProof="0" dirty="0"/>
          </a:p>
        </p:txBody>
      </p:sp>
      <p:sp>
        <p:nvSpPr>
          <p:cNvPr id="41" name="Text 38"/>
          <p:cNvSpPr/>
          <p:nvPr/>
        </p:nvSpPr>
        <p:spPr>
          <a:xfrm>
            <a:off x="8890000" y="5537200"/>
            <a:ext cx="2032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s-ES" sz="3800" b="1" noProof="0" dirty="0">
                <a:solidFill>
                  <a:srgbClr val="1A7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+63%</a:t>
            </a:r>
            <a:endParaRPr lang="es-ES" sz="3800" noProof="0" dirty="0"/>
          </a:p>
        </p:txBody>
      </p:sp>
      <p:sp>
        <p:nvSpPr>
          <p:cNvPr id="42" name="Text 39"/>
          <p:cNvSpPr/>
          <p:nvPr/>
        </p:nvSpPr>
        <p:spPr>
          <a:xfrm>
            <a:off x="8890000" y="6172200"/>
            <a:ext cx="2032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s-ES" sz="1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 Cloud YoY</a:t>
            </a:r>
            <a:endParaRPr lang="es-ES" sz="1600" noProof="0" dirty="0"/>
          </a:p>
          <a:p>
            <a:pPr>
              <a:lnSpc>
                <a:spcPct val="130000"/>
              </a:lnSpc>
            </a:pPr>
            <a:r>
              <a:rPr lang="es-ES" sz="10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Fuente: </a:t>
            </a:r>
            <a:r>
              <a:rPr lang="es-ES" sz="1000" noProof="0" dirty="0" err="1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Alphabet</a:t>
            </a:r>
            <a:r>
              <a:rPr lang="es-ES" sz="10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Q1 2026</a:t>
            </a:r>
            <a:endParaRPr lang="es-ES" sz="1600" noProof="0" dirty="0"/>
          </a:p>
        </p:txBody>
      </p:sp>
      <p:sp>
        <p:nvSpPr>
          <p:cNvPr id="43" name="Text 40"/>
          <p:cNvSpPr/>
          <p:nvPr/>
        </p:nvSpPr>
        <p:spPr>
          <a:xfrm>
            <a:off x="11303000" y="5537200"/>
            <a:ext cx="2032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s-ES" sz="3800" b="1" noProof="0" dirty="0">
                <a:solidFill>
                  <a:srgbClr val="1A7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+40%</a:t>
            </a:r>
            <a:endParaRPr lang="es-ES" sz="3800" noProof="0" dirty="0"/>
          </a:p>
        </p:txBody>
      </p:sp>
      <p:sp>
        <p:nvSpPr>
          <p:cNvPr id="44" name="Text 41"/>
          <p:cNvSpPr/>
          <p:nvPr/>
        </p:nvSpPr>
        <p:spPr>
          <a:xfrm>
            <a:off x="11303000" y="6172200"/>
            <a:ext cx="2032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s-ES" sz="1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Azure AI YoY</a:t>
            </a:r>
            <a:endParaRPr lang="es-ES" sz="1600" noProof="0" dirty="0"/>
          </a:p>
          <a:p>
            <a:pPr>
              <a:lnSpc>
                <a:spcPct val="130000"/>
              </a:lnSpc>
            </a:pPr>
            <a:r>
              <a:rPr lang="es-ES" sz="10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Fuente: Microsoft Q1 FY2026</a:t>
            </a:r>
            <a:endParaRPr lang="es-ES" sz="1600" noProof="0" dirty="0"/>
          </a:p>
        </p:txBody>
      </p:sp>
      <p:sp>
        <p:nvSpPr>
          <p:cNvPr id="45" name="Text 42"/>
          <p:cNvSpPr/>
          <p:nvPr/>
        </p:nvSpPr>
        <p:spPr>
          <a:xfrm>
            <a:off x="13716000" y="5537200"/>
            <a:ext cx="2032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s-ES" sz="3800" b="1" noProof="0" dirty="0">
                <a:solidFill>
                  <a:srgbClr val="0D1B2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$600B+</a:t>
            </a:r>
            <a:endParaRPr lang="es-ES" sz="3800" noProof="0" dirty="0"/>
          </a:p>
        </p:txBody>
      </p:sp>
      <p:sp>
        <p:nvSpPr>
          <p:cNvPr id="46" name="Text 43"/>
          <p:cNvSpPr/>
          <p:nvPr/>
        </p:nvSpPr>
        <p:spPr>
          <a:xfrm>
            <a:off x="13716000" y="6172200"/>
            <a:ext cx="2032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s-ES" sz="1200" noProof="0" dirty="0" err="1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Capex</a:t>
            </a:r>
            <a:r>
              <a:rPr lang="es-ES" sz="1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s-ES" sz="1200" noProof="0" dirty="0" err="1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hyperscalers</a:t>
            </a:r>
            <a:endParaRPr lang="es-ES" sz="1600" noProof="0" dirty="0"/>
          </a:p>
          <a:p>
            <a:pPr>
              <a:lnSpc>
                <a:spcPct val="130000"/>
              </a:lnSpc>
            </a:pPr>
            <a:r>
              <a:rPr lang="es-ES" sz="10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Fuente: Goldman Sachs 2026</a:t>
            </a:r>
            <a:endParaRPr lang="es-ES" sz="1600" noProof="0" dirty="0"/>
          </a:p>
        </p:txBody>
      </p:sp>
      <p:sp>
        <p:nvSpPr>
          <p:cNvPr id="47" name="Shape 44"/>
          <p:cNvSpPr/>
          <p:nvPr/>
        </p:nvSpPr>
        <p:spPr>
          <a:xfrm>
            <a:off x="8890000" y="6858000"/>
            <a:ext cx="50800" cy="76200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48" name="Text 45"/>
          <p:cNvSpPr/>
          <p:nvPr/>
        </p:nvSpPr>
        <p:spPr>
          <a:xfrm>
            <a:off x="9093200" y="6858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200" kern="0" spc="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POSTURA SECTORIAL</a:t>
            </a:r>
            <a:endParaRPr lang="es-ES" sz="1600" noProof="0" dirty="0"/>
          </a:p>
        </p:txBody>
      </p:sp>
      <p:sp>
        <p:nvSpPr>
          <p:cNvPr id="49" name="Text 46"/>
          <p:cNvSpPr/>
          <p:nvPr/>
        </p:nvSpPr>
        <p:spPr>
          <a:xfrm>
            <a:off x="9093200" y="7137400"/>
            <a:ext cx="254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2800" b="1" noProof="0" dirty="0">
                <a:solidFill>
                  <a:srgbClr val="1A7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POSITIVA</a:t>
            </a:r>
            <a:endParaRPr lang="es-ES" sz="1600" noProof="0" dirty="0"/>
          </a:p>
        </p:txBody>
      </p:sp>
      <p:sp>
        <p:nvSpPr>
          <p:cNvPr id="50" name="Text 47"/>
          <p:cNvSpPr/>
          <p:nvPr/>
        </p:nvSpPr>
        <p:spPr>
          <a:xfrm>
            <a:off x="11684000" y="72644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4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Horizonte: 3–5 años</a:t>
            </a:r>
            <a:endParaRPr lang="es-ES" sz="1600" noProof="0" dirty="0"/>
          </a:p>
        </p:txBody>
      </p:sp>
      <p:sp>
        <p:nvSpPr>
          <p:cNvPr id="51" name="Text 48"/>
          <p:cNvSpPr/>
          <p:nvPr/>
        </p:nvSpPr>
        <p:spPr>
          <a:xfrm>
            <a:off x="8890000" y="7823200"/>
            <a:ext cx="685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s-ES" sz="10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Nota. Retornos TTM a mayo 2026. P/E forward consenso </a:t>
            </a:r>
            <a:r>
              <a:rPr lang="es-ES" sz="1000" noProof="0" dirty="0" err="1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FactSet</a:t>
            </a:r>
            <a:r>
              <a:rPr lang="es-ES" sz="10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/Bloomberg. T-Bond 10Y: rendimiento al 30/05/2026.</a:t>
            </a:r>
            <a:endParaRPr lang="es-ES" sz="1600" noProof="0" dirty="0"/>
          </a:p>
        </p:txBody>
      </p:sp>
      <p:sp>
        <p:nvSpPr>
          <p:cNvPr id="52" name="Text 49"/>
          <p:cNvSpPr/>
          <p:nvPr/>
        </p:nvSpPr>
        <p:spPr>
          <a:xfrm>
            <a:off x="8890000" y="8255000"/>
            <a:ext cx="685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0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Fuente: Federal Reserve, BEA, BLS (2026).</a:t>
            </a:r>
            <a:endParaRPr lang="es-ES" sz="1600" noProof="0" dirty="0"/>
          </a:p>
        </p:txBody>
      </p:sp>
      <p:sp>
        <p:nvSpPr>
          <p:cNvPr id="53" name="Shape 50"/>
          <p:cNvSpPr/>
          <p:nvPr/>
        </p:nvSpPr>
        <p:spPr>
          <a:xfrm>
            <a:off x="508000" y="8686800"/>
            <a:ext cx="15240000" cy="0"/>
          </a:xfrm>
          <a:prstGeom prst="straightConnector1">
            <a:avLst/>
          </a:prstGeom>
          <a:noFill/>
          <a:ln w="12700">
            <a:solidFill>
              <a:srgbClr val="D5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54" name="Text 51"/>
          <p:cNvSpPr/>
          <p:nvPr/>
        </p:nvSpPr>
        <p:spPr>
          <a:xfrm>
            <a:off x="508000" y="8763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1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MACROCONSULT · Sistema de Información de Mercados</a:t>
            </a:r>
            <a:endParaRPr lang="es-ES" sz="1600" noProof="0" dirty="0"/>
          </a:p>
        </p:txBody>
      </p:sp>
      <p:sp>
        <p:nvSpPr>
          <p:cNvPr id="55" name="Text 52"/>
          <p:cNvSpPr/>
          <p:nvPr/>
        </p:nvSpPr>
        <p:spPr>
          <a:xfrm>
            <a:off x="14986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s-ES" sz="11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/ 6</a:t>
            </a:r>
            <a:endParaRPr lang="es-ES" sz="1600" noProof="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1778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s-ES" sz="1400" b="1" noProof="0" dirty="0">
                <a:solidFill>
                  <a:srgbClr val="E8A0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s-ES" sz="1400" noProof="0" dirty="0"/>
          </a:p>
        </p:txBody>
      </p:sp>
      <p:sp>
        <p:nvSpPr>
          <p:cNvPr id="3" name="Text 1"/>
          <p:cNvSpPr/>
          <p:nvPr/>
        </p:nvSpPr>
        <p:spPr>
          <a:xfrm>
            <a:off x="1016000" y="177800"/>
            <a:ext cx="139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s-ES" sz="1400" noProof="0" dirty="0">
                <a:solidFill>
                  <a:srgbClr val="1B4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Posicionamiento Competitivo · Modelo de las 5 Fuerzas de Porter · Sector IA</a:t>
            </a:r>
            <a:endParaRPr lang="es-ES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508000" y="508000"/>
            <a:ext cx="15240000" cy="0"/>
          </a:xfrm>
          <a:prstGeom prst="straightConnector1">
            <a:avLst/>
          </a:prstGeom>
          <a:noFill/>
          <a:ln w="12700">
            <a:solidFill>
              <a:srgbClr val="D5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5" name="Text 3"/>
          <p:cNvSpPr/>
          <p:nvPr/>
        </p:nvSpPr>
        <p:spPr>
          <a:xfrm>
            <a:off x="508000" y="635000"/>
            <a:ext cx="152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just">
              <a:lnSpc>
                <a:spcPct val="130000"/>
              </a:lnSpc>
            </a:pPr>
            <a:r>
              <a:rPr lang="es-ES" sz="1200" b="1" kern="0" spc="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ANÁLISIS DE LAS 5 FUERZAS DE PORTER POR EMPRESA — EVALUACIÓN CUALITATIVA 2026</a:t>
            </a:r>
            <a:endParaRPr lang="es-ES" sz="1200" b="1" noProof="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9306557"/>
              </p:ext>
            </p:extLst>
          </p:nvPr>
        </p:nvGraphicFramePr>
        <p:xfrm>
          <a:off x="508000" y="939800"/>
          <a:ext cx="15240000" cy="33020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s-ES" sz="18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Empresa / Fuerza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Rivalidad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Nuevos Entr.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P. Proveed.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P. Comprad.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Sustitutos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Valoración Global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NVDA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A7A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BAJA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A7A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BAJA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5D6D7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MEDIA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A7A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BAJA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A7A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BAJA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A7A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MUY DEFENSIBLE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MSFT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5D6D7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MEDIA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A7A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BAJA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A7A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BAJA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A7A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BAJA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5D6D7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MEDIA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B4F72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SÓLIDO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GOOGL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5D6D7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MEDIA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A7A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BAJA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A7A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BAJA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5D6D7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MEDIA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5D6D7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MEDIA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B4F72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SÓLIDO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META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C0392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ALTA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5D6D7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MEDIA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A7A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BAJA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C0392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ALTA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C0392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ALTA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E8A02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PRESIONADO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TSM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A7A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BAJA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A7A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BAJA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C0392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ALTA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5D6D7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MEDIA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A7A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BAJA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A7A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DOMINANTE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CRM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C0392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ALTA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5D6D7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MEDIA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5D6D7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MEDIA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C0392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ALTA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C0392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ALTA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C0392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VULNERABLE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Promedio Sector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5D6D7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MEDIA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5D6D7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MEDIA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5D6D7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MEDIA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5D6D7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MEDIA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5D6D7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MEDIA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5D6D7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MIXTO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8000" y="4394200"/>
            <a:ext cx="15240000" cy="0"/>
          </a:xfrm>
          <a:prstGeom prst="straightConnector1">
            <a:avLst/>
          </a:prstGeom>
          <a:noFill/>
          <a:ln w="12700">
            <a:solidFill>
              <a:srgbClr val="D5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8" name="Text 5"/>
          <p:cNvSpPr/>
          <p:nvPr/>
        </p:nvSpPr>
        <p:spPr>
          <a:xfrm>
            <a:off x="508000" y="45212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s-ES" sz="1400" b="1" kern="0" spc="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ANÁLISIS ESTRATÉGICO DIFERENCIAL</a:t>
            </a:r>
            <a:endParaRPr lang="es-ES" sz="1400" b="1" noProof="0" dirty="0"/>
          </a:p>
        </p:txBody>
      </p:sp>
      <p:sp>
        <p:nvSpPr>
          <p:cNvPr id="9" name="Shape 6"/>
          <p:cNvSpPr/>
          <p:nvPr/>
        </p:nvSpPr>
        <p:spPr>
          <a:xfrm>
            <a:off x="508000" y="4851400"/>
            <a:ext cx="38100" cy="165100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0" name="Text 7"/>
          <p:cNvSpPr/>
          <p:nvPr/>
        </p:nvSpPr>
        <p:spPr>
          <a:xfrm>
            <a:off x="660400" y="485140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600" b="1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NVDA</a:t>
            </a:r>
            <a:r>
              <a:rPr lang="es-ES" sz="1600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s-ES" sz="1600" b="1" noProof="0" dirty="0">
                <a:solidFill>
                  <a:srgbClr val="1A7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MUY DEFENSIBLE</a:t>
            </a:r>
            <a:endParaRPr lang="es-ES" sz="1600" noProof="0" dirty="0"/>
          </a:p>
        </p:txBody>
      </p:sp>
      <p:sp>
        <p:nvSpPr>
          <p:cNvPr id="11" name="Shape 8"/>
          <p:cNvSpPr/>
          <p:nvPr/>
        </p:nvSpPr>
        <p:spPr>
          <a:xfrm>
            <a:off x="660400" y="5181600"/>
            <a:ext cx="4318000" cy="0"/>
          </a:xfrm>
          <a:prstGeom prst="straightConnector1">
            <a:avLst/>
          </a:prstGeom>
          <a:noFill/>
          <a:ln w="12700">
            <a:solidFill>
              <a:srgbClr val="D5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2" name="Text 9"/>
          <p:cNvSpPr/>
          <p:nvPr/>
        </p:nvSpPr>
        <p:spPr>
          <a:xfrm>
            <a:off x="660400" y="5257800"/>
            <a:ext cx="4318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40000"/>
              </a:lnSpc>
            </a:pPr>
            <a:r>
              <a:rPr lang="es-ES" sz="1400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Ecosistema CUDA con +4M desarrolladores activos genera barreras estructurales. Transición a arquitectura Blackwell profundiza la dependencia. Riesgo: restricciones exportación chips a China.</a:t>
            </a:r>
            <a:endParaRPr lang="es-ES" noProof="0" dirty="0"/>
          </a:p>
        </p:txBody>
      </p:sp>
      <p:sp>
        <p:nvSpPr>
          <p:cNvPr id="13" name="Shape 10"/>
          <p:cNvSpPr/>
          <p:nvPr/>
        </p:nvSpPr>
        <p:spPr>
          <a:xfrm>
            <a:off x="5334000" y="4851400"/>
            <a:ext cx="38100" cy="165100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4" name="Text 11"/>
          <p:cNvSpPr/>
          <p:nvPr/>
        </p:nvSpPr>
        <p:spPr>
          <a:xfrm>
            <a:off x="5486400" y="485140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600" b="1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TSM</a:t>
            </a:r>
            <a:r>
              <a:rPr lang="es-ES" sz="1600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s-ES" sz="1600" b="1" noProof="0" dirty="0">
                <a:solidFill>
                  <a:srgbClr val="1A7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DOMINANTE</a:t>
            </a:r>
            <a:endParaRPr lang="es-ES" sz="1600" noProof="0" dirty="0"/>
          </a:p>
        </p:txBody>
      </p:sp>
      <p:sp>
        <p:nvSpPr>
          <p:cNvPr id="15" name="Shape 12"/>
          <p:cNvSpPr/>
          <p:nvPr/>
        </p:nvSpPr>
        <p:spPr>
          <a:xfrm>
            <a:off x="5486400" y="5181600"/>
            <a:ext cx="4318000" cy="0"/>
          </a:xfrm>
          <a:prstGeom prst="straightConnector1">
            <a:avLst/>
          </a:prstGeom>
          <a:noFill/>
          <a:ln w="12700">
            <a:solidFill>
              <a:srgbClr val="D5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6" name="Text 13"/>
          <p:cNvSpPr/>
          <p:nvPr/>
        </p:nvSpPr>
        <p:spPr>
          <a:xfrm>
            <a:off x="5486400" y="5257800"/>
            <a:ext cx="4318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s-ES" sz="1400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Posición dominante en nodos sub-3nm (monopolio de facto en 2nm 2025–2026). Sin alternativas viables a corto plazo. RIESGO CLAVE: dependencia geopolítica de Taiwán</a:t>
            </a:r>
            <a:r>
              <a:rPr lang="es-ES" sz="1300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s-ES" sz="1600" noProof="0" dirty="0"/>
          </a:p>
        </p:txBody>
      </p:sp>
      <p:sp>
        <p:nvSpPr>
          <p:cNvPr id="17" name="Shape 14"/>
          <p:cNvSpPr/>
          <p:nvPr/>
        </p:nvSpPr>
        <p:spPr>
          <a:xfrm>
            <a:off x="10160000" y="4851400"/>
            <a:ext cx="38100" cy="16510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8" name="Text 15"/>
          <p:cNvSpPr/>
          <p:nvPr/>
        </p:nvSpPr>
        <p:spPr>
          <a:xfrm>
            <a:off x="10312400" y="4851400"/>
            <a:ext cx="533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600" b="1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CRM</a:t>
            </a:r>
            <a:r>
              <a:rPr lang="es-ES" sz="1600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s-ES" sz="1600" b="1" noProof="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VULNERABLE</a:t>
            </a:r>
            <a:endParaRPr lang="es-ES" sz="1600" noProof="0" dirty="0"/>
          </a:p>
        </p:txBody>
      </p:sp>
      <p:sp>
        <p:nvSpPr>
          <p:cNvPr id="19" name="Shape 16"/>
          <p:cNvSpPr/>
          <p:nvPr/>
        </p:nvSpPr>
        <p:spPr>
          <a:xfrm>
            <a:off x="10312400" y="5181600"/>
            <a:ext cx="5334000" cy="0"/>
          </a:xfrm>
          <a:prstGeom prst="straightConnector1">
            <a:avLst/>
          </a:prstGeom>
          <a:noFill/>
          <a:ln w="12700">
            <a:solidFill>
              <a:srgbClr val="D5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0" name="Text 17"/>
          <p:cNvSpPr/>
          <p:nvPr/>
        </p:nvSpPr>
        <p:spPr>
          <a:xfrm>
            <a:off x="10312400" y="5257800"/>
            <a:ext cx="5334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s-ES" sz="1400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Microsoft </a:t>
            </a:r>
            <a:r>
              <a:rPr lang="es-ES" sz="1400" noProof="0" dirty="0" err="1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Copilot</a:t>
            </a:r>
            <a:r>
              <a:rPr lang="es-ES" sz="1400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 integra nativamente en Office/</a:t>
            </a:r>
            <a:r>
              <a:rPr lang="es-ES" sz="1400" noProof="0" dirty="0" err="1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Teams</a:t>
            </a:r>
            <a:r>
              <a:rPr lang="es-ES" sz="1400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Presión competitiva reflejada en única  alfa negativo (−8.86%) y Sharpe negativo (−0.047). </a:t>
            </a:r>
            <a:endParaRPr lang="es-ES" noProof="0" dirty="0"/>
          </a:p>
        </p:txBody>
      </p:sp>
      <p:sp>
        <p:nvSpPr>
          <p:cNvPr id="21" name="Shape 18"/>
          <p:cNvSpPr/>
          <p:nvPr/>
        </p:nvSpPr>
        <p:spPr>
          <a:xfrm>
            <a:off x="508000" y="6680200"/>
            <a:ext cx="15240000" cy="0"/>
          </a:xfrm>
          <a:prstGeom prst="straightConnector1">
            <a:avLst/>
          </a:prstGeom>
          <a:noFill/>
          <a:ln w="12700">
            <a:solidFill>
              <a:srgbClr val="D5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2" name="Text 19"/>
          <p:cNvSpPr/>
          <p:nvPr/>
        </p:nvSpPr>
        <p:spPr>
          <a:xfrm>
            <a:off x="508000" y="6832600"/>
            <a:ext cx="1524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50000"/>
              </a:lnSpc>
            </a:pPr>
            <a:r>
              <a:rPr lang="es-ES" sz="1600" i="1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NVDA y TSM presentan las posiciones competitivas más defendibles; sus barreras son estructurales, no temporales. CRM enfrenta la presión competitiva más severa — validada cuantitativamente por su alfa negativa — y carece de ventajas diferenciales frente a la integración nativa de IA en Microsoft. META es el único caso donde riesgo regulatorio y competitivo coexisten con alta volatilidad.</a:t>
            </a:r>
            <a:endParaRPr lang="es-ES" noProof="0" dirty="0"/>
          </a:p>
        </p:txBody>
      </p:sp>
      <p:sp>
        <p:nvSpPr>
          <p:cNvPr id="23" name="Shape 20"/>
          <p:cNvSpPr/>
          <p:nvPr/>
        </p:nvSpPr>
        <p:spPr>
          <a:xfrm>
            <a:off x="508000" y="8686800"/>
            <a:ext cx="15240000" cy="0"/>
          </a:xfrm>
          <a:prstGeom prst="straightConnector1">
            <a:avLst/>
          </a:prstGeom>
          <a:noFill/>
          <a:ln w="12700">
            <a:solidFill>
              <a:srgbClr val="D5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4" name="Text 21"/>
          <p:cNvSpPr/>
          <p:nvPr/>
        </p:nvSpPr>
        <p:spPr>
          <a:xfrm>
            <a:off x="508000" y="8763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1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MACROCONSULT · Sistema de Información de Mercados</a:t>
            </a:r>
            <a:endParaRPr lang="es-ES" sz="1600" noProof="0" dirty="0"/>
          </a:p>
        </p:txBody>
      </p:sp>
      <p:sp>
        <p:nvSpPr>
          <p:cNvPr id="25" name="Text 22"/>
          <p:cNvSpPr/>
          <p:nvPr/>
        </p:nvSpPr>
        <p:spPr>
          <a:xfrm>
            <a:off x="14986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s-ES" sz="110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r>
              <a:rPr lang="es-ES" sz="11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/ 6</a:t>
            </a:r>
            <a:endParaRPr lang="es-ES" sz="1600" noProof="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1778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s-ES" sz="1400" b="1" noProof="0" dirty="0">
                <a:solidFill>
                  <a:srgbClr val="E8A0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s-ES" sz="1400" noProof="0" dirty="0"/>
          </a:p>
        </p:txBody>
      </p:sp>
      <p:sp>
        <p:nvSpPr>
          <p:cNvPr id="3" name="Text 1"/>
          <p:cNvSpPr/>
          <p:nvPr/>
        </p:nvSpPr>
        <p:spPr>
          <a:xfrm>
            <a:off x="1016000" y="177800"/>
            <a:ext cx="139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s-ES" sz="1400" noProof="0" dirty="0">
                <a:solidFill>
                  <a:srgbClr val="1B4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Análisis de Riesgo y Retorno · Benchmark-S&amp;P 500</a:t>
            </a:r>
            <a:endParaRPr lang="es-ES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508000" y="508000"/>
            <a:ext cx="15240000" cy="0"/>
          </a:xfrm>
          <a:prstGeom prst="straightConnector1">
            <a:avLst/>
          </a:prstGeom>
          <a:noFill/>
          <a:ln w="12700">
            <a:solidFill>
              <a:srgbClr val="D5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2740221"/>
              </p:ext>
            </p:extLst>
          </p:nvPr>
        </p:nvGraphicFramePr>
        <p:xfrm>
          <a:off x="446314" y="812801"/>
          <a:ext cx="15240000" cy="39370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9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2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540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760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algn="ctr"/>
                      <a:r>
                        <a:rPr lang="es-ES" sz="20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Empresa</a:t>
                      </a:r>
                      <a:endParaRPr lang="es-ES" sz="20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Beta (β)</a:t>
                      </a:r>
                      <a:endParaRPr lang="es-ES" sz="20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Alfa Jensen (α)</a:t>
                      </a:r>
                      <a:endParaRPr lang="es-ES" sz="20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VaR 99% </a:t>
                      </a:r>
                      <a:r>
                        <a:rPr lang="es-ES" sz="2000" b="1" u="none" noProof="0" dirty="0" err="1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Sem</a:t>
                      </a:r>
                      <a:r>
                        <a:rPr lang="es-ES" sz="20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.</a:t>
                      </a:r>
                      <a:endParaRPr lang="es-ES" sz="20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Sharpe Ratio</a:t>
                      </a:r>
                      <a:endParaRPr lang="es-ES" sz="20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Señal</a:t>
                      </a:r>
                      <a:endParaRPr lang="es-ES" sz="20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NVDA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1.906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A7A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+44.33%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−15.85%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A7A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1.117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A7A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★ INVERTIR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TSM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0.998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A7A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+23.06%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−13.25%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A7A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0.747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A7A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★ INVERTIR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GOOGL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1.062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A7A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+17.37%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−10.53%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A7A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0.700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A7A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★ INVERTIR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MSFT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0.893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E8A02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+7.41%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−9.55%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0.442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E8A02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◆ NEUTRAL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META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1.217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E8A020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+7.90%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−16.87%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0.272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C0392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⚠ CAUTELA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CRM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1.041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C0392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−8.86%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−17.03%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C0392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−0.047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800" u="none" noProof="0" dirty="0">
                          <a:solidFill>
                            <a:srgbClr val="C0392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✗ NO INVERTIR</a:t>
                      </a:r>
                      <a:endParaRPr lang="es-ES" sz="18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l"/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8000" y="5105400"/>
            <a:ext cx="15240000" cy="0"/>
          </a:xfrm>
          <a:prstGeom prst="straightConnector1">
            <a:avLst/>
          </a:prstGeom>
          <a:noFill/>
          <a:ln w="12700">
            <a:solidFill>
              <a:srgbClr val="D5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8" name="Text 5"/>
          <p:cNvSpPr/>
          <p:nvPr/>
        </p:nvSpPr>
        <p:spPr>
          <a:xfrm>
            <a:off x="508000" y="5257800"/>
            <a:ext cx="342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200" kern="0" spc="1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MEJOR ALFA JENSEN</a:t>
            </a:r>
            <a:endParaRPr lang="es-ES" sz="1600" noProof="0" dirty="0"/>
          </a:p>
        </p:txBody>
      </p:sp>
      <p:sp>
        <p:nvSpPr>
          <p:cNvPr id="9" name="Text 6"/>
          <p:cNvSpPr/>
          <p:nvPr/>
        </p:nvSpPr>
        <p:spPr>
          <a:xfrm>
            <a:off x="508000" y="5537200"/>
            <a:ext cx="3429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3600" b="1" noProof="0" dirty="0">
                <a:solidFill>
                  <a:srgbClr val="1A7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+44.33%</a:t>
            </a:r>
            <a:endParaRPr lang="es-ES" sz="1600" noProof="0" dirty="0"/>
          </a:p>
        </p:txBody>
      </p:sp>
      <p:sp>
        <p:nvSpPr>
          <p:cNvPr id="10" name="Text 7"/>
          <p:cNvSpPr/>
          <p:nvPr/>
        </p:nvSpPr>
        <p:spPr>
          <a:xfrm>
            <a:off x="508000" y="6172200"/>
            <a:ext cx="342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3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NVDA</a:t>
            </a:r>
            <a:endParaRPr lang="es-ES" sz="1600" noProof="0" dirty="0"/>
          </a:p>
        </p:txBody>
      </p:sp>
      <p:sp>
        <p:nvSpPr>
          <p:cNvPr id="11" name="Shape 8"/>
          <p:cNvSpPr/>
          <p:nvPr/>
        </p:nvSpPr>
        <p:spPr>
          <a:xfrm>
            <a:off x="4064000" y="5308600"/>
            <a:ext cx="0" cy="1016000"/>
          </a:xfrm>
          <a:prstGeom prst="straightConnector1">
            <a:avLst/>
          </a:prstGeom>
          <a:noFill/>
          <a:ln w="12700">
            <a:solidFill>
              <a:srgbClr val="D5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2" name="Text 9"/>
          <p:cNvSpPr/>
          <p:nvPr/>
        </p:nvSpPr>
        <p:spPr>
          <a:xfrm>
            <a:off x="4318000" y="5257800"/>
            <a:ext cx="342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200" kern="0" spc="1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MAYOR SHARPE RATIO</a:t>
            </a:r>
            <a:endParaRPr lang="es-ES" sz="1600" noProof="0" dirty="0"/>
          </a:p>
        </p:txBody>
      </p:sp>
      <p:sp>
        <p:nvSpPr>
          <p:cNvPr id="13" name="Text 10"/>
          <p:cNvSpPr/>
          <p:nvPr/>
        </p:nvSpPr>
        <p:spPr>
          <a:xfrm>
            <a:off x="4318000" y="5537200"/>
            <a:ext cx="3429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3600" b="1" noProof="0" dirty="0">
                <a:solidFill>
                  <a:srgbClr val="1A7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1.117</a:t>
            </a:r>
            <a:endParaRPr lang="es-ES" sz="1600" noProof="0" dirty="0"/>
          </a:p>
        </p:txBody>
      </p:sp>
      <p:sp>
        <p:nvSpPr>
          <p:cNvPr id="14" name="Text 11"/>
          <p:cNvSpPr/>
          <p:nvPr/>
        </p:nvSpPr>
        <p:spPr>
          <a:xfrm>
            <a:off x="4318000" y="6172200"/>
            <a:ext cx="342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3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NVDA</a:t>
            </a:r>
            <a:endParaRPr lang="es-ES" sz="1600" noProof="0" dirty="0"/>
          </a:p>
        </p:txBody>
      </p:sp>
      <p:sp>
        <p:nvSpPr>
          <p:cNvPr id="15" name="Shape 12"/>
          <p:cNvSpPr/>
          <p:nvPr/>
        </p:nvSpPr>
        <p:spPr>
          <a:xfrm>
            <a:off x="7874000" y="5308600"/>
            <a:ext cx="0" cy="1016000"/>
          </a:xfrm>
          <a:prstGeom prst="straightConnector1">
            <a:avLst/>
          </a:prstGeom>
          <a:noFill/>
          <a:ln w="12700">
            <a:solidFill>
              <a:srgbClr val="D5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6" name="Text 13"/>
          <p:cNvSpPr/>
          <p:nvPr/>
        </p:nvSpPr>
        <p:spPr>
          <a:xfrm>
            <a:off x="8128000" y="5257800"/>
            <a:ext cx="342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200" kern="0" spc="1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ÚNICA ALFA NEGATIVA</a:t>
            </a:r>
            <a:endParaRPr lang="es-ES" sz="1600" noProof="0" dirty="0"/>
          </a:p>
        </p:txBody>
      </p:sp>
      <p:sp>
        <p:nvSpPr>
          <p:cNvPr id="17" name="Text 14"/>
          <p:cNvSpPr/>
          <p:nvPr/>
        </p:nvSpPr>
        <p:spPr>
          <a:xfrm>
            <a:off x="8128000" y="5537200"/>
            <a:ext cx="3429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3600" b="1" noProof="0" dirty="0">
                <a:solidFill>
                  <a:srgbClr val="C0392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−8.86%</a:t>
            </a:r>
            <a:endParaRPr lang="es-ES" sz="1600" noProof="0" dirty="0"/>
          </a:p>
        </p:txBody>
      </p:sp>
      <p:sp>
        <p:nvSpPr>
          <p:cNvPr id="18" name="Text 15"/>
          <p:cNvSpPr/>
          <p:nvPr/>
        </p:nvSpPr>
        <p:spPr>
          <a:xfrm>
            <a:off x="8128000" y="6172200"/>
            <a:ext cx="342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3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CRM</a:t>
            </a:r>
            <a:endParaRPr lang="es-ES" sz="1600" noProof="0" dirty="0"/>
          </a:p>
        </p:txBody>
      </p:sp>
      <p:sp>
        <p:nvSpPr>
          <p:cNvPr id="19" name="Shape 16"/>
          <p:cNvSpPr/>
          <p:nvPr/>
        </p:nvSpPr>
        <p:spPr>
          <a:xfrm>
            <a:off x="11684000" y="5308600"/>
            <a:ext cx="0" cy="1016000"/>
          </a:xfrm>
          <a:prstGeom prst="straightConnector1">
            <a:avLst/>
          </a:prstGeom>
          <a:noFill/>
          <a:ln w="12700">
            <a:solidFill>
              <a:srgbClr val="D5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0" name="Text 17"/>
          <p:cNvSpPr/>
          <p:nvPr/>
        </p:nvSpPr>
        <p:spPr>
          <a:xfrm>
            <a:off x="11938000" y="5257800"/>
            <a:ext cx="342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200" kern="0" spc="1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PERIODO : 2020-2026</a:t>
            </a:r>
            <a:endParaRPr lang="es-ES" sz="1600" noProof="0" dirty="0"/>
          </a:p>
        </p:txBody>
      </p:sp>
      <p:sp>
        <p:nvSpPr>
          <p:cNvPr id="21" name="Text 18"/>
          <p:cNvSpPr/>
          <p:nvPr/>
        </p:nvSpPr>
        <p:spPr>
          <a:xfrm>
            <a:off x="11938000" y="5537200"/>
            <a:ext cx="3429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3600" b="1" noProof="0" dirty="0">
                <a:solidFill>
                  <a:srgbClr val="0D1B2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333</a:t>
            </a:r>
            <a:endParaRPr lang="es-ES" sz="1600" noProof="0" dirty="0"/>
          </a:p>
        </p:txBody>
      </p:sp>
      <p:sp>
        <p:nvSpPr>
          <p:cNvPr id="22" name="Text 19"/>
          <p:cNvSpPr/>
          <p:nvPr/>
        </p:nvSpPr>
        <p:spPr>
          <a:xfrm>
            <a:off x="11938000" y="6172200"/>
            <a:ext cx="342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300" noProof="0" dirty="0" err="1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obs</a:t>
            </a:r>
            <a:r>
              <a:rPr lang="es-ES" sz="13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semanales</a:t>
            </a:r>
            <a:endParaRPr lang="es-ES" sz="1600" noProof="0" dirty="0"/>
          </a:p>
        </p:txBody>
      </p:sp>
      <p:sp>
        <p:nvSpPr>
          <p:cNvPr id="23" name="Shape 20"/>
          <p:cNvSpPr/>
          <p:nvPr/>
        </p:nvSpPr>
        <p:spPr>
          <a:xfrm>
            <a:off x="508000" y="6578600"/>
            <a:ext cx="15240000" cy="0"/>
          </a:xfrm>
          <a:prstGeom prst="straightConnector1">
            <a:avLst/>
          </a:prstGeom>
          <a:noFill/>
          <a:ln w="12700">
            <a:solidFill>
              <a:srgbClr val="D5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4" name="Text 21"/>
          <p:cNvSpPr/>
          <p:nvPr/>
        </p:nvSpPr>
        <p:spPr>
          <a:xfrm>
            <a:off x="508000" y="6731000"/>
            <a:ext cx="1524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s-ES" sz="1600" i="1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NVDA, TSM y GOOGL presentan alfa positiva significativa y Sharpe superior a 0.7, validando su inclusión en el portafolio óptimo. CRM es el único activo con alfa y Sharpe negativos. META muestra alta persistencia de volatilidad, lo que eleva su VaR y limita su atractivo riesgo-retorno.</a:t>
            </a:r>
            <a:endParaRPr lang="es-ES" sz="1600" noProof="0" dirty="0"/>
          </a:p>
        </p:txBody>
      </p:sp>
      <p:sp>
        <p:nvSpPr>
          <p:cNvPr id="25" name="Shape 22"/>
          <p:cNvSpPr/>
          <p:nvPr/>
        </p:nvSpPr>
        <p:spPr>
          <a:xfrm>
            <a:off x="508000" y="8686800"/>
            <a:ext cx="15240000" cy="0"/>
          </a:xfrm>
          <a:prstGeom prst="straightConnector1">
            <a:avLst/>
          </a:prstGeom>
          <a:noFill/>
          <a:ln w="12700">
            <a:solidFill>
              <a:srgbClr val="D5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6" name="Text 23"/>
          <p:cNvSpPr/>
          <p:nvPr/>
        </p:nvSpPr>
        <p:spPr>
          <a:xfrm>
            <a:off x="508000" y="8763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1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MACROCONSULT · Sistema de Información de Mercados</a:t>
            </a:r>
            <a:endParaRPr lang="es-ES" sz="1600" noProof="0" dirty="0"/>
          </a:p>
        </p:txBody>
      </p:sp>
      <p:sp>
        <p:nvSpPr>
          <p:cNvPr id="27" name="Text 24"/>
          <p:cNvSpPr/>
          <p:nvPr/>
        </p:nvSpPr>
        <p:spPr>
          <a:xfrm>
            <a:off x="14986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s-ES" sz="110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r>
              <a:rPr lang="es-ES" sz="11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/ 6</a:t>
            </a:r>
            <a:endParaRPr lang="es-ES" sz="1600" noProof="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1778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s-ES" sz="1400" b="1" noProof="0" dirty="0">
                <a:solidFill>
                  <a:srgbClr val="E8A0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s-ES" sz="1400" noProof="0" dirty="0"/>
          </a:p>
        </p:txBody>
      </p:sp>
      <p:sp>
        <p:nvSpPr>
          <p:cNvPr id="3" name="Text 1"/>
          <p:cNvSpPr/>
          <p:nvPr/>
        </p:nvSpPr>
        <p:spPr>
          <a:xfrm>
            <a:off x="1016000" y="177800"/>
            <a:ext cx="139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s-ES" sz="1400" noProof="0" dirty="0">
                <a:solidFill>
                  <a:srgbClr val="1B4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Portafolio Óptimo de Markowitz · Ciclo Económico MS-MH(3) · CTSNF (FRED) &amp; GDPC1 (FRED)</a:t>
            </a:r>
            <a:endParaRPr lang="es-ES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508000" y="508000"/>
            <a:ext cx="15240000" cy="0"/>
          </a:xfrm>
          <a:prstGeom prst="straightConnector1">
            <a:avLst/>
          </a:prstGeom>
          <a:noFill/>
          <a:ln w="12700">
            <a:solidFill>
              <a:srgbClr val="D5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5" name="Text 3"/>
          <p:cNvSpPr/>
          <p:nvPr/>
        </p:nvSpPr>
        <p:spPr>
          <a:xfrm>
            <a:off x="508000" y="635000"/>
            <a:ext cx="736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s-ES" sz="1200" kern="0" spc="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PESOS DEL PORTAFOLIO ÓPTIMO — MÍNIMA VARIANZA</a:t>
            </a:r>
            <a:endParaRPr lang="es-ES" sz="1200" noProof="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152544"/>
              </p:ext>
            </p:extLst>
          </p:nvPr>
        </p:nvGraphicFramePr>
        <p:xfrm>
          <a:off x="508000" y="939800"/>
          <a:ext cx="7366000" cy="2794002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7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6530">
                <a:tc>
                  <a:txBody>
                    <a:bodyPr/>
                    <a:lstStyle/>
                    <a:p>
                      <a:pPr algn="l"/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Rol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530">
                <a:tc>
                  <a:txBody>
                    <a:bodyPr/>
                    <a:lstStyle/>
                    <a:p>
                      <a:pPr algn="l"/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Ancla estabilizadora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530">
                <a:tc>
                  <a:txBody>
                    <a:bodyPr/>
                    <a:lstStyle/>
                    <a:p>
                      <a:pPr algn="l"/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Crecimiento </a:t>
                      </a:r>
                      <a:r>
                        <a:rPr lang="es-ES" sz="1600" u="none" noProof="0" dirty="0" err="1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cloud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562">
                <a:tc>
                  <a:txBody>
                    <a:bodyPr/>
                    <a:lstStyle/>
                    <a:p>
                      <a:pPr algn="l"/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Infraestructura semiconductor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530">
                <a:tc>
                  <a:txBody>
                    <a:bodyPr/>
                    <a:lstStyle/>
                    <a:p>
                      <a:pPr algn="l"/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Residual (mínimo)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320">
                <a:tc>
                  <a:txBody>
                    <a:bodyPr/>
                    <a:lstStyle/>
                    <a:p>
                      <a:pPr algn="l"/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8000" y="3784600"/>
            <a:ext cx="736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0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Fuente: Elaboración propia.</a:t>
            </a:r>
            <a:endParaRPr lang="es-ES" sz="1600" noProof="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3302335628"/>
              </p:ext>
            </p:extLst>
          </p:nvPr>
        </p:nvGraphicFramePr>
        <p:xfrm>
          <a:off x="355599" y="1225001"/>
          <a:ext cx="5357223" cy="2247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6"/>
          <p:cNvSpPr/>
          <p:nvPr/>
        </p:nvSpPr>
        <p:spPr>
          <a:xfrm>
            <a:off x="8128000" y="6350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s-ES" sz="1100" kern="0" spc="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RENDIMIENTO CONDICIONAL A LOS ESTADOS DE LA ECONOMÍA DEL CICLO </a:t>
            </a:r>
            <a:r>
              <a:rPr lang="es-ES" sz="1050" kern="0" spc="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FINANCIERO</a:t>
            </a:r>
            <a:endParaRPr lang="es-ES" sz="1100" noProof="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1573415"/>
              </p:ext>
            </p:extLst>
          </p:nvPr>
        </p:nvGraphicFramePr>
        <p:xfrm>
          <a:off x="8128000" y="939800"/>
          <a:ext cx="7620000" cy="22225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5625">
                <a:tc>
                  <a:txBody>
                    <a:bodyPr/>
                    <a:lstStyle/>
                    <a:p>
                      <a:pPr algn="l"/>
                      <a:r>
                        <a:rPr lang="es-ES" sz="16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Fase del Ciclo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E[Rp] </a:t>
                      </a:r>
                      <a:r>
                        <a:rPr lang="es-ES" sz="1600" b="1" u="none" noProof="0" dirty="0" err="1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Sem</a:t>
                      </a:r>
                      <a:r>
                        <a:rPr lang="es-ES" sz="16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.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E[Rp] Anual*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σₚ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Señal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Auge 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A7A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+12.05%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A7A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+83.5%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4.67%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A7A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ÓPTIMO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 err="1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Expansion</a:t>
                      </a:r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 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+0.28%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+14.7% 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4.89%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5D6D7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NEUTRAL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Recesión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C0392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−11.51%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C0392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−79.5% 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5.91%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C0392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EVITAR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8128000" y="3327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200" kern="0" spc="1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FASE ACTUAL — Primer trimestre 2026</a:t>
            </a:r>
            <a:endParaRPr lang="es-ES" sz="1600" noProof="0" dirty="0"/>
          </a:p>
        </p:txBody>
      </p:sp>
      <p:sp>
        <p:nvSpPr>
          <p:cNvPr id="13" name="Text 8"/>
          <p:cNvSpPr/>
          <p:nvPr/>
        </p:nvSpPr>
        <p:spPr>
          <a:xfrm>
            <a:off x="8128000" y="36322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3800" b="1" dirty="0">
                <a:solidFill>
                  <a:srgbClr val="1A7A4A"/>
                </a:solidFill>
                <a:latin typeface="Oranienbaum" pitchFamily="34" charset="0"/>
              </a:rPr>
              <a:t>EXPANSIÓN-AUGE</a:t>
            </a:r>
            <a:endParaRPr lang="es-ES" sz="1600" noProof="0" dirty="0"/>
          </a:p>
        </p:txBody>
      </p:sp>
      <p:sp>
        <p:nvSpPr>
          <p:cNvPr id="14" name="Text 9"/>
          <p:cNvSpPr/>
          <p:nvPr/>
        </p:nvSpPr>
        <p:spPr>
          <a:xfrm>
            <a:off x="12065000" y="3810000"/>
            <a:ext cx="368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s-ES" sz="1400" b="1" noProof="0" dirty="0">
                <a:solidFill>
                  <a:srgbClr val="1A7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SEÑAL: ÓPTIMO PARA INVERTIR</a:t>
            </a:r>
            <a:endParaRPr lang="es-ES" sz="1600" noProof="0" dirty="0"/>
          </a:p>
        </p:txBody>
      </p:sp>
      <p:sp>
        <p:nvSpPr>
          <p:cNvPr id="15" name="Text 10"/>
          <p:cNvSpPr/>
          <p:nvPr/>
        </p:nvSpPr>
        <p:spPr>
          <a:xfrm>
            <a:off x="8128000" y="43434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0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Fuente: Elaboración propia a partir de datos de CTSNF (BIS) + GDPC1 (FRED). Modelo: Markov-</a:t>
            </a:r>
            <a:r>
              <a:rPr lang="es-ES" sz="1000" noProof="0" dirty="0" err="1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Switching</a:t>
            </a:r>
            <a:r>
              <a:rPr lang="es-ES" sz="10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MS-MH(3).</a:t>
            </a:r>
            <a:endParaRPr lang="es-ES" sz="1600" noProof="0" dirty="0"/>
          </a:p>
        </p:txBody>
      </p:sp>
      <p:sp>
        <p:nvSpPr>
          <p:cNvPr id="16" name="Text 11"/>
          <p:cNvSpPr/>
          <p:nvPr/>
        </p:nvSpPr>
        <p:spPr>
          <a:xfrm>
            <a:off x="8128000" y="4699000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s-ES" sz="1200" kern="0" spc="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DISTRIBUCIÓN ESTACIONARIA DE LARGO PLAZO</a:t>
            </a:r>
            <a:endParaRPr lang="es-ES" sz="1200" noProof="0" dirty="0"/>
          </a:p>
        </p:txBody>
      </p:sp>
      <p:graphicFrame>
        <p:nvGraphicFramePr>
          <p:cNvPr id="1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623244"/>
              </p:ext>
            </p:extLst>
          </p:nvPr>
        </p:nvGraphicFramePr>
        <p:xfrm>
          <a:off x="8128000" y="5003800"/>
          <a:ext cx="7620000" cy="2032000"/>
        </p:xfrm>
        <a:graphic>
          <a:graphicData uri="http://schemas.openxmlformats.org/drawingml/2006/table">
            <a:tbl>
              <a:tblPr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s-ES" sz="16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Régimen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πᵢ (</a:t>
                      </a:r>
                      <a:r>
                        <a:rPr lang="es-ES" sz="1600" b="1" u="none" noProof="0" dirty="0" err="1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prob</a:t>
                      </a:r>
                      <a:r>
                        <a:rPr lang="es-ES" sz="16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. LP)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E[</a:t>
                      </a:r>
                      <a:r>
                        <a:rPr lang="es-ES" sz="1600" b="1" u="none" noProof="0" dirty="0" err="1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Rp|i</a:t>
                      </a:r>
                      <a:r>
                        <a:rPr lang="es-ES" sz="16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] </a:t>
                      </a:r>
                      <a:r>
                        <a:rPr lang="es-ES" sz="1600" b="1" u="none" noProof="0" dirty="0" err="1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Sem</a:t>
                      </a:r>
                      <a:r>
                        <a:rPr lang="es-ES" sz="16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.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Contribución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Recesión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17.80%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C0392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−11.51%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C0392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−2.05%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Expansión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57.93%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+0.28%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+0.16%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Auge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24.27%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A7A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+12.05%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A7A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+2.93%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E[Rp] LP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Σπᵢ = 1.00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—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+1.04% 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2"/>
          <p:cNvSpPr/>
          <p:nvPr/>
        </p:nvSpPr>
        <p:spPr>
          <a:xfrm>
            <a:off x="8128000" y="7086600"/>
            <a:ext cx="762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s-ES" sz="10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Fuentes: Elaboración propia.</a:t>
            </a:r>
            <a:endParaRPr lang="es-ES" sz="1600" noProof="0" dirty="0"/>
          </a:p>
        </p:txBody>
      </p:sp>
      <p:sp>
        <p:nvSpPr>
          <p:cNvPr id="19" name="Shape 13"/>
          <p:cNvSpPr/>
          <p:nvPr/>
        </p:nvSpPr>
        <p:spPr>
          <a:xfrm>
            <a:off x="508000" y="7493000"/>
            <a:ext cx="15240000" cy="0"/>
          </a:xfrm>
          <a:prstGeom prst="straightConnector1">
            <a:avLst/>
          </a:prstGeom>
          <a:noFill/>
          <a:ln w="12700">
            <a:solidFill>
              <a:srgbClr val="D5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0" name="Text 14"/>
          <p:cNvSpPr/>
          <p:nvPr/>
        </p:nvSpPr>
        <p:spPr>
          <a:xfrm>
            <a:off x="508000" y="7620000"/>
            <a:ext cx="1524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s-ES" sz="1500" i="1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 portafolio concentra el 79.6% en MSFT+GOOGL (activos de menor riesgo idiosincrático) y excluye META y NVDA por alta varianza individual. En la fase actual de expansión del ciclo económico y  financiero, el portafolio genera E[Rp] semanal de +12.05% (σ = 4.67%). En escenario de recesión, la señal es EVITAR.</a:t>
            </a:r>
            <a:endParaRPr lang="es-ES" sz="1600" noProof="0" dirty="0"/>
          </a:p>
        </p:txBody>
      </p:sp>
      <p:sp>
        <p:nvSpPr>
          <p:cNvPr id="21" name="Shape 15"/>
          <p:cNvSpPr/>
          <p:nvPr/>
        </p:nvSpPr>
        <p:spPr>
          <a:xfrm>
            <a:off x="508000" y="8686800"/>
            <a:ext cx="15240000" cy="0"/>
          </a:xfrm>
          <a:prstGeom prst="straightConnector1">
            <a:avLst/>
          </a:prstGeom>
          <a:noFill/>
          <a:ln w="12700">
            <a:solidFill>
              <a:srgbClr val="D5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2" name="Text 16"/>
          <p:cNvSpPr/>
          <p:nvPr/>
        </p:nvSpPr>
        <p:spPr>
          <a:xfrm>
            <a:off x="508000" y="8763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1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MACROCONSULT · Sistema de Información de Mercados</a:t>
            </a:r>
            <a:endParaRPr lang="es-ES" sz="1600" noProof="0" dirty="0"/>
          </a:p>
        </p:txBody>
      </p:sp>
      <p:sp>
        <p:nvSpPr>
          <p:cNvPr id="23" name="Text 17"/>
          <p:cNvSpPr/>
          <p:nvPr/>
        </p:nvSpPr>
        <p:spPr>
          <a:xfrm>
            <a:off x="14986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s-ES" sz="110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r>
              <a:rPr lang="es-ES" sz="11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/ 6</a:t>
            </a:r>
            <a:endParaRPr lang="es-ES" sz="1600" noProof="0" dirty="0"/>
          </a:p>
        </p:txBody>
      </p:sp>
      <p:graphicFrame>
        <p:nvGraphicFramePr>
          <p:cNvPr id="24" name="Table 1">
            <a:extLst>
              <a:ext uri="{FF2B5EF4-FFF2-40B4-BE49-F238E27FC236}">
                <a16:creationId xmlns:a16="http://schemas.microsoft.com/office/drawing/2014/main" id="{899A7A85-D380-5490-D885-9C673528DF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681068"/>
              </p:ext>
            </p:extLst>
          </p:nvPr>
        </p:nvGraphicFramePr>
        <p:xfrm>
          <a:off x="355599" y="4902198"/>
          <a:ext cx="7440024" cy="2102032"/>
        </p:xfrm>
        <a:graphic>
          <a:graphicData uri="http://schemas.openxmlformats.org/drawingml/2006/table">
            <a:tbl>
              <a:tblPr/>
              <a:tblGrid>
                <a:gridCol w="178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8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6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16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80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5508">
                <a:tc>
                  <a:txBody>
                    <a:bodyPr/>
                    <a:lstStyle/>
                    <a:p>
                      <a:pPr algn="l"/>
                      <a:r>
                        <a:rPr lang="es-ES" sz="16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Fase del Ciclo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E[Rp] </a:t>
                      </a:r>
                      <a:r>
                        <a:rPr lang="es-ES" sz="1600" b="1" u="none" noProof="0" dirty="0" err="1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Sem</a:t>
                      </a:r>
                      <a:r>
                        <a:rPr lang="es-ES" sz="16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.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E[Rp] Anual*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σₚ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b="1" u="none" noProof="0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Señal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508"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Auge 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A7A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+8.66%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A7A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+83.5%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4.67%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A7A4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ÓPTIMO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508"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Expansión 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+0.066%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+14.7% 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4.89%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5D6D7E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NEUTRAL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508"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Recesión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C0392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−9.36%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C0392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−79.5% 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1C28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5.91%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u="none" noProof="0" dirty="0">
                          <a:solidFill>
                            <a:srgbClr val="C0392B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EVITAR</a:t>
                      </a:r>
                      <a:endParaRPr lang="es-ES" sz="1600" noProof="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6">
            <a:extLst>
              <a:ext uri="{FF2B5EF4-FFF2-40B4-BE49-F238E27FC236}">
                <a16:creationId xmlns:a16="http://schemas.microsoft.com/office/drawing/2014/main" id="{7EB030BD-DBFB-4B02-9C40-CE144A8A9BAA}"/>
              </a:ext>
            </a:extLst>
          </p:cNvPr>
          <p:cNvSpPr/>
          <p:nvPr/>
        </p:nvSpPr>
        <p:spPr>
          <a:xfrm>
            <a:off x="254000" y="4495799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s-ES" sz="1100" kern="0" spc="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RENDIMIENTO CONDICIONAL A LOS ESTADOS DE LA ECONOMÍA DEL CICLO </a:t>
            </a:r>
            <a:r>
              <a:rPr lang="es-ES" sz="1050" kern="0" spc="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 PBI USA</a:t>
            </a:r>
            <a:endParaRPr lang="es-ES" sz="1100" noProof="0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7BE05117-9C35-7300-E481-DF2080208EBE}"/>
              </a:ext>
            </a:extLst>
          </p:cNvPr>
          <p:cNvSpPr/>
          <p:nvPr/>
        </p:nvSpPr>
        <p:spPr>
          <a:xfrm>
            <a:off x="254000" y="7150099"/>
            <a:ext cx="762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s-ES" sz="1100" kern="0" spc="200" noProof="0" dirty="0">
                <a:solidFill>
                  <a:srgbClr val="7F8C8D"/>
                </a:solidFill>
                <a:latin typeface="Liter" pitchFamily="34" charset="0"/>
              </a:rPr>
              <a:t>Fuente: Elaboración propia</a:t>
            </a:r>
            <a:endParaRPr lang="es-ES" sz="1100" noProof="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177800"/>
            <a:ext cx="50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s-ES" sz="1400" b="1" noProof="0" dirty="0">
                <a:solidFill>
                  <a:srgbClr val="E8A0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s-ES" sz="1400" noProof="0" dirty="0"/>
          </a:p>
        </p:txBody>
      </p:sp>
      <p:sp>
        <p:nvSpPr>
          <p:cNvPr id="3" name="Text 1"/>
          <p:cNvSpPr/>
          <p:nvPr/>
        </p:nvSpPr>
        <p:spPr>
          <a:xfrm>
            <a:off x="1016000" y="177800"/>
            <a:ext cx="139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s-ES" sz="1400" noProof="0" dirty="0">
                <a:solidFill>
                  <a:srgbClr val="1B4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Recomendación Final de Inversión · Síntesis Ejecutiva · </a:t>
            </a:r>
            <a:r>
              <a:rPr lang="es-ES" sz="1400" noProof="0" dirty="0" err="1">
                <a:solidFill>
                  <a:srgbClr val="1B4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Macroconsult</a:t>
            </a:r>
            <a:r>
              <a:rPr lang="es-ES" sz="1400" noProof="0" dirty="0">
                <a:solidFill>
                  <a:srgbClr val="1B4F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2026</a:t>
            </a:r>
            <a:endParaRPr lang="es-ES" sz="1400" noProof="0" dirty="0"/>
          </a:p>
        </p:txBody>
      </p:sp>
      <p:sp>
        <p:nvSpPr>
          <p:cNvPr id="4" name="Shape 2"/>
          <p:cNvSpPr/>
          <p:nvPr/>
        </p:nvSpPr>
        <p:spPr>
          <a:xfrm>
            <a:off x="508000" y="508000"/>
            <a:ext cx="15240000" cy="0"/>
          </a:xfrm>
          <a:prstGeom prst="straightConnector1">
            <a:avLst/>
          </a:prstGeom>
          <a:noFill/>
          <a:ln w="12700">
            <a:solidFill>
              <a:srgbClr val="D5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5" name="Shape 3"/>
          <p:cNvSpPr/>
          <p:nvPr/>
        </p:nvSpPr>
        <p:spPr>
          <a:xfrm>
            <a:off x="508000" y="685800"/>
            <a:ext cx="38100" cy="6858000"/>
          </a:xfrm>
          <a:prstGeom prst="rect">
            <a:avLst/>
          </a:prstGeom>
          <a:solidFill>
            <a:srgbClr val="1A7A4A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6" name="Text 4"/>
          <p:cNvSpPr/>
          <p:nvPr/>
        </p:nvSpPr>
        <p:spPr>
          <a:xfrm>
            <a:off x="660400" y="685800"/>
            <a:ext cx="469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2000" b="1" noProof="0" dirty="0">
                <a:solidFill>
                  <a:srgbClr val="1A7A4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INVERTIR</a:t>
            </a:r>
            <a:endParaRPr lang="es-ES" sz="1600" noProof="0" dirty="0"/>
          </a:p>
        </p:txBody>
      </p:sp>
      <p:sp>
        <p:nvSpPr>
          <p:cNvPr id="7" name="Shape 5"/>
          <p:cNvSpPr/>
          <p:nvPr/>
        </p:nvSpPr>
        <p:spPr>
          <a:xfrm>
            <a:off x="660400" y="1066800"/>
            <a:ext cx="4699000" cy="0"/>
          </a:xfrm>
          <a:prstGeom prst="straightConnector1">
            <a:avLst/>
          </a:prstGeom>
          <a:noFill/>
          <a:ln w="12700">
            <a:solidFill>
              <a:srgbClr val="D5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8" name="Text 6"/>
          <p:cNvSpPr/>
          <p:nvPr/>
        </p:nvSpPr>
        <p:spPr>
          <a:xfrm>
            <a:off x="660400" y="1193800"/>
            <a:ext cx="469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800" b="1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NVDA</a:t>
            </a:r>
            <a:endParaRPr lang="es-ES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660400" y="1524000"/>
            <a:ext cx="469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β = 1.906 · α = +44.33% · SR = 1.117 · VaR99% = −15.85%</a:t>
            </a:r>
            <a:endParaRPr lang="es-ES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660400" y="1803400"/>
            <a:ext cx="4699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s-ES" sz="1400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Ecosistema CUDA inigualable. Mayor alfa Jensen del portafolio. Arquitectura Blackwell como catalizador de demanda sostenida. Pese al VaR elevado, el riesgo es retribuido por la alfa más alta del universo.</a:t>
            </a:r>
            <a:endParaRPr lang="es-ES" sz="1600" noProof="0" dirty="0"/>
          </a:p>
        </p:txBody>
      </p:sp>
      <p:sp>
        <p:nvSpPr>
          <p:cNvPr id="11" name="Text 9"/>
          <p:cNvSpPr/>
          <p:nvPr/>
        </p:nvSpPr>
        <p:spPr>
          <a:xfrm>
            <a:off x="660400" y="3048000"/>
            <a:ext cx="469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400" b="1" noProof="0" dirty="0">
                <a:solidFill>
                  <a:srgbClr val="1A7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★ INVERTIR</a:t>
            </a:r>
            <a:endParaRPr lang="es-ES" sz="1600" noProof="0" dirty="0"/>
          </a:p>
        </p:txBody>
      </p:sp>
      <p:sp>
        <p:nvSpPr>
          <p:cNvPr id="12" name="Shape 10"/>
          <p:cNvSpPr/>
          <p:nvPr/>
        </p:nvSpPr>
        <p:spPr>
          <a:xfrm>
            <a:off x="660400" y="3429000"/>
            <a:ext cx="4699000" cy="0"/>
          </a:xfrm>
          <a:prstGeom prst="straightConnector1">
            <a:avLst/>
          </a:prstGeom>
          <a:noFill/>
          <a:ln w="12700">
            <a:solidFill>
              <a:srgbClr val="D5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3" name="Text 11"/>
          <p:cNvSpPr/>
          <p:nvPr/>
        </p:nvSpPr>
        <p:spPr>
          <a:xfrm>
            <a:off x="660400" y="3556000"/>
            <a:ext cx="469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800" b="1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</a:t>
            </a:r>
            <a:endParaRPr lang="es-ES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660400" y="3886200"/>
            <a:ext cx="469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β = 1.062 · α = +17.37% · SR = 0.700 · VaR99% = −10.53%</a:t>
            </a:r>
            <a:endParaRPr lang="es-ES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660400" y="4165600"/>
            <a:ext cx="4699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s-ES" sz="1400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 Cloud +63% YoY (Q1 2026). Gemini Ultra consolida posición en IA generativa. Alfa positiva con beta controlada: perfil riesgo-retorno favorable. Monitorear resultado DOJ.</a:t>
            </a:r>
            <a:endParaRPr lang="es-ES" sz="1600" noProof="0" dirty="0"/>
          </a:p>
        </p:txBody>
      </p:sp>
      <p:sp>
        <p:nvSpPr>
          <p:cNvPr id="16" name="Text 14"/>
          <p:cNvSpPr/>
          <p:nvPr/>
        </p:nvSpPr>
        <p:spPr>
          <a:xfrm>
            <a:off x="660400" y="5410200"/>
            <a:ext cx="469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400" b="1" noProof="0" dirty="0">
                <a:solidFill>
                  <a:srgbClr val="1A7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★ INVERTIR</a:t>
            </a:r>
            <a:endParaRPr lang="es-ES" sz="1600" noProof="0" dirty="0"/>
          </a:p>
        </p:txBody>
      </p:sp>
      <p:sp>
        <p:nvSpPr>
          <p:cNvPr id="17" name="Shape 15"/>
          <p:cNvSpPr/>
          <p:nvPr/>
        </p:nvSpPr>
        <p:spPr>
          <a:xfrm>
            <a:off x="5588000" y="685800"/>
            <a:ext cx="38100" cy="685800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18" name="Text 16"/>
          <p:cNvSpPr/>
          <p:nvPr/>
        </p:nvSpPr>
        <p:spPr>
          <a:xfrm>
            <a:off x="5740400" y="685800"/>
            <a:ext cx="469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2000" b="1" noProof="0" dirty="0">
                <a:solidFill>
                  <a:srgbClr val="E8A02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CONDICIONAL</a:t>
            </a:r>
            <a:endParaRPr lang="es-ES" sz="1600" noProof="0" dirty="0"/>
          </a:p>
        </p:txBody>
      </p:sp>
      <p:sp>
        <p:nvSpPr>
          <p:cNvPr id="19" name="Shape 17"/>
          <p:cNvSpPr/>
          <p:nvPr/>
        </p:nvSpPr>
        <p:spPr>
          <a:xfrm>
            <a:off x="5740400" y="1066800"/>
            <a:ext cx="4699000" cy="0"/>
          </a:xfrm>
          <a:prstGeom prst="straightConnector1">
            <a:avLst/>
          </a:prstGeom>
          <a:noFill/>
          <a:ln w="12700">
            <a:solidFill>
              <a:srgbClr val="D5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0" name="Text 18"/>
          <p:cNvSpPr/>
          <p:nvPr/>
        </p:nvSpPr>
        <p:spPr>
          <a:xfrm>
            <a:off x="5740400" y="1193800"/>
            <a:ext cx="469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800" b="1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MSFT</a:t>
            </a:r>
            <a:endParaRPr lang="es-ES" sz="1600" noProof="0" dirty="0"/>
          </a:p>
        </p:txBody>
      </p:sp>
      <p:sp>
        <p:nvSpPr>
          <p:cNvPr id="21" name="Text 19"/>
          <p:cNvSpPr/>
          <p:nvPr/>
        </p:nvSpPr>
        <p:spPr>
          <a:xfrm>
            <a:off x="5740400" y="1524000"/>
            <a:ext cx="469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β = 0.893 · α = +7.41% · SR = 0.442 · RPO $392B</a:t>
            </a:r>
            <a:endParaRPr lang="es-ES" sz="1600" noProof="0" dirty="0"/>
          </a:p>
        </p:txBody>
      </p:sp>
      <p:sp>
        <p:nvSpPr>
          <p:cNvPr id="22" name="Text 20"/>
          <p:cNvSpPr/>
          <p:nvPr/>
        </p:nvSpPr>
        <p:spPr>
          <a:xfrm>
            <a:off x="5740400" y="1803400"/>
            <a:ext cx="4699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s-ES" sz="1400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Alfa positiva pero moderada. Incorporar en correcciones de 8–12%. RPO de $392B es indicador adelantado de visibilidad de ingresos. </a:t>
            </a:r>
            <a:r>
              <a:rPr lang="es-ES" sz="1400" noProof="0" dirty="0" err="1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Copilot</a:t>
            </a:r>
            <a:r>
              <a:rPr lang="es-ES" sz="1400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 proceso de monetización.</a:t>
            </a:r>
            <a:endParaRPr lang="es-ES" sz="1600" noProof="0" dirty="0"/>
          </a:p>
        </p:txBody>
      </p:sp>
      <p:sp>
        <p:nvSpPr>
          <p:cNvPr id="23" name="Text 21"/>
          <p:cNvSpPr/>
          <p:nvPr/>
        </p:nvSpPr>
        <p:spPr>
          <a:xfrm>
            <a:off x="5740400" y="3048000"/>
            <a:ext cx="469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400" b="1" noProof="0" dirty="0">
                <a:solidFill>
                  <a:srgbClr val="E8A0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◆ NEUTRAL</a:t>
            </a:r>
            <a:endParaRPr lang="es-ES" sz="1600" noProof="0" dirty="0"/>
          </a:p>
        </p:txBody>
      </p:sp>
      <p:sp>
        <p:nvSpPr>
          <p:cNvPr id="24" name="Shape 22"/>
          <p:cNvSpPr/>
          <p:nvPr/>
        </p:nvSpPr>
        <p:spPr>
          <a:xfrm>
            <a:off x="5740400" y="3429000"/>
            <a:ext cx="4699000" cy="0"/>
          </a:xfrm>
          <a:prstGeom prst="straightConnector1">
            <a:avLst/>
          </a:prstGeom>
          <a:noFill/>
          <a:ln w="12700">
            <a:solidFill>
              <a:srgbClr val="D5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5" name="Text 23"/>
          <p:cNvSpPr/>
          <p:nvPr/>
        </p:nvSpPr>
        <p:spPr>
          <a:xfrm>
            <a:off x="5740400" y="3556000"/>
            <a:ext cx="469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800" b="1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TSM</a:t>
            </a:r>
            <a:endParaRPr lang="es-ES" sz="1600" noProof="0" dirty="0"/>
          </a:p>
        </p:txBody>
      </p:sp>
      <p:sp>
        <p:nvSpPr>
          <p:cNvPr id="26" name="Text 24"/>
          <p:cNvSpPr/>
          <p:nvPr/>
        </p:nvSpPr>
        <p:spPr>
          <a:xfrm>
            <a:off x="5740400" y="3886200"/>
            <a:ext cx="469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β = 0.998 · α = +23.06% · SR = 0.747 · Posición táctica 5–8%</a:t>
            </a:r>
            <a:endParaRPr lang="es-ES" sz="1600" noProof="0" dirty="0"/>
          </a:p>
        </p:txBody>
      </p:sp>
      <p:sp>
        <p:nvSpPr>
          <p:cNvPr id="27" name="Text 25"/>
          <p:cNvSpPr/>
          <p:nvPr/>
        </p:nvSpPr>
        <p:spPr>
          <a:xfrm>
            <a:off x="5740400" y="4165600"/>
            <a:ext cx="4699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s-ES" sz="1400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Segunda mayor alfa del portafolio. Monopolio en nodos sub-3nm. Posición táctica (5–8%) para gestionar concentración de riesgo geopolítico de Taiwán. No </a:t>
            </a:r>
            <a:r>
              <a:rPr lang="es-ES" sz="1400" noProof="0" dirty="0" err="1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sobreponderar</a:t>
            </a:r>
            <a:r>
              <a:rPr lang="es-ES" sz="1400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s-ES" sz="1600" noProof="0" dirty="0"/>
          </a:p>
        </p:txBody>
      </p:sp>
      <p:sp>
        <p:nvSpPr>
          <p:cNvPr id="28" name="Text 26"/>
          <p:cNvSpPr/>
          <p:nvPr/>
        </p:nvSpPr>
        <p:spPr>
          <a:xfrm>
            <a:off x="5740400" y="5410200"/>
            <a:ext cx="469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400" b="1" noProof="0" dirty="0">
                <a:solidFill>
                  <a:srgbClr val="E8A02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◆ CONDICIONAL</a:t>
            </a:r>
            <a:endParaRPr lang="es-ES" sz="1600" noProof="0" dirty="0"/>
          </a:p>
        </p:txBody>
      </p:sp>
      <p:sp>
        <p:nvSpPr>
          <p:cNvPr id="29" name="Shape 27"/>
          <p:cNvSpPr/>
          <p:nvPr/>
        </p:nvSpPr>
        <p:spPr>
          <a:xfrm>
            <a:off x="10668000" y="685800"/>
            <a:ext cx="38100" cy="68580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s-ES" noProof="0" dirty="0"/>
          </a:p>
        </p:txBody>
      </p:sp>
      <p:sp>
        <p:nvSpPr>
          <p:cNvPr id="30" name="Text 28"/>
          <p:cNvSpPr/>
          <p:nvPr/>
        </p:nvSpPr>
        <p:spPr>
          <a:xfrm>
            <a:off x="10820400" y="685800"/>
            <a:ext cx="482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2000" b="1" noProof="0" dirty="0">
                <a:solidFill>
                  <a:srgbClr val="C0392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NO INVERTIR</a:t>
            </a:r>
            <a:endParaRPr lang="es-ES" sz="1600" noProof="0" dirty="0"/>
          </a:p>
        </p:txBody>
      </p:sp>
      <p:sp>
        <p:nvSpPr>
          <p:cNvPr id="31" name="Shape 29"/>
          <p:cNvSpPr/>
          <p:nvPr/>
        </p:nvSpPr>
        <p:spPr>
          <a:xfrm>
            <a:off x="10820400" y="1066800"/>
            <a:ext cx="4826000" cy="0"/>
          </a:xfrm>
          <a:prstGeom prst="straightConnector1">
            <a:avLst/>
          </a:prstGeom>
          <a:noFill/>
          <a:ln w="12700">
            <a:solidFill>
              <a:srgbClr val="D5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2" name="Text 30"/>
          <p:cNvSpPr/>
          <p:nvPr/>
        </p:nvSpPr>
        <p:spPr>
          <a:xfrm>
            <a:off x="10820400" y="1193800"/>
            <a:ext cx="482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800" b="1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</a:t>
            </a:r>
            <a:endParaRPr lang="es-ES" sz="1600" noProof="0" dirty="0"/>
          </a:p>
        </p:txBody>
      </p:sp>
      <p:sp>
        <p:nvSpPr>
          <p:cNvPr id="33" name="Text 31"/>
          <p:cNvSpPr/>
          <p:nvPr/>
        </p:nvSpPr>
        <p:spPr>
          <a:xfrm>
            <a:off x="10820400" y="1524000"/>
            <a:ext cx="482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β = 1.217 · α = +7.90% · SR = 0.272 </a:t>
            </a:r>
            <a:endParaRPr lang="es-ES" sz="1600" noProof="0" dirty="0"/>
          </a:p>
        </p:txBody>
      </p:sp>
      <p:sp>
        <p:nvSpPr>
          <p:cNvPr id="34" name="Text 32"/>
          <p:cNvSpPr/>
          <p:nvPr/>
        </p:nvSpPr>
        <p:spPr>
          <a:xfrm>
            <a:off x="10820400" y="1803400"/>
            <a:ext cx="4826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s-ES" sz="1400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Alta persistencia de volatilidad (α+β = 0.947 → shocks de largo decaimiento). Alfa positiva pero menor calidad. </a:t>
            </a:r>
            <a:r>
              <a:rPr lang="es-ES" sz="1400" noProof="0" dirty="0" err="1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Capex</a:t>
            </a:r>
            <a:r>
              <a:rPr lang="es-ES" sz="1400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masivo en metaverso y AI sin retorno demostrado. Riesgo regulatorio.</a:t>
            </a:r>
            <a:endParaRPr lang="es-ES" sz="1600" noProof="0" dirty="0"/>
          </a:p>
        </p:txBody>
      </p:sp>
      <p:sp>
        <p:nvSpPr>
          <p:cNvPr id="35" name="Text 33"/>
          <p:cNvSpPr/>
          <p:nvPr/>
        </p:nvSpPr>
        <p:spPr>
          <a:xfrm>
            <a:off x="10820400" y="3048000"/>
            <a:ext cx="482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400" b="1" noProof="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⚠ CAUTELA</a:t>
            </a:r>
            <a:endParaRPr lang="es-ES" sz="1600" noProof="0" dirty="0"/>
          </a:p>
        </p:txBody>
      </p:sp>
      <p:sp>
        <p:nvSpPr>
          <p:cNvPr id="36" name="Shape 34"/>
          <p:cNvSpPr/>
          <p:nvPr/>
        </p:nvSpPr>
        <p:spPr>
          <a:xfrm>
            <a:off x="10820400" y="3429000"/>
            <a:ext cx="4826000" cy="0"/>
          </a:xfrm>
          <a:prstGeom prst="straightConnector1">
            <a:avLst/>
          </a:prstGeom>
          <a:noFill/>
          <a:ln w="12700">
            <a:solidFill>
              <a:srgbClr val="D5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7" name="Text 35"/>
          <p:cNvSpPr/>
          <p:nvPr/>
        </p:nvSpPr>
        <p:spPr>
          <a:xfrm>
            <a:off x="10820400" y="3556000"/>
            <a:ext cx="482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800" b="1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CRM</a:t>
            </a:r>
            <a:endParaRPr lang="es-ES" sz="1600" noProof="0" dirty="0"/>
          </a:p>
        </p:txBody>
      </p:sp>
      <p:sp>
        <p:nvSpPr>
          <p:cNvPr id="38" name="Text 36"/>
          <p:cNvSpPr/>
          <p:nvPr/>
        </p:nvSpPr>
        <p:spPr>
          <a:xfrm>
            <a:off x="10820400" y="3886200"/>
            <a:ext cx="482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β = 1.041 · α = −8.86% · SR = −0.047 · EXCLUIR</a:t>
            </a:r>
            <a:endParaRPr lang="es-ES" sz="1600" noProof="0" dirty="0"/>
          </a:p>
        </p:txBody>
      </p:sp>
      <p:sp>
        <p:nvSpPr>
          <p:cNvPr id="39" name="Text 37"/>
          <p:cNvSpPr/>
          <p:nvPr/>
        </p:nvSpPr>
        <p:spPr>
          <a:xfrm>
            <a:off x="10820400" y="4165600"/>
            <a:ext cx="4826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s-ES" sz="1400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ÚNICO activo del portafolio con alfa y Sharpe negativos. Pérdida de valor sistemática ajustada por riesgo. Presión competitiva severa de MSFT </a:t>
            </a:r>
            <a:r>
              <a:rPr lang="es-ES" sz="1400" noProof="0" dirty="0" err="1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Copilot</a:t>
            </a:r>
            <a:r>
              <a:rPr lang="es-ES" sz="1400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validada cuantitativamente.</a:t>
            </a:r>
            <a:endParaRPr lang="es-ES" sz="1600" noProof="0" dirty="0"/>
          </a:p>
        </p:txBody>
      </p:sp>
      <p:sp>
        <p:nvSpPr>
          <p:cNvPr id="40" name="Text 38"/>
          <p:cNvSpPr/>
          <p:nvPr/>
        </p:nvSpPr>
        <p:spPr>
          <a:xfrm>
            <a:off x="10820400" y="5410200"/>
            <a:ext cx="482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400" b="1" noProof="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✗ NO INVERTIR</a:t>
            </a:r>
            <a:endParaRPr lang="es-ES" sz="1600" noProof="0" dirty="0"/>
          </a:p>
        </p:txBody>
      </p:sp>
      <p:sp>
        <p:nvSpPr>
          <p:cNvPr id="41" name="Shape 39"/>
          <p:cNvSpPr/>
          <p:nvPr/>
        </p:nvSpPr>
        <p:spPr>
          <a:xfrm>
            <a:off x="508000" y="7670800"/>
            <a:ext cx="15240000" cy="0"/>
          </a:xfrm>
          <a:prstGeom prst="straightConnector1">
            <a:avLst/>
          </a:prstGeom>
          <a:noFill/>
          <a:ln w="12700">
            <a:solidFill>
              <a:srgbClr val="D5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42" name="Text 40"/>
          <p:cNvSpPr/>
          <p:nvPr/>
        </p:nvSpPr>
        <p:spPr>
          <a:xfrm>
            <a:off x="508000" y="77978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s-ES" sz="1200" kern="0" spc="200" noProof="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RIESGOS SISTÉMICOS A MONITOREAR</a:t>
            </a:r>
            <a:endParaRPr lang="es-ES" sz="1200" noProof="0" dirty="0"/>
          </a:p>
        </p:txBody>
      </p:sp>
      <p:sp>
        <p:nvSpPr>
          <p:cNvPr id="43" name="Text 41"/>
          <p:cNvSpPr/>
          <p:nvPr/>
        </p:nvSpPr>
        <p:spPr>
          <a:xfrm>
            <a:off x="508000" y="8102600"/>
            <a:ext cx="482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s-ES" sz="1200" b="1" noProof="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r>
              <a:rPr lang="es-ES" sz="1200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s-ES" sz="1200" b="1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Restricciones exportación chips a China</a:t>
            </a:r>
            <a:endParaRPr lang="es-ES" sz="1600" noProof="0" dirty="0"/>
          </a:p>
          <a:p>
            <a:pPr>
              <a:lnSpc>
                <a:spcPct val="130000"/>
              </a:lnSpc>
            </a:pPr>
            <a:r>
              <a:rPr lang="es-ES" sz="1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Exposición: NVDA / TSM</a:t>
            </a:r>
            <a:endParaRPr lang="es-ES" sz="1600" noProof="0" dirty="0"/>
          </a:p>
        </p:txBody>
      </p:sp>
      <p:sp>
        <p:nvSpPr>
          <p:cNvPr id="44" name="Text 42"/>
          <p:cNvSpPr/>
          <p:nvPr/>
        </p:nvSpPr>
        <p:spPr>
          <a:xfrm>
            <a:off x="5588000" y="8102600"/>
            <a:ext cx="482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s-ES" sz="1200" b="1" noProof="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r>
              <a:rPr lang="es-ES" sz="1200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s-ES" sz="1200" b="1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Fallo DOJ vs. Google (antimonopolio)</a:t>
            </a:r>
            <a:endParaRPr lang="es-ES" sz="1600" noProof="0" dirty="0"/>
          </a:p>
          <a:p>
            <a:pPr>
              <a:lnSpc>
                <a:spcPct val="130000"/>
              </a:lnSpc>
            </a:pPr>
            <a:r>
              <a:rPr lang="es-ES" sz="1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Exposición: GOOGL</a:t>
            </a:r>
            <a:endParaRPr lang="es-ES" sz="1600" noProof="0" dirty="0"/>
          </a:p>
        </p:txBody>
      </p:sp>
      <p:sp>
        <p:nvSpPr>
          <p:cNvPr id="45" name="Text 43"/>
          <p:cNvSpPr/>
          <p:nvPr/>
        </p:nvSpPr>
        <p:spPr>
          <a:xfrm>
            <a:off x="10668000" y="81026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s-ES" sz="1200" b="1" noProof="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▸</a:t>
            </a:r>
            <a:r>
              <a:rPr lang="es-ES" sz="1200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s-ES" sz="1200" b="1" noProof="0" dirty="0">
                <a:solidFill>
                  <a:srgbClr val="1C28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Escalada geopolítica Taiwán</a:t>
            </a:r>
            <a:endParaRPr lang="es-ES" sz="1600" noProof="0" dirty="0"/>
          </a:p>
          <a:p>
            <a:pPr>
              <a:lnSpc>
                <a:spcPct val="130000"/>
              </a:lnSpc>
            </a:pPr>
            <a:r>
              <a:rPr lang="es-ES" sz="12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Exposición: TSM / NVDA</a:t>
            </a:r>
            <a:endParaRPr lang="es-ES" sz="1600" noProof="0" dirty="0"/>
          </a:p>
        </p:txBody>
      </p:sp>
      <p:sp>
        <p:nvSpPr>
          <p:cNvPr id="46" name="Shape 44"/>
          <p:cNvSpPr/>
          <p:nvPr/>
        </p:nvSpPr>
        <p:spPr>
          <a:xfrm>
            <a:off x="508000" y="8686800"/>
            <a:ext cx="15240000" cy="0"/>
          </a:xfrm>
          <a:prstGeom prst="straightConnector1">
            <a:avLst/>
          </a:prstGeom>
          <a:noFill/>
          <a:ln w="12700">
            <a:solidFill>
              <a:srgbClr val="D5D8D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47" name="Text 45"/>
          <p:cNvSpPr/>
          <p:nvPr/>
        </p:nvSpPr>
        <p:spPr>
          <a:xfrm>
            <a:off x="508000" y="8763000"/>
            <a:ext cx="635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s-ES" sz="11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MACROCONSULT · Sistema de Información de Mercados</a:t>
            </a:r>
            <a:endParaRPr lang="es-ES" sz="1600" noProof="0" dirty="0"/>
          </a:p>
        </p:txBody>
      </p:sp>
      <p:sp>
        <p:nvSpPr>
          <p:cNvPr id="48" name="Text 46"/>
          <p:cNvSpPr/>
          <p:nvPr/>
        </p:nvSpPr>
        <p:spPr>
          <a:xfrm>
            <a:off x="14986000" y="87630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s-ES" sz="1100" noProof="0" dirty="0">
                <a:solidFill>
                  <a:srgbClr val="7F8C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 / 6</a:t>
            </a:r>
            <a:endParaRPr lang="es-ES" sz="1600" noProof="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2002</Words>
  <Application>Microsoft Office PowerPoint</Application>
  <PresentationFormat>Personalizado</PresentationFormat>
  <Paragraphs>346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Liter</vt:lpstr>
      <vt:lpstr>Oranienbaum</vt:lpstr>
      <vt:lpstr>Arial</vt:lpstr>
      <vt:lpstr>Custom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Evaluación de Inversión en Empresas de Inteligencia Artificial</dc:title>
  <dc:subject>Evaluación de Inversión en Empresas de Inteligencia Artificial</dc:subject>
  <dc:creator>Kimi</dc:creator>
  <cp:lastModifiedBy>jvalderramainonan@gmail.com</cp:lastModifiedBy>
  <cp:revision>10</cp:revision>
  <dcterms:created xsi:type="dcterms:W3CDTF">2026-06-07T09:12:52Z</dcterms:created>
  <dcterms:modified xsi:type="dcterms:W3CDTF">2026-06-07T23:12:20Z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{"Label":"Evaluación de Inversión en Empresas de Inteligencia Artificial","ContentProducer":"001191110108MACG2KBH8F10000","ProduceID":"19ea1599-7772-8cd8-8000-000017b3f89a","ReservedCode1":"","ContentPropagator":"001191110108MACG2KBH8F20000","PropagateID":"19ea1599-7772-8cd8-8000-000017b3f89a","ReservedCode2":""}</vt:lpwstr>
  </property>
</Properties>
</file>